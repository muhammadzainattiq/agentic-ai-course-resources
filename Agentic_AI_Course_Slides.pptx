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61"/>
    <p:sldId id="311" r:id="rId62"/>
    <p:sldId id="312" r:id="rId63"/>
    <p:sldId id="313" r:id="rId64"/>
    <p:sldId id="314" r:id="rId65"/>
  </p:sldIdLst>
  <p:notesMasterIdLst>
    <p:notesMasterId r:id="rId5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hyperlink" Target="https://openai.com/api/pricing" TargetMode="External"/><Relationship Id="rId2" Type="http://schemas.openxmlformats.org/officeDocument/2006/relationships/hyperlink" Target="https://platform.claude.com/docs/en/about-claude/pricing" TargetMode="External"/><Relationship Id="rId3" Type="http://schemas.openxmlformats.org/officeDocument/2006/relationships/hyperlink" Target="https://ai.google.dev/pricing" TargetMode="External"/><Relationship Id="rId4" Type="http://schemas.openxmlformats.org/officeDocument/2006/relationships/hyperlink" Target="https://x.ai/api" TargetMode="External"/><Relationship Id="rId5" Type="http://schemas.openxmlformats.org/officeDocument/2006/relationships/hyperlink" Target="https://api-docs.deepseek.com/quick_start/pricing" TargetMode="External"/><Relationship Id="rId6" Type="http://schemas.openxmlformats.org/officeDocument/2006/relationships/hyperlink" Target="https://mistral.ai/pricing" TargetMode="Externa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hyperlink" Target="https://arena.ai/leaderboard/tex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1554480"/>
            <a:ext cx="3200400" cy="3200400"/>
          </a:xfrm>
          <a:prstGeom prst="ellipse">
            <a:avLst/>
          </a:prstGeom>
          <a:solidFill>
            <a:srgbClr val="13243F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2560320"/>
            <a:ext cx="118872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5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786384" y="22402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2026</a:t>
            </a:r>
            <a:endParaRPr lang="en-US" sz="5600" dirty="0"/>
          </a:p>
        </p:txBody>
      </p:sp>
      <p:sp>
        <p:nvSpPr>
          <p:cNvPr id="6" name="Text 3"/>
          <p:cNvSpPr/>
          <p:nvPr/>
        </p:nvSpPr>
        <p:spPr>
          <a:xfrm>
            <a:off x="822960" y="356616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need to learn — and the order to learn it in — to go from zero to building real AI agents.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822960" y="4846320"/>
            <a:ext cx="2103120" cy="502920"/>
          </a:xfrm>
          <a:prstGeom prst="roundRect">
            <a:avLst>
              <a:gd name="adj" fmla="val 49091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4846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Foundations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108960" y="4846320"/>
            <a:ext cx="2103120" cy="502920"/>
          </a:xfrm>
          <a:prstGeom prst="roundRect">
            <a:avLst>
              <a:gd name="adj" fmla="val 49091"/>
            </a:avLst>
          </a:prstGeom>
          <a:solidFill>
            <a:srgbClr val="121C3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108960" y="4846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Full-Code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394960" y="4846320"/>
            <a:ext cx="2103120" cy="502920"/>
          </a:xfrm>
          <a:prstGeom prst="roundRect">
            <a:avLst>
              <a:gd name="adj" fmla="val 49091"/>
            </a:avLst>
          </a:prstGeom>
          <a:solidFill>
            <a:srgbClr val="121C3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94960" y="4846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No-Code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680960" y="4846320"/>
            <a:ext cx="2103120" cy="502920"/>
          </a:xfrm>
          <a:prstGeom prst="roundRect">
            <a:avLst>
              <a:gd name="adj" fmla="val 49091"/>
            </a:avLst>
          </a:prstGeom>
          <a:solidFill>
            <a:srgbClr val="121C30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80960" y="4846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Operating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 ROADMAP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to building AI agents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02920" y="6382512"/>
            <a:ext cx="146304" cy="146304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6" name="Shape 4"/>
          <p:cNvSpPr/>
          <p:nvPr/>
        </p:nvSpPr>
        <p:spPr>
          <a:xfrm>
            <a:off x="813816" y="6382512"/>
            <a:ext cx="146304" cy="146304"/>
          </a:xfrm>
          <a:prstGeom prst="ellipse">
            <a:avLst/>
          </a:prstGeom>
          <a:solidFill>
            <a:srgbClr val="2B3A57"/>
          </a:solidFill>
          <a:ln/>
        </p:spPr>
      </p:sp>
      <p:sp>
        <p:nvSpPr>
          <p:cNvPr id="7" name="Shape 5"/>
          <p:cNvSpPr/>
          <p:nvPr/>
        </p:nvSpPr>
        <p:spPr>
          <a:xfrm>
            <a:off x="1124712" y="6382512"/>
            <a:ext cx="146304" cy="146304"/>
          </a:xfrm>
          <a:prstGeom prst="ellipse">
            <a:avLst/>
          </a:prstGeom>
          <a:solidFill>
            <a:srgbClr val="2B3A57"/>
          </a:solidFill>
          <a:ln/>
        </p:spPr>
      </p:sp>
      <p:sp>
        <p:nvSpPr>
          <p:cNvPr id="8" name="Shape 6"/>
          <p:cNvSpPr/>
          <p:nvPr/>
        </p:nvSpPr>
        <p:spPr>
          <a:xfrm>
            <a:off x="1435608" y="6382512"/>
            <a:ext cx="146304" cy="146304"/>
          </a:xfrm>
          <a:prstGeom prst="ellipse">
            <a:avLst/>
          </a:prstGeom>
          <a:solidFill>
            <a:srgbClr val="2B3A57"/>
          </a:solidFill>
          <a:ln/>
        </p:spPr>
      </p:sp>
      <p:sp>
        <p:nvSpPr>
          <p:cNvPr id="9" name="Text 7"/>
          <p:cNvSpPr/>
          <p:nvPr/>
        </p:nvSpPr>
        <p:spPr>
          <a:xfrm>
            <a:off x="2057400" y="63276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1 of 4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1828800"/>
            <a:ext cx="4572000" cy="4206240"/>
          </a:xfrm>
          <a:prstGeom prst="roundRect">
            <a:avLst>
              <a:gd name="adj" fmla="val 2609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977640" y="1993392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000" dirty="0"/>
          </a:p>
        </p:txBody>
      </p:sp>
      <p:sp>
        <p:nvSpPr>
          <p:cNvPr id="12" name="Shape 10"/>
          <p:cNvSpPr/>
          <p:nvPr/>
        </p:nvSpPr>
        <p:spPr>
          <a:xfrm>
            <a:off x="777240" y="2103120"/>
            <a:ext cx="868680" cy="86868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313432"/>
            <a:ext cx="448056" cy="448056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77240" y="3108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777240" y="358444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“why” — for everyone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77240" y="3977640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Framework-agnostic concepts every agent builder needs before touching any tool.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349240" y="1828800"/>
            <a:ext cx="3246120" cy="502920"/>
          </a:xfrm>
          <a:prstGeom prst="roundRect">
            <a:avLst>
              <a:gd name="adj" fmla="val 14545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95544" y="2034540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9" name="Text 16"/>
          <p:cNvSpPr/>
          <p:nvPr/>
        </p:nvSpPr>
        <p:spPr>
          <a:xfrm>
            <a:off x="5678424" y="18288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LLMs, settings &amp; providers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8691372" y="1828800"/>
            <a:ext cx="3246120" cy="502920"/>
          </a:xfrm>
          <a:prstGeom prst="roundRect">
            <a:avLst>
              <a:gd name="adj" fmla="val 14545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837676" y="2034540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22" name="Text 19"/>
          <p:cNvSpPr/>
          <p:nvPr/>
        </p:nvSpPr>
        <p:spPr>
          <a:xfrm>
            <a:off x="9020556" y="18288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cost &amp; tokens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349240" y="2427732"/>
            <a:ext cx="3246120" cy="502920"/>
          </a:xfrm>
          <a:prstGeom prst="roundRect">
            <a:avLst>
              <a:gd name="adj" fmla="val 14545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95544" y="2633472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25" name="Text 22"/>
          <p:cNvSpPr/>
          <p:nvPr/>
        </p:nvSpPr>
        <p:spPr>
          <a:xfrm>
            <a:off x="5678424" y="242773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vs LLM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8691372" y="2427732"/>
            <a:ext cx="3246120" cy="502920"/>
          </a:xfrm>
          <a:prstGeom prst="roundRect">
            <a:avLst>
              <a:gd name="adj" fmla="val 14545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837676" y="2633472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28" name="Text 25"/>
          <p:cNvSpPr/>
          <p:nvPr/>
        </p:nvSpPr>
        <p:spPr>
          <a:xfrm>
            <a:off x="9020556" y="242773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vs Chatbot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349240" y="3026664"/>
            <a:ext cx="3246120" cy="502920"/>
          </a:xfrm>
          <a:prstGeom prst="roundRect">
            <a:avLst>
              <a:gd name="adj" fmla="val 14545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495544" y="3232404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31" name="Text 28"/>
          <p:cNvSpPr/>
          <p:nvPr/>
        </p:nvSpPr>
        <p:spPr>
          <a:xfrm>
            <a:off x="5678424" y="3026664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vs Automation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8691372" y="3026664"/>
            <a:ext cx="3246120" cy="502920"/>
          </a:xfrm>
          <a:prstGeom prst="roundRect">
            <a:avLst>
              <a:gd name="adj" fmla="val 14545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837676" y="3232404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34" name="Text 31"/>
          <p:cNvSpPr/>
          <p:nvPr/>
        </p:nvSpPr>
        <p:spPr>
          <a:xfrm>
            <a:off x="9020556" y="3026664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vs Agent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5349240" y="3625596"/>
            <a:ext cx="3246120" cy="502920"/>
          </a:xfrm>
          <a:prstGeom prst="roundRect">
            <a:avLst>
              <a:gd name="adj" fmla="val 14545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495544" y="3831336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37" name="Text 34"/>
          <p:cNvSpPr/>
          <p:nvPr/>
        </p:nvSpPr>
        <p:spPr>
          <a:xfrm>
            <a:off x="5678424" y="3625596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agents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8691372" y="3625596"/>
            <a:ext cx="3246120" cy="502920"/>
          </a:xfrm>
          <a:prstGeom prst="roundRect">
            <a:avLst>
              <a:gd name="adj" fmla="val 14545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837676" y="3831336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40" name="Text 37"/>
          <p:cNvSpPr/>
          <p:nvPr/>
        </p:nvSpPr>
        <p:spPr>
          <a:xfrm>
            <a:off x="9020556" y="3625596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/ function calling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5349240" y="4224528"/>
            <a:ext cx="3246120" cy="502920"/>
          </a:xfrm>
          <a:prstGeom prst="roundRect">
            <a:avLst>
              <a:gd name="adj" fmla="val 14545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495544" y="4430268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43" name="Text 40"/>
          <p:cNvSpPr/>
          <p:nvPr/>
        </p:nvSpPr>
        <p:spPr>
          <a:xfrm>
            <a:off x="5678424" y="422452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text vs structured output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8691372" y="4224528"/>
            <a:ext cx="3246120" cy="502920"/>
          </a:xfrm>
          <a:prstGeom prst="roundRect">
            <a:avLst>
              <a:gd name="adj" fmla="val 14545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837676" y="4430268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46" name="Text 43"/>
          <p:cNvSpPr/>
          <p:nvPr/>
        </p:nvSpPr>
        <p:spPr>
          <a:xfrm>
            <a:off x="9020556" y="422452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</a:t>
            </a:r>
            <a:endParaRPr lang="en-US" sz="1150" dirty="0"/>
          </a:p>
        </p:txBody>
      </p:sp>
      <p:sp>
        <p:nvSpPr>
          <p:cNvPr id="47" name="Shape 44"/>
          <p:cNvSpPr/>
          <p:nvPr/>
        </p:nvSpPr>
        <p:spPr>
          <a:xfrm>
            <a:off x="5349240" y="4823460"/>
            <a:ext cx="3246120" cy="502920"/>
          </a:xfrm>
          <a:prstGeom prst="roundRect">
            <a:avLst>
              <a:gd name="adj" fmla="val 14545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495544" y="5029200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49" name="Text 46"/>
          <p:cNvSpPr/>
          <p:nvPr/>
        </p:nvSpPr>
        <p:spPr>
          <a:xfrm>
            <a:off x="5678424" y="48234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</a:t>
            </a:r>
            <a:endParaRPr lang="en-US" sz="1150" dirty="0"/>
          </a:p>
        </p:txBody>
      </p:sp>
      <p:sp>
        <p:nvSpPr>
          <p:cNvPr id="50" name="Shape 47"/>
          <p:cNvSpPr/>
          <p:nvPr/>
        </p:nvSpPr>
        <p:spPr>
          <a:xfrm>
            <a:off x="8691372" y="4823460"/>
            <a:ext cx="3246120" cy="502920"/>
          </a:xfrm>
          <a:prstGeom prst="roundRect">
            <a:avLst>
              <a:gd name="adj" fmla="val 14545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837676" y="5029200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52" name="Text 49"/>
          <p:cNvSpPr/>
          <p:nvPr/>
        </p:nvSpPr>
        <p:spPr>
          <a:xfrm>
            <a:off x="9020556" y="48234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150" dirty="0"/>
          </a:p>
        </p:txBody>
      </p:sp>
      <p:sp>
        <p:nvSpPr>
          <p:cNvPr id="53" name="Shape 50"/>
          <p:cNvSpPr/>
          <p:nvPr/>
        </p:nvSpPr>
        <p:spPr>
          <a:xfrm>
            <a:off x="5349240" y="5422392"/>
            <a:ext cx="3246120" cy="502920"/>
          </a:xfrm>
          <a:prstGeom prst="roundRect">
            <a:avLst>
              <a:gd name="adj" fmla="val 14545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495544" y="5628132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55" name="Text 52"/>
          <p:cNvSpPr/>
          <p:nvPr/>
        </p:nvSpPr>
        <p:spPr>
          <a:xfrm>
            <a:off x="5678424" y="542239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</a:t>
            </a:r>
            <a:endParaRPr lang="en-US" sz="1150" dirty="0"/>
          </a:p>
        </p:txBody>
      </p:sp>
      <p:sp>
        <p:nvSpPr>
          <p:cNvPr id="56" name="Shape 53"/>
          <p:cNvSpPr/>
          <p:nvPr/>
        </p:nvSpPr>
        <p:spPr>
          <a:xfrm>
            <a:off x="8691372" y="5422392"/>
            <a:ext cx="3246120" cy="502920"/>
          </a:xfrm>
          <a:prstGeom prst="roundRect">
            <a:avLst>
              <a:gd name="adj" fmla="val 14545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8837676" y="5628132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58" name="Text 55"/>
          <p:cNvSpPr/>
          <p:nvPr/>
        </p:nvSpPr>
        <p:spPr>
          <a:xfrm>
            <a:off x="9020556" y="542239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Memory: short vs long term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 ROADMAP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to building AI agents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02920" y="6382512"/>
            <a:ext cx="146304" cy="146304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6" name="Shape 4"/>
          <p:cNvSpPr/>
          <p:nvPr/>
        </p:nvSpPr>
        <p:spPr>
          <a:xfrm>
            <a:off x="813816" y="6382512"/>
            <a:ext cx="146304" cy="146304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7" name="Shape 5"/>
          <p:cNvSpPr/>
          <p:nvPr/>
        </p:nvSpPr>
        <p:spPr>
          <a:xfrm>
            <a:off x="1124712" y="6382512"/>
            <a:ext cx="146304" cy="146304"/>
          </a:xfrm>
          <a:prstGeom prst="ellipse">
            <a:avLst/>
          </a:prstGeom>
          <a:solidFill>
            <a:srgbClr val="2B3A57"/>
          </a:solidFill>
          <a:ln/>
        </p:spPr>
      </p:sp>
      <p:sp>
        <p:nvSpPr>
          <p:cNvPr id="8" name="Shape 6"/>
          <p:cNvSpPr/>
          <p:nvPr/>
        </p:nvSpPr>
        <p:spPr>
          <a:xfrm>
            <a:off x="1435608" y="6382512"/>
            <a:ext cx="146304" cy="146304"/>
          </a:xfrm>
          <a:prstGeom prst="ellipse">
            <a:avLst/>
          </a:prstGeom>
          <a:solidFill>
            <a:srgbClr val="2B3A57"/>
          </a:solidFill>
          <a:ln/>
        </p:spPr>
      </p:sp>
      <p:sp>
        <p:nvSpPr>
          <p:cNvPr id="9" name="Text 7"/>
          <p:cNvSpPr/>
          <p:nvPr/>
        </p:nvSpPr>
        <p:spPr>
          <a:xfrm>
            <a:off x="2057400" y="63276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2 of 4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1828800"/>
            <a:ext cx="2548890" cy="4206240"/>
          </a:xfrm>
          <a:prstGeom prst="roundRect">
            <a:avLst>
              <a:gd name="adj" fmla="val 4305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000250" y="1975104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77240" y="2084832"/>
            <a:ext cx="731520" cy="73152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267712"/>
            <a:ext cx="365760" cy="36576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40664" y="2962656"/>
            <a:ext cx="213741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40664" y="3364992"/>
            <a:ext cx="2164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“why” — for everyone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77240" y="3840480"/>
            <a:ext cx="207340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LLMs, settings, providers, cost &amp; tokens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vs LLM · vs chatbot · vs automation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/ function calling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· MCP servers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Memory: short vs long term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371850" y="1828800"/>
            <a:ext cx="2548890" cy="4206240"/>
          </a:xfrm>
          <a:prstGeom prst="roundRect">
            <a:avLst>
              <a:gd name="adj" fmla="val 4305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4869180" y="1975104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3646170" y="2084832"/>
            <a:ext cx="731520" cy="73152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9050" y="2267712"/>
            <a:ext cx="365760" cy="3657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609594" y="2962656"/>
            <a:ext cx="213741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Full-Code Agents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3609594" y="3364992"/>
            <a:ext cx="2164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Devs who want control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3646170" y="3840480"/>
            <a:ext cx="207340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&amp; LangGraph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Agents SDK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ADK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LlamaIndex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6240780" y="1828800"/>
            <a:ext cx="2548890" cy="4206240"/>
          </a:xfrm>
          <a:prstGeom prst="roundRect">
            <a:avLst>
              <a:gd name="adj" fmla="val 4305"/>
            </a:avLst>
          </a:prstGeom>
          <a:solidFill>
            <a:srgbClr val="1E2A42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7738110" y="1975104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B3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800" dirty="0"/>
          </a:p>
        </p:txBody>
      </p:sp>
      <p:sp>
        <p:nvSpPr>
          <p:cNvPr id="26" name="Shape 22"/>
          <p:cNvSpPr/>
          <p:nvPr/>
        </p:nvSpPr>
        <p:spPr>
          <a:xfrm>
            <a:off x="6515100" y="2084832"/>
            <a:ext cx="731520" cy="731520"/>
          </a:xfrm>
          <a:prstGeom prst="ellipse">
            <a:avLst/>
          </a:prstGeom>
          <a:solidFill>
            <a:srgbClr val="1A2438"/>
          </a:solidFill>
          <a:ln w="12700">
            <a:solidFill>
              <a:srgbClr val="243250"/>
            </a:solidFill>
            <a:prstDash val="solid"/>
          </a:ln>
        </p:spPr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980" y="2267712"/>
            <a:ext cx="365760" cy="36576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6478524" y="2962656"/>
            <a:ext cx="213741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15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Agents</a:t>
            </a:r>
            <a:endParaRPr lang="en-US" sz="1600" dirty="0"/>
          </a:p>
        </p:txBody>
      </p:sp>
      <p:sp>
        <p:nvSpPr>
          <p:cNvPr id="29" name="Text 24"/>
          <p:cNvSpPr/>
          <p:nvPr/>
        </p:nvSpPr>
        <p:spPr>
          <a:xfrm>
            <a:off x="6478524" y="3364992"/>
            <a:ext cx="2164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74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Builders &amp; non-devs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6515100" y="4023360"/>
            <a:ext cx="20734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Coming up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9109710" y="1828800"/>
            <a:ext cx="2548890" cy="4206240"/>
          </a:xfrm>
          <a:prstGeom prst="roundRect">
            <a:avLst>
              <a:gd name="adj" fmla="val 4305"/>
            </a:avLst>
          </a:prstGeom>
          <a:solidFill>
            <a:srgbClr val="1E2A42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10607040" y="1975104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B3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800" dirty="0"/>
          </a:p>
        </p:txBody>
      </p:sp>
      <p:sp>
        <p:nvSpPr>
          <p:cNvPr id="33" name="Shape 28"/>
          <p:cNvSpPr/>
          <p:nvPr/>
        </p:nvSpPr>
        <p:spPr>
          <a:xfrm>
            <a:off x="9384030" y="2084832"/>
            <a:ext cx="731520" cy="731520"/>
          </a:xfrm>
          <a:prstGeom prst="ellipse">
            <a:avLst/>
          </a:prstGeom>
          <a:solidFill>
            <a:srgbClr val="1A2438"/>
          </a:solidFill>
          <a:ln w="12700">
            <a:solidFill>
              <a:srgbClr val="243250"/>
            </a:solidFill>
            <a:prstDash val="solid"/>
          </a:ln>
        </p:spPr>
      </p:sp>
      <p:pic>
        <p:nvPicPr>
          <p:cNvPr id="3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6910" y="2267712"/>
            <a:ext cx="365760" cy="365760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9347454" y="2962656"/>
            <a:ext cx="213741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15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Agents</a:t>
            </a:r>
            <a:endParaRPr lang="en-US" sz="1600" dirty="0"/>
          </a:p>
        </p:txBody>
      </p:sp>
      <p:sp>
        <p:nvSpPr>
          <p:cNvPr id="36" name="Text 30"/>
          <p:cNvSpPr/>
          <p:nvPr/>
        </p:nvSpPr>
        <p:spPr>
          <a:xfrm>
            <a:off x="9347454" y="3364992"/>
            <a:ext cx="2164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74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wanting productivity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9384030" y="4023360"/>
            <a:ext cx="20734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Coming up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 ROADMAP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to building AI agents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02920" y="6382512"/>
            <a:ext cx="146304" cy="146304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6" name="Shape 4"/>
          <p:cNvSpPr/>
          <p:nvPr/>
        </p:nvSpPr>
        <p:spPr>
          <a:xfrm>
            <a:off x="813816" y="6382512"/>
            <a:ext cx="146304" cy="146304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7" name="Shape 5"/>
          <p:cNvSpPr/>
          <p:nvPr/>
        </p:nvSpPr>
        <p:spPr>
          <a:xfrm>
            <a:off x="1124712" y="6382512"/>
            <a:ext cx="146304" cy="146304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8" name="Shape 6"/>
          <p:cNvSpPr/>
          <p:nvPr/>
        </p:nvSpPr>
        <p:spPr>
          <a:xfrm>
            <a:off x="1435608" y="6382512"/>
            <a:ext cx="146304" cy="146304"/>
          </a:xfrm>
          <a:prstGeom prst="ellipse">
            <a:avLst/>
          </a:prstGeom>
          <a:solidFill>
            <a:srgbClr val="2B3A57"/>
          </a:solidFill>
          <a:ln/>
        </p:spPr>
      </p:sp>
      <p:sp>
        <p:nvSpPr>
          <p:cNvPr id="9" name="Text 7"/>
          <p:cNvSpPr/>
          <p:nvPr/>
        </p:nvSpPr>
        <p:spPr>
          <a:xfrm>
            <a:off x="2057400" y="63276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3 of 4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1828800"/>
            <a:ext cx="2548890" cy="4206240"/>
          </a:xfrm>
          <a:prstGeom prst="roundRect">
            <a:avLst>
              <a:gd name="adj" fmla="val 4305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000250" y="1975104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77240" y="2084832"/>
            <a:ext cx="731520" cy="73152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267712"/>
            <a:ext cx="365760" cy="36576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40664" y="2962656"/>
            <a:ext cx="213741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40664" y="3364992"/>
            <a:ext cx="2164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“why” — for everyone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77240" y="3840480"/>
            <a:ext cx="207340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LLMs, settings, providers, cost &amp; tokens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vs LLM · vs chatbot · vs automation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/ function calling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· MCP servers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Memory: short vs long term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371850" y="1828800"/>
            <a:ext cx="2548890" cy="4206240"/>
          </a:xfrm>
          <a:prstGeom prst="roundRect">
            <a:avLst>
              <a:gd name="adj" fmla="val 4305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4869180" y="1975104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3646170" y="2084832"/>
            <a:ext cx="731520" cy="73152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9050" y="2267712"/>
            <a:ext cx="365760" cy="3657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609594" y="2962656"/>
            <a:ext cx="213741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Full-Code Agents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3609594" y="3364992"/>
            <a:ext cx="2164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Devs who want control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3646170" y="3840480"/>
            <a:ext cx="207340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&amp; LangGraph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Agents SDK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ADK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LlamaIndex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6240780" y="1828800"/>
            <a:ext cx="2548890" cy="4206240"/>
          </a:xfrm>
          <a:prstGeom prst="roundRect">
            <a:avLst>
              <a:gd name="adj" fmla="val 4305"/>
            </a:avLst>
          </a:prstGeom>
          <a:solidFill>
            <a:srgbClr val="121C30"/>
          </a:solidFill>
          <a:ln w="15875">
            <a:solidFill>
              <a:srgbClr val="FBBF2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21"/>
          <p:cNvSpPr/>
          <p:nvPr/>
        </p:nvSpPr>
        <p:spPr>
          <a:xfrm>
            <a:off x="7738110" y="1975104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800" dirty="0"/>
          </a:p>
        </p:txBody>
      </p:sp>
      <p:sp>
        <p:nvSpPr>
          <p:cNvPr id="26" name="Shape 22"/>
          <p:cNvSpPr/>
          <p:nvPr/>
        </p:nvSpPr>
        <p:spPr>
          <a:xfrm>
            <a:off x="6515100" y="2084832"/>
            <a:ext cx="731520" cy="73152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BBF24"/>
            </a:solidFill>
            <a:prstDash val="solid"/>
          </a:ln>
        </p:spPr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980" y="2267712"/>
            <a:ext cx="365760" cy="36576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6478524" y="2962656"/>
            <a:ext cx="213741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Agents</a:t>
            </a:r>
            <a:endParaRPr lang="en-US" sz="1600" dirty="0"/>
          </a:p>
        </p:txBody>
      </p:sp>
      <p:sp>
        <p:nvSpPr>
          <p:cNvPr id="29" name="Text 24"/>
          <p:cNvSpPr/>
          <p:nvPr/>
        </p:nvSpPr>
        <p:spPr>
          <a:xfrm>
            <a:off x="6478524" y="3364992"/>
            <a:ext cx="2164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Builders &amp; non-devs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6515100" y="3840480"/>
            <a:ext cx="207340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Zapier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Make.com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Flowise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 Builder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GoHighLevel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9109710" y="1828800"/>
            <a:ext cx="2548890" cy="4206240"/>
          </a:xfrm>
          <a:prstGeom prst="roundRect">
            <a:avLst>
              <a:gd name="adj" fmla="val 4305"/>
            </a:avLst>
          </a:prstGeom>
          <a:solidFill>
            <a:srgbClr val="1E2A42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10607040" y="1975104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B3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800" dirty="0"/>
          </a:p>
        </p:txBody>
      </p:sp>
      <p:sp>
        <p:nvSpPr>
          <p:cNvPr id="33" name="Shape 28"/>
          <p:cNvSpPr/>
          <p:nvPr/>
        </p:nvSpPr>
        <p:spPr>
          <a:xfrm>
            <a:off x="9384030" y="2084832"/>
            <a:ext cx="731520" cy="731520"/>
          </a:xfrm>
          <a:prstGeom prst="ellipse">
            <a:avLst/>
          </a:prstGeom>
          <a:solidFill>
            <a:srgbClr val="1A2438"/>
          </a:solidFill>
          <a:ln w="12700">
            <a:solidFill>
              <a:srgbClr val="243250"/>
            </a:solidFill>
            <a:prstDash val="solid"/>
          </a:ln>
        </p:spPr>
      </p:sp>
      <p:pic>
        <p:nvPicPr>
          <p:cNvPr id="3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6910" y="2267712"/>
            <a:ext cx="365760" cy="365760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9347454" y="2962656"/>
            <a:ext cx="213741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15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Agents</a:t>
            </a:r>
            <a:endParaRPr lang="en-US" sz="1600" dirty="0"/>
          </a:p>
        </p:txBody>
      </p:sp>
      <p:sp>
        <p:nvSpPr>
          <p:cNvPr id="36" name="Text 30"/>
          <p:cNvSpPr/>
          <p:nvPr/>
        </p:nvSpPr>
        <p:spPr>
          <a:xfrm>
            <a:off x="9347454" y="3364992"/>
            <a:ext cx="2164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74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wanting productivity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9384030" y="4023360"/>
            <a:ext cx="20734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Coming up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 ROADMAP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to building AI agents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02920" y="6382512"/>
            <a:ext cx="146304" cy="146304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6" name="Shape 4"/>
          <p:cNvSpPr/>
          <p:nvPr/>
        </p:nvSpPr>
        <p:spPr>
          <a:xfrm>
            <a:off x="813816" y="6382512"/>
            <a:ext cx="146304" cy="146304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7" name="Shape 5"/>
          <p:cNvSpPr/>
          <p:nvPr/>
        </p:nvSpPr>
        <p:spPr>
          <a:xfrm>
            <a:off x="1124712" y="6382512"/>
            <a:ext cx="146304" cy="146304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8" name="Shape 6"/>
          <p:cNvSpPr/>
          <p:nvPr/>
        </p:nvSpPr>
        <p:spPr>
          <a:xfrm>
            <a:off x="1435608" y="6382512"/>
            <a:ext cx="146304" cy="146304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9" name="Text 7"/>
          <p:cNvSpPr/>
          <p:nvPr/>
        </p:nvSpPr>
        <p:spPr>
          <a:xfrm>
            <a:off x="2057400" y="63276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4 of 4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1828800"/>
            <a:ext cx="2548890" cy="4206240"/>
          </a:xfrm>
          <a:prstGeom prst="roundRect">
            <a:avLst>
              <a:gd name="adj" fmla="val 4305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000250" y="1975104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77240" y="2084832"/>
            <a:ext cx="731520" cy="73152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267712"/>
            <a:ext cx="365760" cy="36576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40664" y="2962656"/>
            <a:ext cx="213741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40664" y="3364992"/>
            <a:ext cx="2164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“why” — for everyone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77240" y="3840480"/>
            <a:ext cx="207340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LLMs, settings, providers, cost &amp; tokens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vs LLM · vs chatbot · vs automation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/ function calling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· MCP servers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Memory: short vs long term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371850" y="1828800"/>
            <a:ext cx="2548890" cy="4206240"/>
          </a:xfrm>
          <a:prstGeom prst="roundRect">
            <a:avLst>
              <a:gd name="adj" fmla="val 4305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4869180" y="1975104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3646170" y="2084832"/>
            <a:ext cx="731520" cy="73152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9050" y="2267712"/>
            <a:ext cx="365760" cy="3657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609594" y="2962656"/>
            <a:ext cx="213741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Full-Code Agents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3609594" y="3364992"/>
            <a:ext cx="2164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Devs who want control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3646170" y="3840480"/>
            <a:ext cx="207340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&amp; LangGraph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Agents SDK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ADK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LlamaIndex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6240780" y="1828800"/>
            <a:ext cx="2548890" cy="4206240"/>
          </a:xfrm>
          <a:prstGeom prst="roundRect">
            <a:avLst>
              <a:gd name="adj" fmla="val 4305"/>
            </a:avLst>
          </a:prstGeom>
          <a:solidFill>
            <a:srgbClr val="121C30"/>
          </a:solidFill>
          <a:ln w="15875">
            <a:solidFill>
              <a:srgbClr val="FBBF2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21"/>
          <p:cNvSpPr/>
          <p:nvPr/>
        </p:nvSpPr>
        <p:spPr>
          <a:xfrm>
            <a:off x="7738110" y="1975104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800" dirty="0"/>
          </a:p>
        </p:txBody>
      </p:sp>
      <p:sp>
        <p:nvSpPr>
          <p:cNvPr id="26" name="Shape 22"/>
          <p:cNvSpPr/>
          <p:nvPr/>
        </p:nvSpPr>
        <p:spPr>
          <a:xfrm>
            <a:off x="6515100" y="2084832"/>
            <a:ext cx="731520" cy="73152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BBF24"/>
            </a:solidFill>
            <a:prstDash val="solid"/>
          </a:ln>
        </p:spPr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980" y="2267712"/>
            <a:ext cx="365760" cy="36576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6478524" y="2962656"/>
            <a:ext cx="213741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Agents</a:t>
            </a:r>
            <a:endParaRPr lang="en-US" sz="1600" dirty="0"/>
          </a:p>
        </p:txBody>
      </p:sp>
      <p:sp>
        <p:nvSpPr>
          <p:cNvPr id="29" name="Text 24"/>
          <p:cNvSpPr/>
          <p:nvPr/>
        </p:nvSpPr>
        <p:spPr>
          <a:xfrm>
            <a:off x="6478524" y="3364992"/>
            <a:ext cx="2164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Builders &amp; non-devs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6515100" y="3840480"/>
            <a:ext cx="207340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Zapier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Make.com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Flowise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 Builder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GoHighLevel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9109710" y="1828800"/>
            <a:ext cx="2548890" cy="4206240"/>
          </a:xfrm>
          <a:prstGeom prst="roundRect">
            <a:avLst>
              <a:gd name="adj" fmla="val 4305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2" name="Text 27"/>
          <p:cNvSpPr/>
          <p:nvPr/>
        </p:nvSpPr>
        <p:spPr>
          <a:xfrm>
            <a:off x="10607040" y="1975104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800" dirty="0"/>
          </a:p>
        </p:txBody>
      </p:sp>
      <p:sp>
        <p:nvSpPr>
          <p:cNvPr id="33" name="Shape 28"/>
          <p:cNvSpPr/>
          <p:nvPr/>
        </p:nvSpPr>
        <p:spPr>
          <a:xfrm>
            <a:off x="9384030" y="2084832"/>
            <a:ext cx="731520" cy="73152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472B6"/>
            </a:solidFill>
            <a:prstDash val="solid"/>
          </a:ln>
        </p:spPr>
      </p:sp>
      <p:pic>
        <p:nvPicPr>
          <p:cNvPr id="3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6910" y="2267712"/>
            <a:ext cx="365760" cy="365760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9347454" y="2962656"/>
            <a:ext cx="213741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Agents</a:t>
            </a:r>
            <a:endParaRPr lang="en-US" sz="1600" dirty="0"/>
          </a:p>
        </p:txBody>
      </p:sp>
      <p:sp>
        <p:nvSpPr>
          <p:cNvPr id="36" name="Text 30"/>
          <p:cNvSpPr/>
          <p:nvPr/>
        </p:nvSpPr>
        <p:spPr>
          <a:xfrm>
            <a:off x="9347454" y="3364992"/>
            <a:ext cx="2164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wanting productivity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9384030" y="3840480"/>
            <a:ext cx="207340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OpenClaw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Cowork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&amp; extend pre-built agents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457200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46920" y="457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" y="16002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5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EVOLUTION OF AI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86384" y="210312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→ DL → GenAI → Agentic AI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history of how we got from spam filters to autonomous agents — and what each era is actually for.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4297680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4416552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89888" y="4297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218688" y="42976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15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3566160" y="4297680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5032" y="441655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133088" y="4297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961888" y="42976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15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6309360" y="4297680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BBF24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441655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876288" y="4297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8705088" y="42976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15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9" name="Shape 14"/>
          <p:cNvSpPr/>
          <p:nvPr/>
        </p:nvSpPr>
        <p:spPr>
          <a:xfrm>
            <a:off x="9052560" y="4297680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472B6"/>
            </a:solidFill>
            <a:prstDash val="solid"/>
          </a:ln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71432" y="4416552"/>
            <a:ext cx="219456" cy="21945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619488" y="4297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EVOLUTION OF AI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·  Machine Learning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47088"/>
            <a:ext cx="10881360" cy="0"/>
          </a:xfrm>
          <a:prstGeom prst="line">
            <a:avLst/>
          </a:prstGeom>
          <a:noFill/>
          <a:ln w="25400">
            <a:solidFill>
              <a:srgbClr val="2B3A5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08810" y="1755648"/>
            <a:ext cx="182880" cy="18288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9" name="Text 7"/>
          <p:cNvSpPr/>
          <p:nvPr/>
        </p:nvSpPr>
        <p:spPr>
          <a:xfrm>
            <a:off x="145161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29150" y="1755648"/>
            <a:ext cx="182880" cy="182880"/>
          </a:xfrm>
          <a:prstGeom prst="ellipse">
            <a:avLst/>
          </a:prstGeom>
          <a:solidFill>
            <a:srgbClr val="2B3A57"/>
          </a:solidFill>
          <a:ln/>
        </p:spPr>
      </p:sp>
      <p:sp>
        <p:nvSpPr>
          <p:cNvPr id="11" name="Text 9"/>
          <p:cNvSpPr/>
          <p:nvPr/>
        </p:nvSpPr>
        <p:spPr>
          <a:xfrm>
            <a:off x="417195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150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49490" y="1755648"/>
            <a:ext cx="182880" cy="182880"/>
          </a:xfrm>
          <a:prstGeom prst="ellipse">
            <a:avLst/>
          </a:prstGeom>
          <a:solidFill>
            <a:srgbClr val="2B3A57"/>
          </a:solidFill>
          <a:ln/>
        </p:spPr>
      </p:sp>
      <p:sp>
        <p:nvSpPr>
          <p:cNvPr id="13" name="Text 11"/>
          <p:cNvSpPr/>
          <p:nvPr/>
        </p:nvSpPr>
        <p:spPr>
          <a:xfrm>
            <a:off x="689229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150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069830" y="1755648"/>
            <a:ext cx="182880" cy="182880"/>
          </a:xfrm>
          <a:prstGeom prst="ellipse">
            <a:avLst/>
          </a:prstGeom>
          <a:solidFill>
            <a:srgbClr val="2B3A57"/>
          </a:solidFill>
          <a:ln/>
        </p:spPr>
      </p:sp>
      <p:sp>
        <p:nvSpPr>
          <p:cNvPr id="15" name="Text 13"/>
          <p:cNvSpPr/>
          <p:nvPr/>
        </p:nvSpPr>
        <p:spPr>
          <a:xfrm>
            <a:off x="961263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150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2377440"/>
            <a:ext cx="4114800" cy="3840480"/>
          </a:xfrm>
          <a:prstGeom prst="roundRect">
            <a:avLst>
              <a:gd name="adj" fmla="val 2857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95528" y="2670048"/>
            <a:ext cx="914400" cy="9144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2898648"/>
            <a:ext cx="457200" cy="45720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3520440" y="265176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813816" y="37033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2300" dirty="0"/>
          </a:p>
        </p:txBody>
      </p:sp>
      <p:sp>
        <p:nvSpPr>
          <p:cNvPr id="21" name="Text 18"/>
          <p:cNvSpPr/>
          <p:nvPr/>
        </p:nvSpPr>
        <p:spPr>
          <a:xfrm>
            <a:off x="813816" y="41696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patterns from data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813816" y="4663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13816" y="4956048"/>
            <a:ext cx="35112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that learn rules from labeled/structured data to predict or classify — no explicit programming of the rules.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892040" y="2377440"/>
            <a:ext cx="6766560" cy="1298448"/>
          </a:xfrm>
          <a:prstGeom prst="roundRect">
            <a:avLst>
              <a:gd name="adj" fmla="val 7042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166360" y="2505456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PROBLEMS IT SOLVES  ·  TECHNICAL EXAMPLES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5202936" y="2834640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vs. not-spam classification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/ demand forecasting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8494776" y="2834640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&amp; churn prediction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segmentation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4892040" y="3785616"/>
            <a:ext cx="6766560" cy="1389888"/>
          </a:xfrm>
          <a:prstGeom prst="roundRect">
            <a:avLst>
              <a:gd name="adj" fmla="val 6579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166360" y="3913632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/ ALGORITHMS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5202936" y="4242816"/>
            <a:ext cx="2926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&amp; logistic regression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forests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8494776" y="4242816"/>
            <a:ext cx="2926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SVM, KNN, k-means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Bagging &amp; boosting (XGBoost)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892040" y="5285232"/>
            <a:ext cx="6766560" cy="932688"/>
          </a:xfrm>
          <a:prstGeom prst="roundRect">
            <a:avLst>
              <a:gd name="adj" fmla="val 9804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166360" y="541324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FRAMEWORKS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5202936" y="57424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/ LightGBM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8494776" y="57424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/ NumPy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EVOLUTION OF AI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Deep Learning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47088"/>
            <a:ext cx="10881360" cy="0"/>
          </a:xfrm>
          <a:prstGeom prst="line">
            <a:avLst/>
          </a:prstGeom>
          <a:noFill/>
          <a:ln w="25400">
            <a:solidFill>
              <a:srgbClr val="2B3A5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08810" y="1755648"/>
            <a:ext cx="182880" cy="18288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9" name="Text 7"/>
          <p:cNvSpPr/>
          <p:nvPr/>
        </p:nvSpPr>
        <p:spPr>
          <a:xfrm>
            <a:off x="145161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29150" y="1755648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417195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49490" y="1755648"/>
            <a:ext cx="182880" cy="182880"/>
          </a:xfrm>
          <a:prstGeom prst="ellipse">
            <a:avLst/>
          </a:prstGeom>
          <a:solidFill>
            <a:srgbClr val="2B3A57"/>
          </a:solidFill>
          <a:ln/>
        </p:spPr>
      </p:sp>
      <p:sp>
        <p:nvSpPr>
          <p:cNvPr id="13" name="Text 11"/>
          <p:cNvSpPr/>
          <p:nvPr/>
        </p:nvSpPr>
        <p:spPr>
          <a:xfrm>
            <a:off x="689229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150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069830" y="1755648"/>
            <a:ext cx="182880" cy="182880"/>
          </a:xfrm>
          <a:prstGeom prst="ellipse">
            <a:avLst/>
          </a:prstGeom>
          <a:solidFill>
            <a:srgbClr val="2B3A57"/>
          </a:solidFill>
          <a:ln/>
        </p:spPr>
      </p:sp>
      <p:sp>
        <p:nvSpPr>
          <p:cNvPr id="15" name="Text 13"/>
          <p:cNvSpPr/>
          <p:nvPr/>
        </p:nvSpPr>
        <p:spPr>
          <a:xfrm>
            <a:off x="961263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150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2377440"/>
            <a:ext cx="4114800" cy="3840480"/>
          </a:xfrm>
          <a:prstGeom prst="roundRect">
            <a:avLst>
              <a:gd name="adj" fmla="val 2857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95528" y="2670048"/>
            <a:ext cx="914400" cy="9144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2898648"/>
            <a:ext cx="457200" cy="45720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3520440" y="265176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813816" y="37033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2300" dirty="0"/>
          </a:p>
        </p:txBody>
      </p:sp>
      <p:sp>
        <p:nvSpPr>
          <p:cNvPr id="21" name="Text 18"/>
          <p:cNvSpPr/>
          <p:nvPr/>
        </p:nvSpPr>
        <p:spPr>
          <a:xfrm>
            <a:off x="813816" y="41696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networks for complex data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813816" y="4663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13816" y="4956048"/>
            <a:ext cx="35112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Multi-layer neural networks that learn features directly from unstructured data (images, audio, text) — no manual feature engineering.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892040" y="2377440"/>
            <a:ext cx="6766560" cy="1298448"/>
          </a:xfrm>
          <a:prstGeom prst="roundRect">
            <a:avLst>
              <a:gd name="adj" fmla="val 7042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166360" y="2505456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PROBLEMS IT SOLVES  ·  TECHNICAL EXAMPLES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5202936" y="2834640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classification &amp; object detection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recognition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8494776" y="2834640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translation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image diagnosis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4892040" y="3785616"/>
            <a:ext cx="6766560" cy="1389888"/>
          </a:xfrm>
          <a:prstGeom prst="roundRect">
            <a:avLst>
              <a:gd name="adj" fmla="val 6579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166360" y="3913632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/ ALGORITHMS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5202936" y="4242816"/>
            <a:ext cx="2926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CNNs (vision)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RNNs, LSTMs, GRUs (sequence)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Autoencoders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8494776" y="4242816"/>
            <a:ext cx="2926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892040" y="5285232"/>
            <a:ext cx="6766560" cy="932688"/>
          </a:xfrm>
          <a:prstGeom prst="roundRect">
            <a:avLst>
              <a:gd name="adj" fmla="val 9804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166360" y="541324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FRAMEWORKS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5202936" y="57424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8494776" y="57424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TensorFlow / Keras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EVOLUTION OF AI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Generative AI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47088"/>
            <a:ext cx="10881360" cy="0"/>
          </a:xfrm>
          <a:prstGeom prst="line">
            <a:avLst/>
          </a:prstGeom>
          <a:noFill/>
          <a:ln w="25400">
            <a:solidFill>
              <a:srgbClr val="2B3A5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08810" y="1755648"/>
            <a:ext cx="182880" cy="18288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9" name="Text 7"/>
          <p:cNvSpPr/>
          <p:nvPr/>
        </p:nvSpPr>
        <p:spPr>
          <a:xfrm>
            <a:off x="145161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29150" y="1755648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417195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49490" y="1755648"/>
            <a:ext cx="182880" cy="182880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3" name="Text 11"/>
          <p:cNvSpPr/>
          <p:nvPr/>
        </p:nvSpPr>
        <p:spPr>
          <a:xfrm>
            <a:off x="689229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069830" y="1755648"/>
            <a:ext cx="182880" cy="182880"/>
          </a:xfrm>
          <a:prstGeom prst="ellipse">
            <a:avLst/>
          </a:prstGeom>
          <a:solidFill>
            <a:srgbClr val="2B3A57"/>
          </a:solidFill>
          <a:ln/>
        </p:spPr>
      </p:sp>
      <p:sp>
        <p:nvSpPr>
          <p:cNvPr id="15" name="Text 13"/>
          <p:cNvSpPr/>
          <p:nvPr/>
        </p:nvSpPr>
        <p:spPr>
          <a:xfrm>
            <a:off x="961263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150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2377440"/>
            <a:ext cx="4114800" cy="3840480"/>
          </a:xfrm>
          <a:prstGeom prst="roundRect">
            <a:avLst>
              <a:gd name="adj" fmla="val 2857"/>
            </a:avLst>
          </a:prstGeom>
          <a:solidFill>
            <a:srgbClr val="121C30"/>
          </a:solidFill>
          <a:ln w="15875">
            <a:solidFill>
              <a:srgbClr val="FBBF2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95528" y="2670048"/>
            <a:ext cx="914400" cy="9144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BBF24"/>
            </a:solidFill>
            <a:prstDash val="solid"/>
          </a:ln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2898648"/>
            <a:ext cx="457200" cy="45720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3520440" y="265176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813816" y="37033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</a:t>
            </a:r>
            <a:endParaRPr lang="en-US" sz="2300" dirty="0"/>
          </a:p>
        </p:txBody>
      </p:sp>
      <p:sp>
        <p:nvSpPr>
          <p:cNvPr id="21" name="Text 18"/>
          <p:cNvSpPr/>
          <p:nvPr/>
        </p:nvSpPr>
        <p:spPr>
          <a:xfrm>
            <a:off x="813816" y="41696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new content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813816" y="4663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13816" y="4956048"/>
            <a:ext cx="35112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Transformer-based LLMs that generate new text, code, images, and audio by predicting patterns — reactive, prompt-driven.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892040" y="2377440"/>
            <a:ext cx="6766560" cy="1298448"/>
          </a:xfrm>
          <a:prstGeom prst="roundRect">
            <a:avLst>
              <a:gd name="adj" fmla="val 7042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166360" y="2505456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PROBLEMS IT SOLVES  ·  TECHNICAL EXAMPLES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5202936" y="2834640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text, code &amp; summaries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over your docs (RAG)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8494776" y="2834640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/ audio generation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Chatbots &amp; copilots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4892040" y="3785616"/>
            <a:ext cx="6766560" cy="1389888"/>
          </a:xfrm>
          <a:prstGeom prst="roundRect">
            <a:avLst>
              <a:gd name="adj" fmla="val 6579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166360" y="3913632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/ ALGORITHMS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5202936" y="4242816"/>
            <a:ext cx="2926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(LLMs)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models (images)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VAEs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8494776" y="4242816"/>
            <a:ext cx="2926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models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models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892040" y="5285232"/>
            <a:ext cx="6766560" cy="932688"/>
          </a:xfrm>
          <a:prstGeom prst="roundRect">
            <a:avLst>
              <a:gd name="adj" fmla="val 9804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166360" y="541324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FRAMEWORKS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5202936" y="57424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8494776" y="57424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LlamaIndex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EVOLUTION OF AI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Agentic AI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47088"/>
            <a:ext cx="10881360" cy="0"/>
          </a:xfrm>
          <a:prstGeom prst="line">
            <a:avLst/>
          </a:prstGeom>
          <a:noFill/>
          <a:ln w="25400">
            <a:solidFill>
              <a:srgbClr val="2B3A5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08810" y="1755648"/>
            <a:ext cx="182880" cy="18288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9" name="Text 7"/>
          <p:cNvSpPr/>
          <p:nvPr/>
        </p:nvSpPr>
        <p:spPr>
          <a:xfrm>
            <a:off x="145161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29150" y="1755648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417195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49490" y="1755648"/>
            <a:ext cx="182880" cy="182880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3" name="Text 11"/>
          <p:cNvSpPr/>
          <p:nvPr/>
        </p:nvSpPr>
        <p:spPr>
          <a:xfrm>
            <a:off x="689229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069830" y="1755648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15" name="Text 13"/>
          <p:cNvSpPr/>
          <p:nvPr/>
        </p:nvSpPr>
        <p:spPr>
          <a:xfrm>
            <a:off x="961263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2377440"/>
            <a:ext cx="4114800" cy="3840480"/>
          </a:xfrm>
          <a:prstGeom prst="roundRect">
            <a:avLst>
              <a:gd name="adj" fmla="val 2857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95528" y="2670048"/>
            <a:ext cx="914400" cy="9144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472B6"/>
            </a:solidFill>
            <a:prstDash val="solid"/>
          </a:ln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2898648"/>
            <a:ext cx="457200" cy="45720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3520440" y="265176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8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813816" y="37033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</a:t>
            </a:r>
            <a:endParaRPr lang="en-US" sz="2300" dirty="0"/>
          </a:p>
        </p:txBody>
      </p:sp>
      <p:sp>
        <p:nvSpPr>
          <p:cNvPr id="21" name="Text 18"/>
          <p:cNvSpPr/>
          <p:nvPr/>
        </p:nvSpPr>
        <p:spPr>
          <a:xfrm>
            <a:off x="813816" y="41696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Reason, plan &amp; act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813816" y="4663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13816" y="4956048"/>
            <a:ext cx="35112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given tools, memory &amp; a loop — they plan, take actions, observe results, and pursue multi-step goals autonomously.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892040" y="2377440"/>
            <a:ext cx="6766560" cy="1152144"/>
          </a:xfrm>
          <a:prstGeom prst="roundRect">
            <a:avLst>
              <a:gd name="adj" fmla="val 7937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166360" y="2505456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PROBLEMS IT SOLVES  ·  TECHNICAL EXAMPLES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5202936" y="2834640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research &amp; reports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trip end-to-end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8494776" y="2834640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coding tasks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automation w/ tools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4892040" y="3639312"/>
            <a:ext cx="6766560" cy="1152144"/>
          </a:xfrm>
          <a:prstGeom prst="roundRect">
            <a:avLst>
              <a:gd name="adj" fmla="val 7937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166360" y="376732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BUILDING BLOCKS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5202936" y="4096512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LLMs (the brain)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function calling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&amp; memory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8494776" y="4096512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&amp; reflection loops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892040" y="4901184"/>
            <a:ext cx="6766560" cy="1316736"/>
          </a:xfrm>
          <a:prstGeom prst="roundRect">
            <a:avLst>
              <a:gd name="adj" fmla="val 6944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166360" y="502920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FRAMEWORKS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5202936" y="5358384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Agents SDK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ADK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SDK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8494776" y="5358384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LlamaIndex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EVOLUTION OF AI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eras at a glance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47088"/>
            <a:ext cx="10881360" cy="0"/>
          </a:xfrm>
          <a:prstGeom prst="line">
            <a:avLst/>
          </a:prstGeom>
          <a:noFill/>
          <a:ln w="25400">
            <a:solidFill>
              <a:srgbClr val="2B3A5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08810" y="1755648"/>
            <a:ext cx="182880" cy="18288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9" name="Text 7"/>
          <p:cNvSpPr/>
          <p:nvPr/>
        </p:nvSpPr>
        <p:spPr>
          <a:xfrm>
            <a:off x="145161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29150" y="1755648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417195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49490" y="1755648"/>
            <a:ext cx="182880" cy="182880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3" name="Text 11"/>
          <p:cNvSpPr/>
          <p:nvPr/>
        </p:nvSpPr>
        <p:spPr>
          <a:xfrm>
            <a:off x="689229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069830" y="1755648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15" name="Text 13"/>
          <p:cNvSpPr/>
          <p:nvPr/>
        </p:nvSpPr>
        <p:spPr>
          <a:xfrm>
            <a:off x="961263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2395728"/>
            <a:ext cx="2569464" cy="3794760"/>
          </a:xfrm>
          <a:prstGeom prst="roundRect">
            <a:avLst>
              <a:gd name="adj" fmla="val 4270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58952" y="2651760"/>
            <a:ext cx="640080" cy="64008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807208"/>
            <a:ext cx="329184" cy="329184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2203704" y="2633472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740664" y="3419856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0664" y="3877056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patterns from data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40664" y="4453128"/>
            <a:ext cx="215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example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740664" y="4681728"/>
            <a:ext cx="2157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vs. not-spam classification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3364992" y="2395728"/>
            <a:ext cx="2569464" cy="3794760"/>
          </a:xfrm>
          <a:prstGeom prst="roundRect">
            <a:avLst>
              <a:gd name="adj" fmla="val 4270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3621024" y="2651760"/>
            <a:ext cx="640080" cy="64008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6472" y="2807208"/>
            <a:ext cx="329184" cy="329184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5065776" y="2633472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28" name="Text 24"/>
          <p:cNvSpPr/>
          <p:nvPr/>
        </p:nvSpPr>
        <p:spPr>
          <a:xfrm>
            <a:off x="3602736" y="3419856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1500" dirty="0"/>
          </a:p>
        </p:txBody>
      </p:sp>
      <p:sp>
        <p:nvSpPr>
          <p:cNvPr id="29" name="Text 25"/>
          <p:cNvSpPr/>
          <p:nvPr/>
        </p:nvSpPr>
        <p:spPr>
          <a:xfrm>
            <a:off x="3602736" y="3877056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networks for complex data</a:t>
            </a:r>
            <a:endParaRPr lang="en-US" sz="1100" dirty="0"/>
          </a:p>
        </p:txBody>
      </p:sp>
      <p:sp>
        <p:nvSpPr>
          <p:cNvPr id="30" name="Text 26"/>
          <p:cNvSpPr/>
          <p:nvPr/>
        </p:nvSpPr>
        <p:spPr>
          <a:xfrm>
            <a:off x="3602736" y="4453128"/>
            <a:ext cx="215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example</a:t>
            </a:r>
            <a:endParaRPr lang="en-US" sz="850" dirty="0"/>
          </a:p>
        </p:txBody>
      </p:sp>
      <p:sp>
        <p:nvSpPr>
          <p:cNvPr id="31" name="Text 27"/>
          <p:cNvSpPr/>
          <p:nvPr/>
        </p:nvSpPr>
        <p:spPr>
          <a:xfrm>
            <a:off x="3602736" y="4681728"/>
            <a:ext cx="2157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classification &amp; object detection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6227064" y="2395728"/>
            <a:ext cx="2569464" cy="3794760"/>
          </a:xfrm>
          <a:prstGeom prst="roundRect">
            <a:avLst>
              <a:gd name="adj" fmla="val 4270"/>
            </a:avLst>
          </a:prstGeom>
          <a:solidFill>
            <a:srgbClr val="121C30"/>
          </a:solidFill>
          <a:ln w="15875">
            <a:solidFill>
              <a:srgbClr val="FBBF2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3" name="Shape 29"/>
          <p:cNvSpPr/>
          <p:nvPr/>
        </p:nvSpPr>
        <p:spPr>
          <a:xfrm>
            <a:off x="6483096" y="2651760"/>
            <a:ext cx="640080" cy="64008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BBF24"/>
            </a:solidFill>
            <a:prstDash val="solid"/>
          </a:ln>
        </p:spPr>
      </p:sp>
      <p:pic>
        <p:nvPicPr>
          <p:cNvPr id="3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8544" y="2807208"/>
            <a:ext cx="329184" cy="329184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7927848" y="2633472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36" name="Text 31"/>
          <p:cNvSpPr/>
          <p:nvPr/>
        </p:nvSpPr>
        <p:spPr>
          <a:xfrm>
            <a:off x="6464808" y="3419856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</a:t>
            </a:r>
            <a:endParaRPr lang="en-US" sz="1500" dirty="0"/>
          </a:p>
        </p:txBody>
      </p:sp>
      <p:sp>
        <p:nvSpPr>
          <p:cNvPr id="37" name="Text 32"/>
          <p:cNvSpPr/>
          <p:nvPr/>
        </p:nvSpPr>
        <p:spPr>
          <a:xfrm>
            <a:off x="6464808" y="3877056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new content</a:t>
            </a:r>
            <a:endParaRPr lang="en-US" sz="1100" dirty="0"/>
          </a:p>
        </p:txBody>
      </p:sp>
      <p:sp>
        <p:nvSpPr>
          <p:cNvPr id="38" name="Text 33"/>
          <p:cNvSpPr/>
          <p:nvPr/>
        </p:nvSpPr>
        <p:spPr>
          <a:xfrm>
            <a:off x="6464808" y="4453128"/>
            <a:ext cx="215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example</a:t>
            </a:r>
            <a:endParaRPr lang="en-US" sz="850" dirty="0"/>
          </a:p>
        </p:txBody>
      </p:sp>
      <p:sp>
        <p:nvSpPr>
          <p:cNvPr id="39" name="Text 34"/>
          <p:cNvSpPr/>
          <p:nvPr/>
        </p:nvSpPr>
        <p:spPr>
          <a:xfrm>
            <a:off x="6464808" y="4681728"/>
            <a:ext cx="2157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text, code &amp; summaries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9089136" y="2395728"/>
            <a:ext cx="2569464" cy="3794760"/>
          </a:xfrm>
          <a:prstGeom prst="roundRect">
            <a:avLst>
              <a:gd name="adj" fmla="val 4270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41" name="Shape 36"/>
          <p:cNvSpPr/>
          <p:nvPr/>
        </p:nvSpPr>
        <p:spPr>
          <a:xfrm>
            <a:off x="9345168" y="2651760"/>
            <a:ext cx="640080" cy="64008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472B6"/>
            </a:solidFill>
            <a:prstDash val="solid"/>
          </a:ln>
        </p:spPr>
      </p:sp>
      <p:pic>
        <p:nvPicPr>
          <p:cNvPr id="4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0616" y="2807208"/>
            <a:ext cx="329184" cy="329184"/>
          </a:xfrm>
          <a:prstGeom prst="rect">
            <a:avLst/>
          </a:prstGeom>
        </p:spPr>
      </p:pic>
      <p:sp>
        <p:nvSpPr>
          <p:cNvPr id="43" name="Text 37"/>
          <p:cNvSpPr/>
          <p:nvPr/>
        </p:nvSpPr>
        <p:spPr>
          <a:xfrm>
            <a:off x="10789920" y="2633472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44" name="Text 38"/>
          <p:cNvSpPr/>
          <p:nvPr/>
        </p:nvSpPr>
        <p:spPr>
          <a:xfrm>
            <a:off x="9326880" y="3419856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</a:t>
            </a:r>
            <a:endParaRPr lang="en-US" sz="1500" dirty="0"/>
          </a:p>
        </p:txBody>
      </p:sp>
      <p:sp>
        <p:nvSpPr>
          <p:cNvPr id="45" name="Text 39"/>
          <p:cNvSpPr/>
          <p:nvPr/>
        </p:nvSpPr>
        <p:spPr>
          <a:xfrm>
            <a:off x="9326880" y="3877056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Reason, plan &amp; act</a:t>
            </a:r>
            <a:endParaRPr lang="en-US" sz="1100" dirty="0"/>
          </a:p>
        </p:txBody>
      </p:sp>
      <p:sp>
        <p:nvSpPr>
          <p:cNvPr id="46" name="Text 40"/>
          <p:cNvSpPr/>
          <p:nvPr/>
        </p:nvSpPr>
        <p:spPr>
          <a:xfrm>
            <a:off x="9326880" y="4453128"/>
            <a:ext cx="215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example</a:t>
            </a:r>
            <a:endParaRPr lang="en-US" sz="850" dirty="0"/>
          </a:p>
        </p:txBody>
      </p:sp>
      <p:sp>
        <p:nvSpPr>
          <p:cNvPr id="47" name="Text 41"/>
          <p:cNvSpPr/>
          <p:nvPr/>
        </p:nvSpPr>
        <p:spPr>
          <a:xfrm>
            <a:off x="9326880" y="4681728"/>
            <a:ext cx="2157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research &amp; reports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457200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46920" y="457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" y="1691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5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AN LLM?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86384" y="21945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</a:t>
            </a:r>
            <a:endParaRPr lang="en-US" sz="5000" dirty="0"/>
          </a:p>
        </p:txBody>
      </p:sp>
      <p:sp>
        <p:nvSpPr>
          <p:cNvPr id="6" name="Shape 4"/>
          <p:cNvSpPr/>
          <p:nvPr/>
        </p:nvSpPr>
        <p:spPr>
          <a:xfrm>
            <a:off x="822960" y="3429000"/>
            <a:ext cx="10515600" cy="2011680"/>
          </a:xfrm>
          <a:prstGeom prst="roundRect">
            <a:avLst>
              <a:gd name="adj" fmla="val 5455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43000" y="370332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 </a:t>
            </a:r>
            <a:pPr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</a:t>
            </a:r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is an AI system trained on enormous amounts of text that </a:t>
            </a:r>
            <a:pPr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the next word</a:t>
            </a:r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over and over — one token at a time — to turn your text prompt into a useful text response.</a:t>
            </a:r>
            <a:endParaRPr lang="en-US" sz="2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AN LLM?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characteristics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965960"/>
            <a:ext cx="3505200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2240280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71600" y="2258568"/>
            <a:ext cx="240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enormous data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95528" y="2880360"/>
            <a:ext cx="295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Books, code, websites — trillions of words.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28160" y="1965960"/>
            <a:ext cx="3505200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02480" y="2240280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0248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196840" y="2258568"/>
            <a:ext cx="240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architecture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620768" y="2880360"/>
            <a:ext cx="295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neural-network design behind every modern LLM.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53400" y="1965960"/>
            <a:ext cx="3505200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427720" y="2240280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2772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022080" y="2258568"/>
            <a:ext cx="240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machines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446008" y="2880360"/>
            <a:ext cx="295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predict the next token, again and again.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02920" y="4069080"/>
            <a:ext cx="3505200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371600" y="4361688"/>
            <a:ext cx="240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in → text out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95528" y="4983480"/>
            <a:ext cx="295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goes in, generated text comes out.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328160" y="4069080"/>
            <a:ext cx="3505200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602480" y="4343400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0248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196840" y="4361688"/>
            <a:ext cx="240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620768" y="4983480"/>
            <a:ext cx="295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memory between calls — each request starts fresh.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153400" y="4069080"/>
            <a:ext cx="3505200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427720" y="4343400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42772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022080" y="4361688"/>
            <a:ext cx="240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8446008" y="4983480"/>
            <a:ext cx="295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 limit on how much text it can 'see' at once.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AN LLM?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in, prediction out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3108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prompt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22960" y="35478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type in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26280" y="274320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1B274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3108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09160" y="35478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next token × 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412480" y="274320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595360" y="3108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text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595360" y="35478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response you get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74904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63524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640080" y="4663440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0F182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8280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STATELESS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4400" y="513892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remembers nothing between calls. Every request starts from a blank slate — the whole conversation must be re-sent each time.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172200" y="4663440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0F182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46520" y="48280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WINDOW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46520" y="513892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a hard limit on how much text fits in one call — prompt plus response. Exceed it and the earliest text falls out of view.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BUILDS LLMs?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Closed-source vs open-source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9659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21945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Closed-source (API only)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8680" y="278892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 —  GPT-5 / GPT-4.1 family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 —  Claude Opus &amp; Sonnet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 —  Gemini 2.5 Pro / Flash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xAI  —  Grok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72200" y="1965960"/>
            <a:ext cx="5486400" cy="4114800"/>
          </a:xfrm>
          <a:prstGeom prst="roundRect">
            <a:avLst>
              <a:gd name="adj" fmla="val 2667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92240" y="2194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(weights available)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537960" y="27889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 —  Llama family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 —  DeepSeek V3 / R1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  —  Mistral / Mixtral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  —  Qwen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 LLMs COST?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pricing pages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6002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changes often — always check the source. Models are billed per million tokens, split into input and output.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2240280"/>
            <a:ext cx="5394960" cy="1051560"/>
          </a:xfrm>
          <a:prstGeom prst="roundRect">
            <a:avLst>
              <a:gd name="adj" fmla="val 8696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4231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1700" dirty="0"/>
          </a:p>
        </p:txBody>
      </p:sp>
      <p:sp>
        <p:nvSpPr>
          <p:cNvPr id="10" name="Text 8">
            <a:hlinkClick r:id="rId1" tooltip=""/>
          </p:cNvPr>
          <p:cNvSpPr/>
          <p:nvPr/>
        </p:nvSpPr>
        <p:spPr>
          <a:xfrm>
            <a:off x="868680" y="280720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openai.com/api/pricing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2240280"/>
            <a:ext cx="5394960" cy="1051560"/>
          </a:xfrm>
          <a:prstGeom prst="roundRect">
            <a:avLst>
              <a:gd name="adj" fmla="val 8696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9400" y="24231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700" dirty="0"/>
          </a:p>
        </p:txBody>
      </p:sp>
      <p:sp>
        <p:nvSpPr>
          <p:cNvPr id="13" name="Text 11">
            <a:hlinkClick r:id="rId2" tooltip=""/>
          </p:cNvPr>
          <p:cNvSpPr/>
          <p:nvPr/>
        </p:nvSpPr>
        <p:spPr>
          <a:xfrm>
            <a:off x="6629400" y="280720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platform.claude.com › pricing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520440"/>
            <a:ext cx="5394960" cy="1051560"/>
          </a:xfrm>
          <a:prstGeom prst="roundRect">
            <a:avLst>
              <a:gd name="adj" fmla="val 8696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7033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</a:t>
            </a:r>
            <a:endParaRPr lang="en-US" sz="1700" dirty="0"/>
          </a:p>
        </p:txBody>
      </p:sp>
      <p:sp>
        <p:nvSpPr>
          <p:cNvPr id="16" name="Text 14">
            <a:hlinkClick r:id="rId3" tooltip=""/>
          </p:cNvPr>
          <p:cNvSpPr/>
          <p:nvPr/>
        </p:nvSpPr>
        <p:spPr>
          <a:xfrm>
            <a:off x="868680" y="408736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ai.google.dev/pricing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63640" y="3520440"/>
            <a:ext cx="5394960" cy="1051560"/>
          </a:xfrm>
          <a:prstGeom prst="roundRect">
            <a:avLst>
              <a:gd name="adj" fmla="val 8696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9400" y="37033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xAI Grok</a:t>
            </a:r>
            <a:endParaRPr lang="en-US" sz="1700" dirty="0"/>
          </a:p>
        </p:txBody>
      </p:sp>
      <p:sp>
        <p:nvSpPr>
          <p:cNvPr id="19" name="Text 17">
            <a:hlinkClick r:id="rId4" tooltip=""/>
          </p:cNvPr>
          <p:cNvSpPr/>
          <p:nvPr/>
        </p:nvSpPr>
        <p:spPr>
          <a:xfrm>
            <a:off x="6629400" y="408736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x.ai/api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02920" y="4800600"/>
            <a:ext cx="5394960" cy="1051560"/>
          </a:xfrm>
          <a:prstGeom prst="roundRect">
            <a:avLst>
              <a:gd name="adj" fmla="val 8696"/>
            </a:avLst>
          </a:prstGeom>
          <a:solidFill>
            <a:srgbClr val="121C3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49834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</a:t>
            </a:r>
            <a:endParaRPr lang="en-US" sz="1700" dirty="0"/>
          </a:p>
        </p:txBody>
      </p:sp>
      <p:sp>
        <p:nvSpPr>
          <p:cNvPr id="22" name="Text 20">
            <a:hlinkClick r:id="rId5" tooltip=""/>
          </p:cNvPr>
          <p:cNvSpPr/>
          <p:nvPr/>
        </p:nvSpPr>
        <p:spPr>
          <a:xfrm>
            <a:off x="868680" y="536752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api-docs.deepseek.com › pricing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263640" y="4800600"/>
            <a:ext cx="5394960" cy="1051560"/>
          </a:xfrm>
          <a:prstGeom prst="roundRect">
            <a:avLst>
              <a:gd name="adj" fmla="val 8696"/>
            </a:avLst>
          </a:prstGeom>
          <a:solidFill>
            <a:srgbClr val="121C3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29400" y="49834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</a:t>
            </a:r>
            <a:endParaRPr lang="en-US" sz="1700" dirty="0"/>
          </a:p>
        </p:txBody>
      </p:sp>
      <p:sp>
        <p:nvSpPr>
          <p:cNvPr id="25" name="Text 23">
            <a:hlinkClick r:id="rId6" tooltip=""/>
          </p:cNvPr>
          <p:cNvSpPr/>
          <p:nvPr/>
        </p:nvSpPr>
        <p:spPr>
          <a:xfrm>
            <a:off x="6629400" y="536752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mistral.ai/pricing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LLM IS BEST?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them yourself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2103120"/>
            <a:ext cx="11155680" cy="1828800"/>
          </a:xfrm>
          <a:prstGeom prst="roundRect">
            <a:avLst>
              <a:gd name="adj" fmla="val 6000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233172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LMArena Leaderboard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68680" y="292608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humans vote on blind head-to-head model answers. The rankings are Elo scores — like chess ratings — and they shift constantly as new models arrive.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4251960"/>
            <a:ext cx="5486400" cy="868680"/>
          </a:xfrm>
          <a:prstGeom prst="roundRect">
            <a:avLst>
              <a:gd name="adj" fmla="val 10526"/>
            </a:avLst>
          </a:prstGeom>
          <a:solidFill>
            <a:srgbClr val="13243F"/>
          </a:solidFill>
          <a:ln w="15875">
            <a:solidFill>
              <a:srgbClr val="38BDF8"/>
            </a:solidFill>
            <a:prstDash val="solid"/>
          </a:ln>
        </p:spPr>
      </p:sp>
      <p:sp>
        <p:nvSpPr>
          <p:cNvPr id="11" name="Text 9">
            <a:hlinkClick r:id="rId1" tooltip=""/>
          </p:cNvPr>
          <p:cNvSpPr/>
          <p:nvPr/>
        </p:nvSpPr>
        <p:spPr>
          <a:xfrm>
            <a:off x="777240" y="425196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→  arena.ai/leaderboard/text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263640" y="4251960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Bookmark it. Check it monthly — not once.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457200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46920" y="457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5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SETTINGS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86384" y="20574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dials that shape a response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29718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model, same prompt — these four knobs change what comes out. Here's each one in plain words: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3657600"/>
            <a:ext cx="2468880" cy="2103120"/>
          </a:xfrm>
          <a:prstGeom prst="roundRect">
            <a:avLst>
              <a:gd name="adj" fmla="val 5217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280" y="3840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097280" y="437083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97280" y="47365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creativity dial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97280" y="50749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= safe &amp; predictable. High = wild &amp; surprising.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520440" y="3657600"/>
            <a:ext cx="2468880" cy="2103120"/>
          </a:xfrm>
          <a:prstGeom prst="roundRect">
            <a:avLst>
              <a:gd name="adj" fmla="val 5217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794760" y="3840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794760" y="437083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tokens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794760" y="47365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word budget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794760" y="50749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it's allowed to say before it must stop.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0" y="3657600"/>
            <a:ext cx="2468880" cy="2103120"/>
          </a:xfrm>
          <a:prstGeom prst="roundRect">
            <a:avLst>
              <a:gd name="adj" fmla="val 5217"/>
            </a:avLst>
          </a:prstGeom>
          <a:solidFill>
            <a:srgbClr val="121C30"/>
          </a:solidFill>
          <a:ln w="15875">
            <a:solidFill>
              <a:srgbClr val="FBBF2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92240" y="3840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492240" y="437083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92240" y="47365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fixed-size shortlist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92240" y="50749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k best words are allowed to be picked.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915400" y="3657600"/>
            <a:ext cx="2468880" cy="2103120"/>
          </a:xfrm>
          <a:prstGeom prst="roundRect">
            <a:avLst>
              <a:gd name="adj" fmla="val 5217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189720" y="3840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9189720" y="437083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Top-p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189720" y="47365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smart shortlist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189720" y="50749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Grows or shrinks based on how sure the model is.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SETTINGS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First: how a token gets chosen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6002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At every step the model outputs a </a:t>
            </a:r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for every possible next token</a:t>
            </a:r>
            <a:pPr indent="0" marL="0">
              <a:buNone/>
            </a:pPr>
            <a:r>
              <a:rPr lang="en-US" sz="15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The settings decide how we pick from that list.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Prompt:  “The cat sat on the ___”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554480" y="3200400"/>
            <a:ext cx="1188720" cy="2057400"/>
          </a:xfrm>
          <a:prstGeom prst="roundRect">
            <a:avLst>
              <a:gd name="adj" fmla="val 2308"/>
            </a:avLst>
          </a:prstGeom>
          <a:solidFill>
            <a:srgbClr val="38BDF8"/>
          </a:solidFill>
          <a:ln/>
        </p:spPr>
      </p:sp>
      <p:sp>
        <p:nvSpPr>
          <p:cNvPr id="10" name="Text 8"/>
          <p:cNvSpPr/>
          <p:nvPr/>
        </p:nvSpPr>
        <p:spPr>
          <a:xfrm>
            <a:off x="1463040" y="29077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.45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417320" y="5330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4343400"/>
            <a:ext cx="1188720" cy="914400"/>
          </a:xfrm>
          <a:prstGeom prst="roundRect">
            <a:avLst>
              <a:gd name="adj" fmla="val 3000"/>
            </a:avLst>
          </a:prstGeom>
          <a:solidFill>
            <a:srgbClr val="34D399"/>
          </a:solidFill>
          <a:ln/>
        </p:spPr>
      </p:sp>
      <p:sp>
        <p:nvSpPr>
          <p:cNvPr id="13" name="Text 11"/>
          <p:cNvSpPr/>
          <p:nvPr/>
        </p:nvSpPr>
        <p:spPr>
          <a:xfrm>
            <a:off x="3108960" y="40507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.20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063240" y="5330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rug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846320" y="4572000"/>
            <a:ext cx="1188720" cy="685800"/>
          </a:xfrm>
          <a:prstGeom prst="roundRect">
            <a:avLst>
              <a:gd name="adj" fmla="val 4000"/>
            </a:avLst>
          </a:prstGeom>
          <a:solidFill>
            <a:srgbClr val="FBBF24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42793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.15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709160" y="5330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92240" y="4800600"/>
            <a:ext cx="1188720" cy="457200"/>
          </a:xfrm>
          <a:prstGeom prst="roundRect">
            <a:avLst>
              <a:gd name="adj" fmla="val 6000"/>
            </a:avLst>
          </a:prstGeom>
          <a:solidFill>
            <a:srgbClr val="F472B6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0" y="45079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.10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355080" y="5330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138160" y="4983480"/>
            <a:ext cx="1188720" cy="274320"/>
          </a:xfrm>
          <a:prstGeom prst="roundRect">
            <a:avLst>
              <a:gd name="adj" fmla="val 10000"/>
            </a:avLst>
          </a:prstGeom>
          <a:solidFill>
            <a:srgbClr val="8FA3C0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0" y="46908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.06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001000" y="5330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784080" y="5074920"/>
            <a:ext cx="1188720" cy="182880"/>
          </a:xfrm>
          <a:prstGeom prst="roundRect">
            <a:avLst>
              <a:gd name="adj" fmla="val 15000"/>
            </a:avLst>
          </a:prstGeom>
          <a:solidFill>
            <a:srgbClr val="8FA3C0"/>
          </a:solidFill>
          <a:ln/>
        </p:spPr>
      </p:sp>
      <p:sp>
        <p:nvSpPr>
          <p:cNvPr id="25" name="Text 23"/>
          <p:cNvSpPr/>
          <p:nvPr/>
        </p:nvSpPr>
        <p:spPr>
          <a:xfrm>
            <a:off x="9692640" y="47823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.04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646920" y="5330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417320" y="5257800"/>
            <a:ext cx="9692640" cy="0"/>
          </a:xfrm>
          <a:prstGeom prst="line">
            <a:avLst/>
          </a:prstGeom>
          <a:noFill/>
          <a:ln w="19050">
            <a:solidFill>
              <a:srgbClr val="2B3A5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58064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bar is a candidate next token. Taller = more likely. They all add up to 1.0.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SETTINGS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— random vs. focused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11155680" cy="566928"/>
          </a:xfrm>
          <a:prstGeom prst="roundRect">
            <a:avLst>
              <a:gd name="adj" fmla="val 16129"/>
            </a:avLst>
          </a:prstGeom>
          <a:solidFill>
            <a:srgbClr val="13243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48132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 PLAIN WORDS 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is the LLM's creativity dial — low plays it safe, high takes risks.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194560"/>
            <a:ext cx="11155680" cy="841248"/>
          </a:xfrm>
          <a:prstGeom prst="roundRect">
            <a:avLst>
              <a:gd name="adj" fmla="val 10870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304288"/>
            <a:ext cx="2331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b="1" spc="100" kern="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
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 – 1.0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77240" y="277977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LLMs allow up to 2.0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91840" y="2340864"/>
            <a:ext cx="0" cy="548640"/>
          </a:xfrm>
          <a:prstGeom prst="line">
            <a:avLst/>
          </a:prstGeom>
          <a:noFill/>
          <a:ln w="12700">
            <a:solidFill>
              <a:srgbClr val="2432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0" y="2313432"/>
            <a:ext cx="243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· 0–0.3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66160" y="2596896"/>
            <a:ext cx="2392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Focused, deterministic. Facts, code, extraction.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187440" y="2313432"/>
            <a:ext cx="243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 · 0.4–0.7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187440" y="2596896"/>
            <a:ext cx="2392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Balanced. Most general use sits here.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808720" y="2313432"/>
            <a:ext cx="243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· 0.8–2.0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08720" y="2596896"/>
            <a:ext cx="2392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Creative, varied, riskier. Brainstorming, fiction.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22960" y="33375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temperature  (0.2)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14400" y="3791331"/>
            <a:ext cx="566928" cy="1649349"/>
          </a:xfrm>
          <a:prstGeom prst="roundRect">
            <a:avLst>
              <a:gd name="adj" fmla="val 4839"/>
            </a:avLst>
          </a:prstGeom>
          <a:solidFill>
            <a:srgbClr val="38BDF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3498723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.78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77240" y="551383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19072" y="5186934"/>
            <a:ext cx="566928" cy="253746"/>
          </a:xfrm>
          <a:prstGeom prst="roundRect">
            <a:avLst>
              <a:gd name="adj" fmla="val 10811"/>
            </a:avLst>
          </a:prstGeom>
          <a:solidFill>
            <a:srgbClr val="34D399"/>
          </a:solidFill>
          <a:ln/>
        </p:spPr>
      </p:sp>
      <p:sp>
        <p:nvSpPr>
          <p:cNvPr id="24" name="Text 22"/>
          <p:cNvSpPr/>
          <p:nvPr/>
        </p:nvSpPr>
        <p:spPr>
          <a:xfrm>
            <a:off x="1627632" y="489432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.12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581912" y="551383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rug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523744" y="5313807"/>
            <a:ext cx="566928" cy="126873"/>
          </a:xfrm>
          <a:prstGeom prst="roundRect">
            <a:avLst>
              <a:gd name="adj" fmla="val 21622"/>
            </a:avLst>
          </a:prstGeom>
          <a:solidFill>
            <a:srgbClr val="FBBF24"/>
          </a:solidFill>
          <a:ln/>
        </p:spPr>
      </p:sp>
      <p:sp>
        <p:nvSpPr>
          <p:cNvPr id="27" name="Text 25"/>
          <p:cNvSpPr/>
          <p:nvPr/>
        </p:nvSpPr>
        <p:spPr>
          <a:xfrm>
            <a:off x="2432304" y="5021199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.06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386584" y="551383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28416" y="5398389"/>
            <a:ext cx="566928" cy="42291"/>
          </a:xfrm>
          <a:prstGeom prst="roundRect">
            <a:avLst>
              <a:gd name="adj" fmla="val 64865"/>
            </a:avLst>
          </a:prstGeom>
          <a:solidFill>
            <a:srgbClr val="F472B6"/>
          </a:solidFill>
          <a:ln/>
        </p:spPr>
      </p:sp>
      <p:sp>
        <p:nvSpPr>
          <p:cNvPr id="30" name="Text 28"/>
          <p:cNvSpPr/>
          <p:nvPr/>
        </p:nvSpPr>
        <p:spPr>
          <a:xfrm>
            <a:off x="3236976" y="5105781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.02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191256" y="551383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sofa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133088" y="5404104"/>
            <a:ext cx="566928" cy="36576"/>
          </a:xfrm>
          <a:prstGeom prst="roundRect">
            <a:avLst>
              <a:gd name="adj" fmla="val 75000"/>
            </a:avLst>
          </a:prstGeom>
          <a:solidFill>
            <a:srgbClr val="8FA3C0"/>
          </a:solidFill>
          <a:ln/>
        </p:spPr>
      </p:sp>
      <p:sp>
        <p:nvSpPr>
          <p:cNvPr id="33" name="Text 31"/>
          <p:cNvSpPr/>
          <p:nvPr/>
        </p:nvSpPr>
        <p:spPr>
          <a:xfrm>
            <a:off x="4041648" y="511149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.01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995928" y="551383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937760" y="5404104"/>
            <a:ext cx="566928" cy="36576"/>
          </a:xfrm>
          <a:prstGeom prst="roundRect">
            <a:avLst>
              <a:gd name="adj" fmla="val 75000"/>
            </a:avLst>
          </a:prstGeom>
          <a:solidFill>
            <a:srgbClr val="8FA3C0"/>
          </a:solidFill>
          <a:ln/>
        </p:spPr>
      </p:sp>
      <p:sp>
        <p:nvSpPr>
          <p:cNvPr id="36" name="Text 34"/>
          <p:cNvSpPr/>
          <p:nvPr/>
        </p:nvSpPr>
        <p:spPr>
          <a:xfrm>
            <a:off x="4846320" y="511149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.01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800600" y="551383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77240" y="5440680"/>
            <a:ext cx="4864608" cy="0"/>
          </a:xfrm>
          <a:prstGeom prst="line">
            <a:avLst/>
          </a:prstGeom>
          <a:noFill/>
          <a:ln w="19050">
            <a:solidFill>
              <a:srgbClr val="2B3A5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22960" y="57150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almost always “mat”. Predictable.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83680" y="33375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temperature  (1.2)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6675120" y="4848606"/>
            <a:ext cx="566928" cy="592074"/>
          </a:xfrm>
          <a:prstGeom prst="roundRect">
            <a:avLst>
              <a:gd name="adj" fmla="val 4839"/>
            </a:avLst>
          </a:prstGeom>
          <a:solidFill>
            <a:srgbClr val="38BDF8"/>
          </a:solidFill>
          <a:ln/>
        </p:spPr>
      </p:sp>
      <p:sp>
        <p:nvSpPr>
          <p:cNvPr id="42" name="Text 40"/>
          <p:cNvSpPr/>
          <p:nvPr/>
        </p:nvSpPr>
        <p:spPr>
          <a:xfrm>
            <a:off x="6583680" y="455599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.28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537960" y="551383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7479792" y="4996625"/>
            <a:ext cx="566928" cy="444055"/>
          </a:xfrm>
          <a:prstGeom prst="roundRect">
            <a:avLst>
              <a:gd name="adj" fmla="val 6178"/>
            </a:avLst>
          </a:prstGeom>
          <a:solidFill>
            <a:srgbClr val="34D399"/>
          </a:solidFill>
          <a:ln/>
        </p:spPr>
      </p:sp>
      <p:sp>
        <p:nvSpPr>
          <p:cNvPr id="45" name="Text 43"/>
          <p:cNvSpPr/>
          <p:nvPr/>
        </p:nvSpPr>
        <p:spPr>
          <a:xfrm>
            <a:off x="7388352" y="4704017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.21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342632" y="551383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rug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8284464" y="5060061"/>
            <a:ext cx="566928" cy="380619"/>
          </a:xfrm>
          <a:prstGeom prst="roundRect">
            <a:avLst>
              <a:gd name="adj" fmla="val 7207"/>
            </a:avLst>
          </a:prstGeom>
          <a:solidFill>
            <a:srgbClr val="FBBF24"/>
          </a:solidFill>
          <a:ln/>
        </p:spPr>
      </p:sp>
      <p:sp>
        <p:nvSpPr>
          <p:cNvPr id="48" name="Text 46"/>
          <p:cNvSpPr/>
          <p:nvPr/>
        </p:nvSpPr>
        <p:spPr>
          <a:xfrm>
            <a:off x="8193024" y="4767453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.18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8147304" y="551383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89136" y="5123498"/>
            <a:ext cx="566928" cy="317183"/>
          </a:xfrm>
          <a:prstGeom prst="roundRect">
            <a:avLst>
              <a:gd name="adj" fmla="val 8649"/>
            </a:avLst>
          </a:prstGeom>
          <a:solidFill>
            <a:srgbClr val="F472B6"/>
          </a:solidFill>
          <a:ln/>
        </p:spPr>
      </p:sp>
      <p:sp>
        <p:nvSpPr>
          <p:cNvPr id="51" name="Text 49"/>
          <p:cNvSpPr/>
          <p:nvPr/>
        </p:nvSpPr>
        <p:spPr>
          <a:xfrm>
            <a:off x="8997696" y="483089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.15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8951976" y="551383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sofa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9893808" y="5229225"/>
            <a:ext cx="566928" cy="211455"/>
          </a:xfrm>
          <a:prstGeom prst="roundRect">
            <a:avLst>
              <a:gd name="adj" fmla="val 12973"/>
            </a:avLst>
          </a:prstGeom>
          <a:solidFill>
            <a:srgbClr val="8FA3C0"/>
          </a:solidFill>
          <a:ln/>
        </p:spPr>
      </p:sp>
      <p:sp>
        <p:nvSpPr>
          <p:cNvPr id="54" name="Text 52"/>
          <p:cNvSpPr/>
          <p:nvPr/>
        </p:nvSpPr>
        <p:spPr>
          <a:xfrm>
            <a:off x="9802368" y="4936617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.10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9756648" y="551383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0698480" y="5271516"/>
            <a:ext cx="566928" cy="169164"/>
          </a:xfrm>
          <a:prstGeom prst="roundRect">
            <a:avLst>
              <a:gd name="adj" fmla="val 16216"/>
            </a:avLst>
          </a:prstGeom>
          <a:solidFill>
            <a:srgbClr val="8FA3C0"/>
          </a:solidFill>
          <a:ln/>
        </p:spPr>
      </p:sp>
      <p:sp>
        <p:nvSpPr>
          <p:cNvPr id="57" name="Text 55"/>
          <p:cNvSpPr/>
          <p:nvPr/>
        </p:nvSpPr>
        <p:spPr>
          <a:xfrm>
            <a:off x="10607040" y="497890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.08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10561320" y="551383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6537960" y="5440680"/>
            <a:ext cx="4864608" cy="0"/>
          </a:xfrm>
          <a:prstGeom prst="line">
            <a:avLst/>
          </a:prstGeom>
          <a:noFill/>
          <a:ln w="19050">
            <a:solidFill>
              <a:srgbClr val="2B3A5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83680" y="57150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any of several words. Varied, surprising.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SETTINGS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tokens — the length cap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11155680" cy="566928"/>
          </a:xfrm>
          <a:prstGeom prst="roundRect">
            <a:avLst>
              <a:gd name="adj" fmla="val 16129"/>
            </a:avLst>
          </a:prstGeom>
          <a:solidFill>
            <a:srgbClr val="13243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48132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 PLAIN WORDS 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tokens is the word budget — how much the model is allowed to say before it must stop.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194560"/>
            <a:ext cx="11155680" cy="841248"/>
          </a:xfrm>
          <a:prstGeom prst="roundRect">
            <a:avLst>
              <a:gd name="adj" fmla="val 10870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304288"/>
            <a:ext cx="2331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b="1" spc="100" kern="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
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– context limit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77240" y="277977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up to 4k–64k+ depending on model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91840" y="2340864"/>
            <a:ext cx="0" cy="548640"/>
          </a:xfrm>
          <a:prstGeom prst="line">
            <a:avLst/>
          </a:prstGeom>
          <a:noFill/>
          <a:ln w="12700">
            <a:solidFill>
              <a:srgbClr val="2432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0" y="2313432"/>
            <a:ext cx="243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· tens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66160" y="2596896"/>
            <a:ext cx="2392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replies, snippets. Risk: cut off.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187440" y="2313432"/>
            <a:ext cx="243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 · hundreds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187440" y="2596896"/>
            <a:ext cx="2392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Paragraphs, normal answers.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808720" y="2313432"/>
            <a:ext cx="243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· thousands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08720" y="2596896"/>
            <a:ext cx="2392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docs, full reports. Higher cost.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333756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121C30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3429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max_tokens = 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291840" y="3410712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cat sat on the”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869680" y="3410712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off mid-sentence — ran out of room.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02920" y="425196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121C3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3434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max_tokens = 30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291840" y="4325112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cat sat on the mat and watched the rain.”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869680" y="4325112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short answer.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02920" y="516636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52578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max_tokens = 500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291840" y="5239512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paragraph or more…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8869680" y="5239512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Plenty of room; stops when naturally done.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02920" y="621792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token ≈ ¾ of a word in English. Cost is billed per token, so this also caps cost.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SETTINGS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 — keep the k likeliest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11155680" cy="566928"/>
          </a:xfrm>
          <a:prstGeom prst="roundRect">
            <a:avLst>
              <a:gd name="adj" fmla="val 16129"/>
            </a:avLst>
          </a:prstGeom>
          <a:solidFill>
            <a:srgbClr val="13243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48132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 PLAIN WORDS 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 is a shortlist of fixed size — only the k best words are allowed in the running.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194560"/>
            <a:ext cx="11155680" cy="841248"/>
          </a:xfrm>
          <a:prstGeom prst="roundRect">
            <a:avLst>
              <a:gd name="adj" fmla="val 10870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304288"/>
            <a:ext cx="2331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b="1" spc="100" kern="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
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– vocab size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77240" y="277977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or unset = disabled (no limit)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91840" y="2340864"/>
            <a:ext cx="0" cy="548640"/>
          </a:xfrm>
          <a:prstGeom prst="line">
            <a:avLst/>
          </a:prstGeom>
          <a:noFill/>
          <a:ln w="12700">
            <a:solidFill>
              <a:srgbClr val="2432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0" y="2313432"/>
            <a:ext cx="243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· 1–10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66160" y="2596896"/>
            <a:ext cx="2392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focused, safe. k=1 = always the top token.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187440" y="2313432"/>
            <a:ext cx="243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 · 20–50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187440" y="2596896"/>
            <a:ext cx="2392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default range.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808720" y="2313432"/>
            <a:ext cx="243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· 100+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08720" y="2596896"/>
            <a:ext cx="2392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Loose; little filtering effect.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3291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 = 3   →   only “mat”, “rug”, “floor” survive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1554480" y="3872484"/>
            <a:ext cx="1188720" cy="1522476"/>
          </a:xfrm>
          <a:prstGeom prst="roundRect">
            <a:avLst>
              <a:gd name="adj" fmla="val 2308"/>
            </a:avLst>
          </a:prstGeom>
          <a:solidFill>
            <a:srgbClr val="38BDF8"/>
          </a:solidFill>
          <a:ln/>
        </p:spPr>
      </p:sp>
      <p:sp>
        <p:nvSpPr>
          <p:cNvPr id="21" name="Text 19"/>
          <p:cNvSpPr/>
          <p:nvPr/>
        </p:nvSpPr>
        <p:spPr>
          <a:xfrm>
            <a:off x="1463040" y="35798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.45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417320" y="54681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00400" y="4718304"/>
            <a:ext cx="1188720" cy="676656"/>
          </a:xfrm>
          <a:prstGeom prst="roundRect">
            <a:avLst>
              <a:gd name="adj" fmla="val 4054"/>
            </a:avLst>
          </a:prstGeom>
          <a:solidFill>
            <a:srgbClr val="34D399"/>
          </a:solidFill>
          <a:ln/>
        </p:spPr>
      </p:sp>
      <p:sp>
        <p:nvSpPr>
          <p:cNvPr id="24" name="Text 22"/>
          <p:cNvSpPr/>
          <p:nvPr/>
        </p:nvSpPr>
        <p:spPr>
          <a:xfrm>
            <a:off x="3108960" y="44256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.20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063240" y="54681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rug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46320" y="4887468"/>
            <a:ext cx="1188720" cy="507492"/>
          </a:xfrm>
          <a:prstGeom prst="roundRect">
            <a:avLst>
              <a:gd name="adj" fmla="val 5405"/>
            </a:avLst>
          </a:prstGeom>
          <a:solidFill>
            <a:srgbClr val="FBBF24"/>
          </a:solidFill>
          <a:ln/>
        </p:spPr>
      </p:sp>
      <p:sp>
        <p:nvSpPr>
          <p:cNvPr id="27" name="Text 25"/>
          <p:cNvSpPr/>
          <p:nvPr/>
        </p:nvSpPr>
        <p:spPr>
          <a:xfrm>
            <a:off x="4754880" y="45948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.15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709160" y="54681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492240" y="5056632"/>
            <a:ext cx="1188720" cy="338328"/>
          </a:xfrm>
          <a:prstGeom prst="roundRect">
            <a:avLst>
              <a:gd name="adj" fmla="val 8108"/>
            </a:avLst>
          </a:prstGeom>
          <a:solidFill>
            <a:srgbClr val="243250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47640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150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.10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355080" y="54681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15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sofa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138160" y="5191963"/>
            <a:ext cx="1188720" cy="202997"/>
          </a:xfrm>
          <a:prstGeom prst="roundRect">
            <a:avLst>
              <a:gd name="adj" fmla="val 13514"/>
            </a:avLst>
          </a:prstGeom>
          <a:solidFill>
            <a:srgbClr val="243250"/>
          </a:solidFill>
          <a:ln/>
        </p:spPr>
      </p:sp>
      <p:sp>
        <p:nvSpPr>
          <p:cNvPr id="33" name="Text 31"/>
          <p:cNvSpPr/>
          <p:nvPr/>
        </p:nvSpPr>
        <p:spPr>
          <a:xfrm>
            <a:off x="8046720" y="4899355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150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.06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001000" y="54681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15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784080" y="5259629"/>
            <a:ext cx="1188720" cy="135331"/>
          </a:xfrm>
          <a:prstGeom prst="roundRect">
            <a:avLst>
              <a:gd name="adj" fmla="val 20270"/>
            </a:avLst>
          </a:prstGeom>
          <a:solidFill>
            <a:srgbClr val="243250"/>
          </a:solidFill>
          <a:ln/>
        </p:spPr>
      </p:sp>
      <p:sp>
        <p:nvSpPr>
          <p:cNvPr id="36" name="Text 34"/>
          <p:cNvSpPr/>
          <p:nvPr/>
        </p:nvSpPr>
        <p:spPr>
          <a:xfrm>
            <a:off x="9692640" y="4967021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150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.04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9646920" y="54681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15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417320" y="5394960"/>
            <a:ext cx="9692640" cy="0"/>
          </a:xfrm>
          <a:prstGeom prst="line">
            <a:avLst/>
          </a:prstGeom>
          <a:noFill/>
          <a:ln w="19050">
            <a:solidFill>
              <a:srgbClr val="2B3A5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280160" y="57607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kept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400800" y="5760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4150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discarded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989320" y="3703320"/>
            <a:ext cx="0" cy="1691640"/>
          </a:xfrm>
          <a:prstGeom prst="line">
            <a:avLst/>
          </a:prstGeom>
          <a:noFill/>
          <a:ln w="19050">
            <a:solidFill>
              <a:srgbClr val="F472B6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502920" y="61264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Weakness: k is fixed. If the model is very confident, k=3 still drags in unlikely words; if it's unsure, k=3 may cut good ones.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SETTINGS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Top-p — keep the smallest set that adds up to p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11155680" cy="566928"/>
          </a:xfrm>
          <a:prstGeom prst="roundRect">
            <a:avLst>
              <a:gd name="adj" fmla="val 16129"/>
            </a:avLst>
          </a:prstGeom>
          <a:solidFill>
            <a:srgbClr val="13243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48132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 PLAIN WORDS 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Top-p is a smart shortlist that grows or shrinks based on how sure the model is.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194560"/>
            <a:ext cx="11155680" cy="841248"/>
          </a:xfrm>
          <a:prstGeom prst="roundRect">
            <a:avLst>
              <a:gd name="adj" fmla="val 10870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304288"/>
            <a:ext cx="2331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b="1" spc="100" kern="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
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 – 1.0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77240" y="277977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 = consider all tokens (off)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91840" y="2340864"/>
            <a:ext cx="0" cy="548640"/>
          </a:xfrm>
          <a:prstGeom prst="line">
            <a:avLst/>
          </a:prstGeom>
          <a:noFill/>
          <a:ln w="12700">
            <a:solidFill>
              <a:srgbClr val="2432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0" y="2313432"/>
            <a:ext cx="243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· 0.1–0.5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66160" y="2596896"/>
            <a:ext cx="2392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Tight, safe. Only the very top tokens.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187440" y="2313432"/>
            <a:ext cx="243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 · 0.8–0.95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187440" y="2596896"/>
            <a:ext cx="2392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default. Good balance.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808720" y="2313432"/>
            <a:ext cx="243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· ~1.0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08720" y="2596896"/>
            <a:ext cx="2392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everything in play; most diverse.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3291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top-p = 0.80   →   add mat(.45) + rug(.20) + floor(.15) = .80  ✓  stop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1554480" y="3867912"/>
            <a:ext cx="1188720" cy="1481328"/>
          </a:xfrm>
          <a:prstGeom prst="roundRect">
            <a:avLst>
              <a:gd name="adj" fmla="val 2308"/>
            </a:avLst>
          </a:prstGeom>
          <a:solidFill>
            <a:srgbClr val="38BDF8"/>
          </a:solidFill>
          <a:ln/>
        </p:spPr>
      </p:sp>
      <p:sp>
        <p:nvSpPr>
          <p:cNvPr id="21" name="Text 19"/>
          <p:cNvSpPr/>
          <p:nvPr/>
        </p:nvSpPr>
        <p:spPr>
          <a:xfrm>
            <a:off x="1463040" y="35753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.45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417320" y="54223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00400" y="4690872"/>
            <a:ext cx="1188720" cy="658368"/>
          </a:xfrm>
          <a:prstGeom prst="roundRect">
            <a:avLst>
              <a:gd name="adj" fmla="val 4167"/>
            </a:avLst>
          </a:prstGeom>
          <a:solidFill>
            <a:srgbClr val="34D399"/>
          </a:solidFill>
          <a:ln/>
        </p:spPr>
      </p:sp>
      <p:sp>
        <p:nvSpPr>
          <p:cNvPr id="24" name="Text 22"/>
          <p:cNvSpPr/>
          <p:nvPr/>
        </p:nvSpPr>
        <p:spPr>
          <a:xfrm>
            <a:off x="3108960" y="43982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.20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063240" y="54223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rug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46320" y="4855464"/>
            <a:ext cx="1188720" cy="493776"/>
          </a:xfrm>
          <a:prstGeom prst="roundRect">
            <a:avLst>
              <a:gd name="adj" fmla="val 5556"/>
            </a:avLst>
          </a:prstGeom>
          <a:solidFill>
            <a:srgbClr val="FBBF24"/>
          </a:solidFill>
          <a:ln/>
        </p:spPr>
      </p:sp>
      <p:sp>
        <p:nvSpPr>
          <p:cNvPr id="27" name="Text 25"/>
          <p:cNvSpPr/>
          <p:nvPr/>
        </p:nvSpPr>
        <p:spPr>
          <a:xfrm>
            <a:off x="4754880" y="45628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5E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.15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709160" y="54223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492240" y="5020056"/>
            <a:ext cx="1188720" cy="329184"/>
          </a:xfrm>
          <a:prstGeom prst="roundRect">
            <a:avLst>
              <a:gd name="adj" fmla="val 8333"/>
            </a:avLst>
          </a:prstGeom>
          <a:solidFill>
            <a:srgbClr val="243250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47274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150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.10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355080" y="54223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15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sofa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138160" y="5151730"/>
            <a:ext cx="1188720" cy="197510"/>
          </a:xfrm>
          <a:prstGeom prst="roundRect">
            <a:avLst>
              <a:gd name="adj" fmla="val 13889"/>
            </a:avLst>
          </a:prstGeom>
          <a:solidFill>
            <a:srgbClr val="243250"/>
          </a:solidFill>
          <a:ln/>
        </p:spPr>
      </p:sp>
      <p:sp>
        <p:nvSpPr>
          <p:cNvPr id="33" name="Text 31"/>
          <p:cNvSpPr/>
          <p:nvPr/>
        </p:nvSpPr>
        <p:spPr>
          <a:xfrm>
            <a:off x="8046720" y="485912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150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.06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001000" y="54223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15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784080" y="5217566"/>
            <a:ext cx="1188720" cy="131674"/>
          </a:xfrm>
          <a:prstGeom prst="roundRect">
            <a:avLst>
              <a:gd name="adj" fmla="val 20833"/>
            </a:avLst>
          </a:prstGeom>
          <a:solidFill>
            <a:srgbClr val="243250"/>
          </a:solidFill>
          <a:ln/>
        </p:spPr>
      </p:sp>
      <p:sp>
        <p:nvSpPr>
          <p:cNvPr id="36" name="Text 34"/>
          <p:cNvSpPr/>
          <p:nvPr/>
        </p:nvSpPr>
        <p:spPr>
          <a:xfrm>
            <a:off x="9692640" y="492495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150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.04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9646920" y="54223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15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417320" y="5349240"/>
            <a:ext cx="9692640" cy="0"/>
          </a:xfrm>
          <a:prstGeom prst="line">
            <a:avLst/>
          </a:prstGeom>
          <a:noFill/>
          <a:ln w="19050">
            <a:solidFill>
              <a:srgbClr val="2B3A5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463040" y="5715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 .45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3108960" y="5715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 .65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754880" y="5715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 .80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989320" y="3703320"/>
            <a:ext cx="0" cy="1645920"/>
          </a:xfrm>
          <a:prstGeom prst="line">
            <a:avLst/>
          </a:prstGeom>
          <a:noFill/>
          <a:ln w="19050">
            <a:solidFill>
              <a:srgbClr val="F472B6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502920" y="60807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it's better than top-k: confident step → keeps few tokens; uncertain step → keeps more. It adapts.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457200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46920" y="457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" y="1691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5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ENGINEERING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86384" y="21945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vs. User Prompt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kinds of instructions go into every LLM call — one you set once, one the user types each time.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420624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188720" y="4434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4937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by the developer · once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09360" y="420624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675120" y="4434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PROMPT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675120" y="4937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by the user · every time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ENGINEERING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prompts, two jobs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5440680" cy="4160520"/>
          </a:xfrm>
          <a:prstGeom prst="roundRect">
            <a:avLst>
              <a:gd name="adj" fmla="val 2637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21031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68680" y="27889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920240" y="2752344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by the developer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68680" y="35021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20240" y="3465576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once, behind the scenes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68680" y="421538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920240" y="417880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who the AI is and how it should behave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4983480"/>
            <a:ext cx="4709160" cy="914400"/>
          </a:xfrm>
          <a:prstGeom prst="roundRect">
            <a:avLst>
              <a:gd name="adj" fmla="val 8000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507492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are a helpful medical assistant. Be concise, never diagnose, always suggest seeing a doctor.”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63640" y="1874520"/>
            <a:ext cx="5440680" cy="4160520"/>
          </a:xfrm>
          <a:prstGeom prst="roundRect">
            <a:avLst>
              <a:gd name="adj" fmla="val 2637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629400" y="21031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Prompt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629400" y="27889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680960" y="2752344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by the end user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29400" y="35021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680960" y="3465576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 fresh with every message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629400" y="421538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680960" y="417880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question or request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629400" y="4983480"/>
            <a:ext cx="4709160" cy="914400"/>
          </a:xfrm>
          <a:prstGeom prst="roundRect">
            <a:avLst>
              <a:gd name="adj" fmla="val 8000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12280" y="507492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have a headache and a slight fever. What could it be?”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ENGINEERING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they reach the LLM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user sends a message, the system prompt is silently prepended. The LLM receives both as one combined input.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33172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2514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PROMPT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852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once by developer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31546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are a helpful tutor…”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4297680" y="233172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297680" y="2514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PROMPT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297680" y="2852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each message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434840" y="31546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“Explain recursion.”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3400" dirty="0"/>
          </a:p>
        </p:txBody>
      </p:sp>
      <p:sp>
        <p:nvSpPr>
          <p:cNvPr id="18" name="Shape 16"/>
          <p:cNvSpPr/>
          <p:nvPr/>
        </p:nvSpPr>
        <p:spPr>
          <a:xfrm>
            <a:off x="7955280" y="233172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13243F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955280" y="25146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INPUT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955280" y="28803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system </a:t>
            </a:r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+ </a:t>
            </a:r>
            <a:pPr algn="ctr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955280" y="32461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 as one payload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89720" y="3703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3000" dirty="0"/>
          </a:p>
        </p:txBody>
      </p:sp>
      <p:sp>
        <p:nvSpPr>
          <p:cNvPr id="23" name="Shape 21"/>
          <p:cNvSpPr/>
          <p:nvPr/>
        </p:nvSpPr>
        <p:spPr>
          <a:xfrm>
            <a:off x="7955280" y="4297680"/>
            <a:ext cx="3566160" cy="914400"/>
          </a:xfrm>
          <a:prstGeom prst="roundRect">
            <a:avLst>
              <a:gd name="adj" fmla="val 12000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955280" y="44805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955280" y="48646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both as a single context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4297680"/>
            <a:ext cx="6675120" cy="1417320"/>
          </a:xfrm>
          <a:prstGeom prst="roundRect">
            <a:avLst>
              <a:gd name="adj" fmla="val 6452"/>
            </a:avLst>
          </a:prstGeom>
          <a:solidFill>
            <a:srgbClr val="0F182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448056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IDEA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14400" y="4773168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system prompt is re-sent with </a:t>
            </a:r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single message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— because the LLM is stateless and remembers nothing. It's not stored on the model; it's resent each time, invisibly, in front of the user's text.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457200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46920" y="457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" y="1783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5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ENGINEERING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86384" y="22860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a great system prompt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33375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Components, proven techniques, length tradeoffs, and hard-won tips from real projects.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4297680"/>
            <a:ext cx="2468880" cy="640080"/>
          </a:xfrm>
          <a:prstGeom prst="roundRect">
            <a:avLst>
              <a:gd name="adj" fmla="val 50000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297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520440" y="4297680"/>
            <a:ext cx="2468880" cy="640080"/>
          </a:xfrm>
          <a:prstGeom prst="roundRect">
            <a:avLst>
              <a:gd name="adj" fmla="val 50000"/>
            </a:avLst>
          </a:prstGeom>
          <a:solidFill>
            <a:srgbClr val="121C3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20440" y="4297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0" y="4297680"/>
            <a:ext cx="2468880" cy="640080"/>
          </a:xfrm>
          <a:prstGeom prst="roundRect">
            <a:avLst>
              <a:gd name="adj" fmla="val 50000"/>
            </a:avLst>
          </a:prstGeom>
          <a:solidFill>
            <a:srgbClr val="121C3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4297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balance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915400" y="4297680"/>
            <a:ext cx="2468880" cy="640080"/>
          </a:xfrm>
          <a:prstGeom prst="roundRect">
            <a:avLst>
              <a:gd name="adj" fmla="val 50000"/>
            </a:avLst>
          </a:prstGeom>
          <a:solidFill>
            <a:srgbClr val="121C30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15400" y="4297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tips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ENGINEERING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 a system prompt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system prompt is built from a few standard ingredients: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5394960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423160"/>
            <a:ext cx="548640" cy="54864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24140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08760" y="2798064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 AI is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3200400"/>
            <a:ext cx="4754880" cy="502920"/>
          </a:xfrm>
          <a:prstGeom prst="roundRect">
            <a:avLst>
              <a:gd name="adj" fmla="val 10909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320040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are a senior Python tutor.”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63640" y="2103120"/>
            <a:ext cx="5394960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83680" y="2423160"/>
            <a:ext cx="548640" cy="54864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269480" y="24140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&amp; tone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269480" y="2798064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should sound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0" y="3200400"/>
            <a:ext cx="4754880" cy="502920"/>
          </a:xfrm>
          <a:prstGeom prst="roundRect">
            <a:avLst>
              <a:gd name="adj" fmla="val 10909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20840" y="320040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“Be encouraging, patient, and concise.”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02920" y="4206240"/>
            <a:ext cx="5394960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22960" y="4526280"/>
            <a:ext cx="548640" cy="54864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526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508760" y="45171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508760" y="4901184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do, step by step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22960" y="5303520"/>
            <a:ext cx="4754880" cy="502920"/>
          </a:xfrm>
          <a:prstGeom prst="roundRect">
            <a:avLst>
              <a:gd name="adj" fmla="val 10909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0120" y="530352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“Explain with an example, then a quiz.”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63640" y="4206240"/>
            <a:ext cx="5394960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5875">
            <a:solidFill>
              <a:srgbClr val="FBBF2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583680" y="4526280"/>
            <a:ext cx="548640" cy="54864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0" y="4526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269480" y="45171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&amp; limits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7269480" y="4901184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must NOT do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583680" y="5303520"/>
            <a:ext cx="4754880" cy="502920"/>
          </a:xfrm>
          <a:prstGeom prst="roundRect">
            <a:avLst>
              <a:gd name="adj" fmla="val 10909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20840" y="530352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“Never write the student's homework for them.”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ENGINEERING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Famous techniques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techniques you'll reach for again and again — we'll take each one in turn: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3520440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395728"/>
            <a:ext cx="566928" cy="566928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957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527048" y="245059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22960" y="315468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ask — no examples.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315968" y="2103120"/>
            <a:ext cx="3520440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36008" y="2395728"/>
            <a:ext cx="566928" cy="566928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36008" y="23957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5340096" y="245059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636008" y="315468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 few examples first.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29016" y="2103120"/>
            <a:ext cx="3520440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5875">
            <a:solidFill>
              <a:srgbClr val="FBBF2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49056" y="2395728"/>
            <a:ext cx="566928" cy="566928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49056" y="23957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9153144" y="245059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Chain-of-thought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449056" y="315468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step by step.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414016" y="4206240"/>
            <a:ext cx="3520440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734056" y="4498848"/>
            <a:ext cx="566928" cy="566928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34056" y="44988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3438144" y="455371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of Thoughts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2734056" y="525780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multiple paths, pick best.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27064" y="4206240"/>
            <a:ext cx="3520440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547104" y="4498848"/>
            <a:ext cx="566928" cy="566928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47104" y="44988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7251192" y="455371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prompting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6547104" y="525780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an expert persona.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TECHNIQUE 1 /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prompting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11155680" cy="566928"/>
          </a:xfrm>
          <a:prstGeom prst="roundRect">
            <a:avLst>
              <a:gd name="adj" fmla="val 16129"/>
            </a:avLst>
          </a:prstGeom>
          <a:solidFill>
            <a:srgbClr val="13243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48132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 SHORT 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model to do a task with no examples at all.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286000"/>
            <a:ext cx="4572000" cy="3959352"/>
          </a:xfrm>
          <a:prstGeom prst="roundRect">
            <a:avLst>
              <a:gd name="adj" fmla="val 2771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24871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4023360" cy="2679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give only the instruction and the input.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relies entirely on what it already learned in training.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and shortest — but can be less reliable on tricky or niche tasks.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77240" y="5513832"/>
            <a:ext cx="4023360" cy="594360"/>
          </a:xfrm>
          <a:prstGeom prst="roundRect">
            <a:avLst>
              <a:gd name="adj" fmla="val 9231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51383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When to use:  </a:t>
            </a:r>
            <a:pPr indent="0" marL="0">
              <a:buNone/>
            </a:pPr>
            <a:r>
              <a:rPr lang="en-US" sz="11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common tasks the model clearly knows.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03520" y="2286000"/>
            <a:ext cx="6355080" cy="3959352"/>
          </a:xfrm>
          <a:prstGeom prst="roundRect">
            <a:avLst>
              <a:gd name="adj" fmla="val 2771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577840" y="248716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577840" y="28529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577840" y="3108960"/>
            <a:ext cx="5806440" cy="1691640"/>
          </a:xfrm>
          <a:prstGeom prst="roundRect">
            <a:avLst>
              <a:gd name="adj" fmla="val 3243"/>
            </a:avLst>
          </a:prstGeom>
          <a:solidFill>
            <a:srgbClr val="0B1220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0" y="3108960"/>
            <a:ext cx="54406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Classify the sentiment of this review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Positive or Negative: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"The food was cold and the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 was slow."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577840" y="5029200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OUTPUT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577840" y="5285232"/>
            <a:ext cx="5806440" cy="777240"/>
          </a:xfrm>
          <a:prstGeom prst="roundRect">
            <a:avLst>
              <a:gd name="adj" fmla="val 7059"/>
            </a:avLst>
          </a:prstGeom>
          <a:solidFill>
            <a:srgbClr val="0B1220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0720" y="5285232"/>
            <a:ext cx="5440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Negative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TECHNIQUE 2 /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prompting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11155680" cy="566928"/>
          </a:xfrm>
          <a:prstGeom prst="roundRect">
            <a:avLst>
              <a:gd name="adj" fmla="val 16129"/>
            </a:avLst>
          </a:prstGeom>
          <a:solidFill>
            <a:srgbClr val="13243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48132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 SHORT 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 handful of examples first, then give the real task.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286000"/>
            <a:ext cx="4572000" cy="4370832"/>
          </a:xfrm>
          <a:prstGeom prst="roundRect">
            <a:avLst>
              <a:gd name="adj" fmla="val 2510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24871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402336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demonstrate the pattern with 2–5 examples.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copies the format and logic of your examples.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for enforcing a specific output style or a tricky mapping.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77240" y="5925312"/>
            <a:ext cx="4023360" cy="594360"/>
          </a:xfrm>
          <a:prstGeom prst="roundRect">
            <a:avLst>
              <a:gd name="adj" fmla="val 9231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92531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When to use:  </a:t>
            </a:r>
            <a:pPr indent="0" marL="0">
              <a:buNone/>
            </a:pPr>
            <a:r>
              <a:rPr lang="en-US" sz="11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need a specific format or style.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03520" y="2286000"/>
            <a:ext cx="6355080" cy="4370832"/>
          </a:xfrm>
          <a:prstGeom prst="roundRect">
            <a:avLst>
              <a:gd name="adj" fmla="val 2510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577840" y="248716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577840" y="28529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577840" y="3108960"/>
            <a:ext cx="5806440" cy="1965960"/>
          </a:xfrm>
          <a:prstGeom prst="roundRect">
            <a:avLst>
              <a:gd name="adj" fmla="val 2791"/>
            </a:avLst>
          </a:prstGeom>
          <a:solidFill>
            <a:srgbClr val="0B1220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0" y="3108960"/>
            <a:ext cx="54406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Generate a workout plan using this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structure: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Goal: Strength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Warm-up: 5 min rowing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Main: Squats, deadlifts, bench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Cool-down: Hamstring stretch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Goal: Fat loss →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577840" y="5303520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OUTPUT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577840" y="5559552"/>
            <a:ext cx="5806440" cy="91440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0720" y="5559552"/>
            <a:ext cx="5440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Warm-up: 5 min jump rope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Main: HIIT circuit, burpees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Cool-down: Light walk + stretch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TECHNIQUE 3 /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Chain-of-thought (CoT)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11155680" cy="566928"/>
          </a:xfrm>
          <a:prstGeom prst="roundRect">
            <a:avLst>
              <a:gd name="adj" fmla="val 16129"/>
            </a:avLst>
          </a:prstGeom>
          <a:solidFill>
            <a:srgbClr val="13243F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48132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 SHORT 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model to reason step by step before answering.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286000"/>
            <a:ext cx="4572000" cy="4096512"/>
          </a:xfrm>
          <a:prstGeom prst="roundRect">
            <a:avLst>
              <a:gd name="adj" fmla="val 2679"/>
            </a:avLst>
          </a:prstGeom>
          <a:solidFill>
            <a:srgbClr val="121C30"/>
          </a:solidFill>
          <a:ln w="15875">
            <a:solidFill>
              <a:srgbClr val="FBBF2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24871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402336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add a cue like "think step by step."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writes out its reasoning, then the final answer.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Dramatically improves math, logic, and multi-step problems.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77240" y="5650992"/>
            <a:ext cx="4023360" cy="594360"/>
          </a:xfrm>
          <a:prstGeom prst="roundRect">
            <a:avLst>
              <a:gd name="adj" fmla="val 9231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65099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When to use:  </a:t>
            </a:r>
            <a:pPr indent="0" marL="0">
              <a:buNone/>
            </a:pPr>
            <a:r>
              <a:rPr lang="en-US" sz="11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Math, logic, multi-step reasoning.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03520" y="2286000"/>
            <a:ext cx="6355080" cy="4096512"/>
          </a:xfrm>
          <a:prstGeom prst="roundRect">
            <a:avLst>
              <a:gd name="adj" fmla="val 2679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577840" y="248716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577840" y="28529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577840" y="3108960"/>
            <a:ext cx="5806440" cy="1417320"/>
          </a:xfrm>
          <a:prstGeom prst="roundRect">
            <a:avLst>
              <a:gd name="adj" fmla="val 3871"/>
            </a:avLst>
          </a:prstGeom>
          <a:solidFill>
            <a:srgbClr val="0B1220"/>
          </a:solidFill>
          <a:ln w="9525">
            <a:solidFill>
              <a:srgbClr val="FBBF2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0" y="3108960"/>
            <a:ext cx="5440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Q: A shop has 3 boxes of 12 apples.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 sells 20. How many remain?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Let's think step by step.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577840" y="4754880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OUTPUT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577840" y="5010912"/>
            <a:ext cx="5806440" cy="1188720"/>
          </a:xfrm>
          <a:prstGeom prst="roundRect">
            <a:avLst>
              <a:gd name="adj" fmla="val 4615"/>
            </a:avLst>
          </a:prstGeom>
          <a:solidFill>
            <a:srgbClr val="0B1220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0720" y="5010912"/>
            <a:ext cx="5440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× 12 = 36 apples total.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36 − 20 = 16 sold... wait, remaining.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Answer: 16 apples.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TECHNIQUE 4 /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of Thoughts (ToT)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11155680" cy="566928"/>
          </a:xfrm>
          <a:prstGeom prst="roundRect">
            <a:avLst>
              <a:gd name="adj" fmla="val 16129"/>
            </a:avLst>
          </a:prstGeom>
          <a:solidFill>
            <a:srgbClr val="13243F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48132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 SHORT 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explores several reasoning paths, then picks the best.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286000"/>
            <a:ext cx="4572000" cy="4096512"/>
          </a:xfrm>
          <a:prstGeom prst="roundRect">
            <a:avLst>
              <a:gd name="adj" fmla="val 2679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24871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402336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one chain, it branches into multiple candidate ideas.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branch is explored and evaluated against the goal.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branches are pruned; the strongest path wins.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compute, but better for hard, open-ended problems.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77240" y="5650992"/>
            <a:ext cx="4023360" cy="594360"/>
          </a:xfrm>
          <a:prstGeom prst="roundRect">
            <a:avLst>
              <a:gd name="adj" fmla="val 9231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65099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When to use:  </a:t>
            </a:r>
            <a:pPr indent="0" marL="0">
              <a:buNone/>
            </a:pPr>
            <a:r>
              <a:rPr lang="en-US" sz="11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problems with many possible approaches.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03520" y="2286000"/>
            <a:ext cx="6355080" cy="4096512"/>
          </a:xfrm>
          <a:prstGeom prst="roundRect">
            <a:avLst>
              <a:gd name="adj" fmla="val 2679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577840" y="248716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577840" y="28529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577840" y="3108960"/>
            <a:ext cx="5806440" cy="1417320"/>
          </a:xfrm>
          <a:prstGeom prst="roundRect">
            <a:avLst>
              <a:gd name="adj" fmla="val 3871"/>
            </a:avLst>
          </a:prstGeom>
          <a:solidFill>
            <a:srgbClr val="0B1220"/>
          </a:solidFill>
          <a:ln w="9525">
            <a:solidFill>
              <a:srgbClr val="F472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0" y="3108960"/>
            <a:ext cx="5440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 a 3-day trip. Propose 3 different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itineraries, evaluate each, then pick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best one and explain why.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577840" y="4754880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OUTPUT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577840" y="5010912"/>
            <a:ext cx="5806440" cy="1188720"/>
          </a:xfrm>
          <a:prstGeom prst="roundRect">
            <a:avLst>
              <a:gd name="adj" fmla="val 4615"/>
            </a:avLst>
          </a:prstGeom>
          <a:solidFill>
            <a:srgbClr val="0B1220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0720" y="5010912"/>
            <a:ext cx="5440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A: beaches · Path B: culture ·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C: mix. Evaluating... Path C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balances cost &amp; variety. → Choose C.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TECHNIQUE 5 /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prompting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11155680" cy="566928"/>
          </a:xfrm>
          <a:prstGeom prst="roundRect">
            <a:avLst>
              <a:gd name="adj" fmla="val 16129"/>
            </a:avLst>
          </a:prstGeom>
          <a:solidFill>
            <a:srgbClr val="13243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48132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 SHORT 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the model a detailed expert persona to shape its answers.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286000"/>
            <a:ext cx="4572000" cy="4416552"/>
          </a:xfrm>
          <a:prstGeom prst="roundRect">
            <a:avLst>
              <a:gd name="adj" fmla="val 2484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24871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4023360" cy="3136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richer the role, the more specialized the output.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 out niche specialization, experience, and how the expert works.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adopts the vocabulary, depth, and method of that role.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combined with the other techniques above.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77240" y="5971032"/>
            <a:ext cx="4023360" cy="594360"/>
          </a:xfrm>
          <a:prstGeom prst="roundRect">
            <a:avLst>
              <a:gd name="adj" fmla="val 9231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97103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When to use:  </a:t>
            </a:r>
            <a:pPr indent="0" marL="0">
              <a:buNone/>
            </a:pPr>
            <a:r>
              <a:rPr lang="en-US" sz="11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expertise, tone, or domain framing matters.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03520" y="2286000"/>
            <a:ext cx="6355080" cy="4416552"/>
          </a:xfrm>
          <a:prstGeom prst="roundRect">
            <a:avLst>
              <a:gd name="adj" fmla="val 2484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577840" y="248716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577840" y="28529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577840" y="3108960"/>
            <a:ext cx="5806440" cy="2194560"/>
          </a:xfrm>
          <a:prstGeom prst="roundRect">
            <a:avLst>
              <a:gd name="adj" fmla="val 2500"/>
            </a:avLst>
          </a:prstGeom>
          <a:solidFill>
            <a:srgbClr val="0B1220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0" y="3108960"/>
            <a:ext cx="5440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are a board-certified sports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physiotherapist, 15 years treating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marathon runners. You specialize in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overuse knee injuries. You always: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Ask about pain location &amp; history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Reason from biomechanics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Give a staged rehab plan, never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a one-size-fits-all answer.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Runner: outer-knee pain at mile 8.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577840" y="5532120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OUTPUT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577840" y="5788152"/>
            <a:ext cx="5806440" cy="731520"/>
          </a:xfrm>
          <a:prstGeom prst="roundRect">
            <a:avLst>
              <a:gd name="adj" fmla="val 7500"/>
            </a:avLst>
          </a:prstGeom>
          <a:solidFill>
            <a:srgbClr val="0B1220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0720" y="5788152"/>
            <a:ext cx="5440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Likely IT band friction—where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exactly? Stage 1: deload + foam roll...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ENGINEERING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should it be?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Remember: the system prompt is re-sent with </a:t>
            </a:r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single message</a:t>
            </a:r>
            <a:pPr indent="0" marL="0">
              <a:buNone/>
            </a:pPr>
            <a:r>
              <a:rPr lang="en-US" sz="15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Length is a real tradeoff — it costs tokens and latency on every call.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2860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121C30"/>
          </a:solidFill>
          <a:ln w="12700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246888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77240" y="3154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SHORT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77240" y="36118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Vague, under-specified. The model guesses and behaves inconsistently.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279392" y="22860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121C30"/>
          </a:solidFill>
          <a:ln w="2222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53712" y="246888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553712" y="3154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553712" y="36118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Enough detail to be reliable, lean enough to stay cheap and fast. Aim here.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55864" y="22860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121C30"/>
          </a:solidFill>
          <a:ln w="12700">
            <a:solidFill>
              <a:srgbClr val="FBBF2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30184" y="246888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330184" y="3154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LONG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330184" y="36118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Bloated. Higher cost &amp; latency on every message, and the model may lose focus.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02920" y="4754880"/>
            <a:ext cx="11155680" cy="1051560"/>
          </a:xfrm>
          <a:prstGeom prst="roundRect">
            <a:avLst>
              <a:gd name="adj" fmla="val 8696"/>
            </a:avLst>
          </a:prstGeom>
          <a:solidFill>
            <a:srgbClr val="0F182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9194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 OF THUMB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77240" y="52120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everything the model needs to behave correctly — and nothing it doesn't. Every extra sentence is paid for on every message.</a:t>
            </a:r>
            <a:endParaRPr lang="en-US" sz="13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TIPS · FROM EXPERIENCE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good prompts (1/3)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896112"/>
          </a:xfrm>
          <a:prstGeom prst="roundRect">
            <a:avLst>
              <a:gd name="adj" fmla="val 10204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2048256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63040" y="1956816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iterative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394960" y="1956816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rarely nail it first try. Expect hit-and-trial before a prompt feels right.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2852928"/>
            <a:ext cx="11155680" cy="896112"/>
          </a:xfrm>
          <a:prstGeom prst="roundRect">
            <a:avLst>
              <a:gd name="adj" fmla="val 10204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3072384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072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63040" y="2980944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models, different prompts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394960" y="2980944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prompt tuned for one model often needs rework for another.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877056"/>
            <a:ext cx="11155680" cy="896112"/>
          </a:xfrm>
          <a:prstGeom prst="roundRect">
            <a:avLst>
              <a:gd name="adj" fmla="val 10204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4096512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463040" y="400507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your prompts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394960" y="4005072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your prompt versions — track what changed and why, like code.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2920" y="4901184"/>
            <a:ext cx="11155680" cy="896112"/>
          </a:xfrm>
          <a:prstGeom prst="roundRect">
            <a:avLst>
              <a:gd name="adj" fmla="val 10204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77240" y="5120640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463040" y="50292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repeat instructions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394960" y="502920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Saying the same thing twice adds noise and can confuse the model.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TIPS · FROM EXPERIENCE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good prompts (2/3)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896112"/>
          </a:xfrm>
          <a:prstGeom prst="roundRect">
            <a:avLst>
              <a:gd name="adj" fmla="val 10204"/>
            </a:avLst>
          </a:prstGeom>
          <a:solidFill>
            <a:srgbClr val="121C3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2048256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63040" y="1956816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Organize, don't scatter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577840" y="1956816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related instructions. Don't drop them in randomly.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2852928"/>
            <a:ext cx="11155680" cy="896112"/>
          </a:xfrm>
          <a:prstGeom prst="roundRect">
            <a:avLst>
              <a:gd name="adj" fmla="val 10204"/>
            </a:avLst>
          </a:prstGeom>
          <a:solidFill>
            <a:srgbClr val="121C3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3072384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072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63040" y="2980944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lists or XML tags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577840" y="2980944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sections with bullet lists or &lt;tags&gt; — LLMs parse structure better.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877056"/>
            <a:ext cx="11155680" cy="896112"/>
          </a:xfrm>
          <a:prstGeom prst="roundRect">
            <a:avLst>
              <a:gd name="adj" fmla="val 10204"/>
            </a:avLst>
          </a:prstGeom>
          <a:solidFill>
            <a:srgbClr val="121C3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4096512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463040" y="4005072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CAPITALIZE for emphasis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577840" y="4005072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something really matters, write the key word in CAPITALS.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2920" y="4901184"/>
            <a:ext cx="11155680" cy="896112"/>
          </a:xfrm>
          <a:prstGeom prst="roundRect">
            <a:avLst>
              <a:gd name="adj" fmla="val 10204"/>
            </a:avLst>
          </a:prstGeom>
          <a:solidFill>
            <a:srgbClr val="121C3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77240" y="5120640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463040" y="502920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stuff first &amp; last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577840" y="502920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long prompt, put the most critical points at the start AND the end.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TIPS · FROM EXPERIENCE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it positively (3/3)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LLMs follow </a:t>
            </a:r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instructions</a:t>
            </a:r>
            <a:pPr indent="0" marL="0">
              <a:buNone/>
            </a:pPr>
            <a:r>
              <a:rPr lang="en-US" sz="15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better than negative ones. Tell the model what TO do, not just what to avoid.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148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 INSTEAD OF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2148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 WRITE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2606040"/>
            <a:ext cx="4846320" cy="658368"/>
          </a:xfrm>
          <a:prstGeom prst="roundRect">
            <a:avLst>
              <a:gd name="adj" fmla="val 11111"/>
            </a:avLst>
          </a:prstGeom>
          <a:solidFill>
            <a:srgbClr val="121C30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606040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“Don't be harsh.”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715000" y="260604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400800" y="2606040"/>
            <a:ext cx="4937760" cy="658368"/>
          </a:xfrm>
          <a:prstGeom prst="roundRect">
            <a:avLst>
              <a:gd name="adj" fmla="val 11111"/>
            </a:avLst>
          </a:prstGeom>
          <a:solidFill>
            <a:srgbClr val="121C3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29400" y="2606040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“Be polite and supportive.”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" y="3447288"/>
            <a:ext cx="4846320" cy="658368"/>
          </a:xfrm>
          <a:prstGeom prst="roundRect">
            <a:avLst>
              <a:gd name="adj" fmla="val 11111"/>
            </a:avLst>
          </a:prstGeom>
          <a:solidFill>
            <a:srgbClr val="121C30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3447288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“Don't write long answers.”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715000" y="3447288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400800" y="3447288"/>
            <a:ext cx="4937760" cy="658368"/>
          </a:xfrm>
          <a:prstGeom prst="roundRect">
            <a:avLst>
              <a:gd name="adj" fmla="val 11111"/>
            </a:avLst>
          </a:prstGeom>
          <a:solidFill>
            <a:srgbClr val="121C3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29400" y="3447288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“Keep answers short and to the point.”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22960" y="4288536"/>
            <a:ext cx="4846320" cy="658368"/>
          </a:xfrm>
          <a:prstGeom prst="roundRect">
            <a:avLst>
              <a:gd name="adj" fmla="val 11111"/>
            </a:avLst>
          </a:prstGeom>
          <a:solidFill>
            <a:srgbClr val="121C30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51560" y="4288536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“Don't use jargon.”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15000" y="4288536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6400800" y="4288536"/>
            <a:ext cx="4937760" cy="658368"/>
          </a:xfrm>
          <a:prstGeom prst="roundRect">
            <a:avLst>
              <a:gd name="adj" fmla="val 11111"/>
            </a:avLst>
          </a:prstGeom>
          <a:solidFill>
            <a:srgbClr val="121C3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29400" y="4288536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“Use simple, everyday language.”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22960" y="5129784"/>
            <a:ext cx="4846320" cy="658368"/>
          </a:xfrm>
          <a:prstGeom prst="roundRect">
            <a:avLst>
              <a:gd name="adj" fmla="val 11111"/>
            </a:avLst>
          </a:prstGeom>
          <a:solidFill>
            <a:srgbClr val="121C30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51560" y="5129784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“Never ignore the context.”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715000" y="5129784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400800" y="5129784"/>
            <a:ext cx="4937760" cy="658368"/>
          </a:xfrm>
          <a:prstGeom prst="roundRect">
            <a:avLst>
              <a:gd name="adj" fmla="val 11111"/>
            </a:avLst>
          </a:prstGeom>
          <a:solidFill>
            <a:srgbClr val="121C3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29400" y="5129784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“Always ground your answer in the context.”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TIPS · FROM EXPERIENCE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hard-code secrets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554480"/>
          </a:xfrm>
          <a:prstGeom prst="roundRect">
            <a:avLst>
              <a:gd name="adj" fmla="val 7059"/>
            </a:avLst>
          </a:prstGeom>
          <a:solidFill>
            <a:srgbClr val="121C30"/>
          </a:solidFill>
          <a:ln w="19050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20574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 RULE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242316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pass sensitive information, data, or secret instructions directly in the system prompt.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502920" y="3657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it's dangerous: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4114800"/>
            <a:ext cx="6675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can leak — users can trick the model into revealing them (prompt injection).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keys, passwords &amp; secrets don't belong in text sent to a third-party model.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resent every message — more exposure, more logs, more risk.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589520" y="4069080"/>
            <a:ext cx="4069080" cy="1783080"/>
          </a:xfrm>
          <a:prstGeom prst="roundRect">
            <a:avLst>
              <a:gd name="adj" fmla="val 5128"/>
            </a:avLst>
          </a:prstGeom>
          <a:solidFill>
            <a:srgbClr val="0F1828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63840" y="42519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THIS INSTEAD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863840" y="45720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Keep secrets in environment variables or a secure vault. Give the agent a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that uses them — the model calls the tool without ever seeing the secret.</a:t>
            </a:r>
            <a:endParaRPr lang="en-US" sz="12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457200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46920" y="457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" y="1645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5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OUTPUT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86384" y="21488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LLMs return data, not prose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3108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don't read paragraphs — they need clean, predictable data. Structured output makes the model return JSON your code can trust.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4114800"/>
            <a:ext cx="5120640" cy="1554480"/>
          </a:xfrm>
          <a:prstGeom prst="roundRect">
            <a:avLst>
              <a:gd name="adj" fmla="val 7059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280" y="4297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 PROSE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46634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"Sure! The user's name is Ali and he's 28 years old."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0" y="4114800"/>
            <a:ext cx="5120640" cy="1554480"/>
          </a:xfrm>
          <a:prstGeom prst="roundRect">
            <a:avLst>
              <a:gd name="adj" fmla="val 7059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92240" y="4297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 STRUCTURED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92240" y="47091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"name": "Ali", "age": 28 }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OUTPUT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8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agents need it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60020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 chatbot can answer in prose — a human reads it. But an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feeds its output to code: another function, another model, an API. Code can't reliably read a sentence — it needs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predictable data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2788920"/>
            <a:ext cx="5440680" cy="3017520"/>
          </a:xfrm>
          <a:prstGeom prst="roundRect">
            <a:avLst>
              <a:gd name="adj" fmla="val 3636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29992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 PROSE  →  code can't parse it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77240" y="342900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"Sure! Ali is 28 and lives in Lahore. 😊"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4251960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user.age   →  undefined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user.city  →  undefined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JSON.parse() →  ✗ throws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2788920"/>
            <a:ext cx="5440680" cy="3017520"/>
          </a:xfrm>
          <a:prstGeom prst="roundRect">
            <a:avLst>
              <a:gd name="adj" fmla="val 3636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92240" y="29992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 STRUCTURED  →  code just works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92240" y="342900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"name": "Ali",</a:t>
            </a:r>
            <a:endParaRPr lang="en-US" sz="13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"age": 28,</a:t>
            </a:r>
            <a:endParaRPr lang="en-US" sz="13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"city": "Lahore" }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92240" y="4480560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user.age   →  28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user.city  →  "Lahore"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JSON.parse() →  ✓ clean object</a:t>
            </a:r>
            <a:endParaRPr lang="en-US" sz="13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8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get structure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do it — one you ask for, one that's enforced. The second is the part most people miss: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286000"/>
            <a:ext cx="11155680" cy="1554480"/>
          </a:xfrm>
          <a:prstGeom prst="roundRect">
            <a:avLst>
              <a:gd name="adj" fmla="val 7059"/>
            </a:avLst>
          </a:prstGeom>
          <a:solidFill>
            <a:srgbClr val="121C30"/>
          </a:solidFill>
          <a:ln w="12700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2743200"/>
            <a:ext cx="640080" cy="640080"/>
          </a:xfrm>
          <a:prstGeom prst="ellipse">
            <a:avLst/>
          </a:prstGeom>
          <a:solidFill>
            <a:srgbClr val="1B2740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783080" y="260604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prompting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1783080" y="31546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simply ask the model for JSON in the prompt.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321040" y="2788920"/>
            <a:ext cx="3108960" cy="548640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27889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· but no guarantee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4069080"/>
            <a:ext cx="11155680" cy="1554480"/>
          </a:xfrm>
          <a:prstGeom prst="roundRect">
            <a:avLst>
              <a:gd name="adj" fmla="val 7059"/>
            </a:avLst>
          </a:prstGeom>
          <a:solidFill>
            <a:srgbClr val="121C30"/>
          </a:solidFill>
          <a:ln w="2222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68680" y="4526280"/>
            <a:ext cx="640080" cy="640080"/>
          </a:xfrm>
          <a:prstGeom prst="ellipse">
            <a:avLst/>
          </a:prstGeom>
          <a:solidFill>
            <a:srgbClr val="1B2740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526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783080" y="438912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“magic” method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1783080" y="49377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Constrained decoding forces valid tokens at each step.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321040" y="4572000"/>
            <a:ext cx="3108960" cy="548640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21040" y="45720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· format enforced</a:t>
            </a:r>
            <a:endParaRPr lang="en-US" sz="12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1 /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8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prompting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11155680" cy="566928"/>
          </a:xfrm>
          <a:prstGeom prst="roundRect">
            <a:avLst>
              <a:gd name="adj" fmla="val 16129"/>
            </a:avLst>
          </a:prstGeom>
          <a:solidFill>
            <a:srgbClr val="13243F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48132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VERDICT 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most of the time — but nothing is guaranteed.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286000"/>
            <a:ext cx="5440680" cy="1828800"/>
          </a:xfrm>
          <a:prstGeom prst="roundRect">
            <a:avLst>
              <a:gd name="adj" fmla="val 5000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45059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WRITE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278892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"Respond ONLY in JSON with keys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name and age. No other text."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217920" y="2286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works: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17920" y="265176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relies on what it learned in training to follow format instructions. You're asking — and hoping.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02920" y="4434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CAN BREAK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4800600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chatty prose: "Sure! Here's your JSON…"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Wraps it in ```json markdown fences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Invents extra fields you didn't ask for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JSON syntax — a missing quote or comma</a:t>
            </a:r>
            <a:endParaRPr lang="en-US" sz="13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2 /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8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magic method — constrained decoding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Remember: an LLM never "writes text." At each step it outputs a </a:t>
            </a:r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over every token</a:t>
            </a:r>
            <a:pPr indent="0" marL="0">
              <a:buNone/>
            </a:pPr>
            <a:r>
              <a:rPr lang="en-US" sz="15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one is sampled. Structured-output systems intercept that step.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377440"/>
            <a:ext cx="3200400" cy="1371600"/>
          </a:xfrm>
          <a:prstGeom prst="roundRect">
            <a:avLst>
              <a:gd name="adj" fmla="val 8000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2697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Model's raw scores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logits over ALL tokens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80560" y="2377440"/>
            <a:ext cx="3200400" cy="1371600"/>
          </a:xfrm>
          <a:prstGeom prst="roundRect">
            <a:avLst>
              <a:gd name="adj" fmla="val 8000"/>
            </a:avLst>
          </a:prstGeom>
          <a:solidFill>
            <a:srgbClr val="1B274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63440" y="2697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mask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63440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→ legal tokens only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321040" y="2377440"/>
            <a:ext cx="3200400" cy="1371600"/>
          </a:xfrm>
          <a:prstGeom prst="roundRect">
            <a:avLst>
              <a:gd name="adj" fmla="val 8000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503920" y="2697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503920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from what's allowed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4048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768096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502920" y="4114800"/>
            <a:ext cx="11155680" cy="1691640"/>
          </a:xfrm>
          <a:prstGeom prst="roundRect">
            <a:avLst>
              <a:gd name="adj" fmla="val 5405"/>
            </a:avLst>
          </a:prstGeom>
          <a:solidFill>
            <a:srgbClr val="0F1828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KEY IDEA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77240" y="461772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system applies a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logit mask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: every token that would break the schema has its probability set to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(−∞ on the logits)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before sampling. So if the JSON grammar says "after { the only legal thing is a quoted key or }," the model is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physically incapable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of emitting anything else. The format isn't requested — it's ENFORCED.</a:t>
            </a:r>
            <a:endParaRPr lang="en-US" sz="1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2 /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8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logit mask, step by step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state:  we've just emitted  {  — the grammar now allows only a quoted key or a closing brace.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80160" y="3022600"/>
            <a:ext cx="1325880" cy="1869440"/>
          </a:xfrm>
          <a:prstGeom prst="roundRect">
            <a:avLst>
              <a:gd name="adj" fmla="val 2759"/>
            </a:avLst>
          </a:prstGeom>
          <a:solidFill>
            <a:srgbClr val="34D399"/>
          </a:solidFill>
          <a:ln/>
        </p:spPr>
      </p:sp>
      <p:sp>
        <p:nvSpPr>
          <p:cNvPr id="9" name="Text 7"/>
          <p:cNvSpPr/>
          <p:nvPr/>
        </p:nvSpPr>
        <p:spPr>
          <a:xfrm>
            <a:off x="1188720" y="272999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.40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43000" y="49834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43000" y="53035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063240" y="4050792"/>
            <a:ext cx="1325880" cy="841248"/>
          </a:xfrm>
          <a:prstGeom prst="roundRect">
            <a:avLst>
              <a:gd name="adj" fmla="val 4348"/>
            </a:avLst>
          </a:prstGeom>
          <a:solidFill>
            <a:srgbClr val="34D399"/>
          </a:solidFill>
          <a:ln/>
        </p:spPr>
      </p:sp>
      <p:sp>
        <p:nvSpPr>
          <p:cNvPr id="13" name="Text 11"/>
          <p:cNvSpPr/>
          <p:nvPr/>
        </p:nvSpPr>
        <p:spPr>
          <a:xfrm>
            <a:off x="2971800" y="3758184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.18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926080" y="49834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926080" y="53035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846320" y="3957320"/>
            <a:ext cx="1325880" cy="934720"/>
          </a:xfrm>
          <a:prstGeom prst="roundRect">
            <a:avLst>
              <a:gd name="adj" fmla="val 3913"/>
            </a:avLst>
          </a:prstGeom>
          <a:solidFill>
            <a:srgbClr val="243250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366471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09160" y="49834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150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Sure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09160" y="53035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629400" y="4331208"/>
            <a:ext cx="1325880" cy="560832"/>
          </a:xfrm>
          <a:prstGeom prst="roundRect">
            <a:avLst>
              <a:gd name="adj" fmla="val 6522"/>
            </a:avLst>
          </a:prstGeom>
          <a:solidFill>
            <a:srgbClr val="243250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403860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0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92240" y="49834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150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```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92240" y="53035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412480" y="4611624"/>
            <a:ext cx="1325880" cy="280416"/>
          </a:xfrm>
          <a:prstGeom prst="roundRect">
            <a:avLst>
              <a:gd name="adj" fmla="val 13043"/>
            </a:avLst>
          </a:prstGeom>
          <a:solidFill>
            <a:srgbClr val="243250"/>
          </a:solidFill>
          <a:ln/>
        </p:spPr>
      </p:sp>
      <p:sp>
        <p:nvSpPr>
          <p:cNvPr id="25" name="Text 23"/>
          <p:cNvSpPr/>
          <p:nvPr/>
        </p:nvSpPr>
        <p:spPr>
          <a:xfrm>
            <a:off x="8321040" y="4319016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275320" y="49834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150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75320" y="53035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0195560" y="4705096"/>
            <a:ext cx="1325880" cy="186944"/>
          </a:xfrm>
          <a:prstGeom prst="roundRect">
            <a:avLst>
              <a:gd name="adj" fmla="val 19565"/>
            </a:avLst>
          </a:prstGeom>
          <a:solidFill>
            <a:srgbClr val="243250"/>
          </a:solidFill>
          <a:ln/>
        </p:spPr>
      </p:sp>
      <p:sp>
        <p:nvSpPr>
          <p:cNvPr id="29" name="Text 27"/>
          <p:cNvSpPr/>
          <p:nvPr/>
        </p:nvSpPr>
        <p:spPr>
          <a:xfrm>
            <a:off x="10104120" y="441248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0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058400" y="49834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150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058400" y="53035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097280" y="4892040"/>
            <a:ext cx="10607040" cy="0"/>
          </a:xfrm>
          <a:prstGeom prst="line">
            <a:avLst/>
          </a:prstGeom>
          <a:noFill/>
          <a:ln w="19050">
            <a:solidFill>
              <a:srgbClr val="2B3A5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Illegal tokens (prose, markdown, numbers) are zeroed out — only schema-valid tokens survive to be sampled.</a:t>
            </a:r>
            <a:endParaRPr lang="en-US" sz="12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2 / 2 · UNDER THE HOOD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8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powers the magic method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Two things combine. Providers </a:t>
            </a:r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pPr indent="0" marL="0">
              <a:buNone/>
            </a:pPr>
            <a:r>
              <a:rPr lang="en-US" sz="15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models on huge amounts of tool-use and JSON (so they lean toward valid structure), then apply </a:t>
            </a:r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constrained decoding</a:t>
            </a:r>
            <a:pPr indent="0" marL="0">
              <a:buNone/>
            </a:pPr>
            <a:r>
              <a:rPr lang="en-US" sz="15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on top to enforce it.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331720"/>
            <a:ext cx="11155680" cy="1143000"/>
          </a:xfrm>
          <a:prstGeom prst="roundRect">
            <a:avLst>
              <a:gd name="adj" fmla="val 8000"/>
            </a:avLst>
          </a:prstGeom>
          <a:solidFill>
            <a:srgbClr val="0F182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48716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PRACTICE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27889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When you use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"JSON mode"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or pass a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schema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to OpenAI or Anthropic, it's usually BOTH at once: a model trained toward structure, plus constrained decoding enforcing it under the hood.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3749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LIBRARIES THAT ENFORCE STRUCTURE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4114800"/>
            <a:ext cx="5394960" cy="777240"/>
          </a:xfrm>
          <a:prstGeom prst="roundRect">
            <a:avLst>
              <a:gd name="adj" fmla="val 9412"/>
            </a:avLst>
          </a:prstGeom>
          <a:solidFill>
            <a:srgbClr val="121C30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2245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2960" y="45720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· regex &amp; JSON schemas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4114800"/>
            <a:ext cx="5394960" cy="777240"/>
          </a:xfrm>
          <a:prstGeom prst="roundRect">
            <a:avLst>
              <a:gd name="adj" fmla="val 9412"/>
            </a:avLst>
          </a:prstGeom>
          <a:solidFill>
            <a:srgbClr val="121C30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42245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92240" y="45720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 · templated generation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5029200"/>
            <a:ext cx="5394960" cy="777240"/>
          </a:xfrm>
          <a:prstGeom prst="roundRect">
            <a:avLst>
              <a:gd name="adj" fmla="val 9412"/>
            </a:avLst>
          </a:prstGeom>
          <a:solidFill>
            <a:srgbClr val="121C30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1389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llama.cpp GBNF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2960" y="54864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grammar-based sampling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72200" y="5029200"/>
            <a:ext cx="5394960" cy="777240"/>
          </a:xfrm>
          <a:prstGeom prst="roundRect">
            <a:avLst>
              <a:gd name="adj" fmla="val 9412"/>
            </a:avLst>
          </a:prstGeom>
          <a:solidFill>
            <a:srgbClr val="121C30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51389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vLLM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92240" y="54864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structured outputs at serving</a:t>
            </a:r>
            <a:endParaRPr lang="en-US" sz="11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OUTPUT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8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extraction with a schema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Messy text in → guaranteed schema out. The shape is enforced; the model only fills the values.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2148840"/>
            <a:ext cx="5440680" cy="1691640"/>
          </a:xfrm>
          <a:prstGeom prst="roundRect">
            <a:avLst>
              <a:gd name="adj" fmla="val 5405"/>
            </a:avLst>
          </a:prstGeom>
          <a:solidFill>
            <a:srgbClr val="0F1828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30428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 ·  raw email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26517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"Hi, this is Ayesha Malik, I'd like to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table for 4 this Friday at 7pm.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number is 0300-1234567."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214884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0F182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22860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 ·  what you require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92240" y="2578608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name: string,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party_size: integer,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day: string,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time: string,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phone: string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114800"/>
            <a:ext cx="11155680" cy="1965960"/>
          </a:xfrm>
          <a:prstGeom prst="roundRect">
            <a:avLst>
              <a:gd name="adj" fmla="val 4651"/>
            </a:avLst>
          </a:prstGeom>
          <a:solidFill>
            <a:srgbClr val="0B122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425196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GUARANTEED OUTPUT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68680" y="4535424"/>
            <a:ext cx="10424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"name": "Ayesha Malik",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"party_size": 4,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"day": "Friday",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"time": "19:00",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"phone": "0300-1234567"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OUTPUT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8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you'll use it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2057400"/>
            <a:ext cx="3523488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95528" y="2350008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2350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71600" y="2368296"/>
            <a:ext cx="2426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 extraction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795528" y="2971800"/>
            <a:ext cx="29748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clean fields from messy text — invoices, emails, resumes.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19016" y="2057400"/>
            <a:ext cx="3523488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11624" y="2350008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1624" y="2350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187696" y="2368296"/>
            <a:ext cx="2426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4611624" y="2971800"/>
            <a:ext cx="29748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a fixed label your code can switch on: {intent: "refund"}.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135112" y="2057400"/>
            <a:ext cx="3523488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5875">
            <a:solidFill>
              <a:srgbClr val="FBBF2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427720" y="2350008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27720" y="2350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003792" y="2368296"/>
            <a:ext cx="2426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workflow pipelines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8427720" y="2971800"/>
            <a:ext cx="29748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model's output becomes another model's — or an app's — input.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4160520"/>
            <a:ext cx="3523488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95528" y="4453128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5528" y="4453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371600" y="4471416"/>
            <a:ext cx="2426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Templated data generation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795528" y="5074920"/>
            <a:ext cx="29748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rows, records, or config that always match a fixed shape.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319016" y="4160520"/>
            <a:ext cx="3523488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611624" y="4453128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1624" y="4453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187696" y="4471416"/>
            <a:ext cx="2426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artifact rendering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4611624" y="5074920"/>
            <a:ext cx="29748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JSON a UI maps straight to cards, charts, or forms.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135112" y="4160520"/>
            <a:ext cx="3523488" cy="1783080"/>
          </a:xfrm>
          <a:prstGeom prst="roundRect">
            <a:avLst>
              <a:gd name="adj" fmla="val 5128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427720" y="4453128"/>
            <a:ext cx="457200" cy="457200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427720" y="4453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9003792" y="4471416"/>
            <a:ext cx="2426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&amp; tool invocation</a:t>
            </a:r>
            <a:endParaRPr lang="en-US" sz="1550" dirty="0"/>
          </a:p>
        </p:txBody>
      </p:sp>
      <p:sp>
        <p:nvSpPr>
          <p:cNvPr id="36" name="Text 34"/>
          <p:cNvSpPr/>
          <p:nvPr/>
        </p:nvSpPr>
        <p:spPr>
          <a:xfrm>
            <a:off x="8427720" y="5074920"/>
            <a:ext cx="29748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tools clean, valid arguments — the core of agent tool calling.</a:t>
            </a:r>
            <a:endParaRPr lang="en-US" sz="12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457200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46920" y="457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" y="1645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5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 / TOOL CALLING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86384" y="21488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LLMs take action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310896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single concept that turns a text generator into an agent. Everything in agentic AI is built on it.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3840480"/>
            <a:ext cx="5440680" cy="2240280"/>
          </a:xfrm>
          <a:prstGeom prst="roundRect">
            <a:avLst>
              <a:gd name="adj" fmla="val 4898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400507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TOOLS  ·  text in, text out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4800600"/>
            <a:ext cx="1280160" cy="685800"/>
          </a:xfrm>
          <a:prstGeom prst="roundRect">
            <a:avLst>
              <a:gd name="adj" fmla="val 10667"/>
            </a:avLst>
          </a:prstGeom>
          <a:solidFill>
            <a:srgbClr val="1B2740"/>
          </a:solidFill>
          <a:ln w="12700">
            <a:solidFill>
              <a:srgbClr val="8FA3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480060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423160" y="480060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1B2740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23160" y="480060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251960" y="4800600"/>
            <a:ext cx="1417320" cy="685800"/>
          </a:xfrm>
          <a:prstGeom prst="roundRect">
            <a:avLst>
              <a:gd name="adj" fmla="val 10667"/>
            </a:avLst>
          </a:prstGeom>
          <a:solidFill>
            <a:srgbClr val="1B2740"/>
          </a:solidFill>
          <a:ln w="12700">
            <a:solidFill>
              <a:srgbClr val="8FA3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51960" y="480060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2057400" y="5138928"/>
            <a:ext cx="365760" cy="0"/>
          </a:xfrm>
          <a:prstGeom prst="line">
            <a:avLst/>
          </a:prstGeom>
          <a:noFill/>
          <a:ln w="22225">
            <a:solidFill>
              <a:srgbClr val="8FA3C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886200" y="5138928"/>
            <a:ext cx="365760" cy="0"/>
          </a:xfrm>
          <a:prstGeom prst="line">
            <a:avLst/>
          </a:prstGeom>
          <a:noFill/>
          <a:ln w="22225">
            <a:solidFill>
              <a:srgbClr val="8FA3C0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777240" y="55961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Trapped in the box — no live data, no actions.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17920" y="3840480"/>
            <a:ext cx="5440680" cy="2240280"/>
          </a:xfrm>
          <a:prstGeom prst="roundRect">
            <a:avLst>
              <a:gd name="adj" fmla="val 4898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92240" y="400507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TOOLS  ·  reaches out &amp; acts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583680" y="4800600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1B2740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0" y="480060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012680" y="437083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0F1828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12680" y="437083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🌦️ API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38160" y="5184648"/>
            <a:ext cx="1874520" cy="-585216"/>
          </a:xfrm>
          <a:prstGeom prst="line">
            <a:avLst/>
          </a:prstGeom>
          <a:noFill/>
          <a:ln w="19050">
            <a:solidFill>
              <a:srgbClr val="34D399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0012680" y="4956048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0F1828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12680" y="495604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 DB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138160" y="5184648"/>
            <a:ext cx="1874520" cy="0"/>
          </a:xfrm>
          <a:prstGeom prst="line">
            <a:avLst/>
          </a:prstGeom>
          <a:noFill/>
          <a:ln w="19050">
            <a:solidFill>
              <a:srgbClr val="34D399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012680" y="5541264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0F1828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12680" y="5541264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Web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38160" y="5184648"/>
            <a:ext cx="1874520" cy="585216"/>
          </a:xfrm>
          <a:prstGeom prst="line">
            <a:avLst/>
          </a:prstGeom>
          <a:noFill/>
          <a:ln w="19050">
            <a:solidFill>
              <a:srgbClr val="34D399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6492240" y="559612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real tools — fetches data, takes actions.</a:t>
            </a:r>
            <a:endParaRPr lang="en-US" sz="11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 / TOOL CALLING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9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it? (you already know the trick)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Here's the secret: a tool call is just </a:t>
            </a:r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</a:t>
            </a:r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in disguise. The model doesn't run anything — it returns clean JSON saying which function to call and with what arguments. YOUR code runs it.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02920" y="2423160"/>
            <a:ext cx="5440680" cy="1828800"/>
          </a:xfrm>
          <a:prstGeom prst="roundRect">
            <a:avLst>
              <a:gd name="adj" fmla="val 5000"/>
            </a:avLst>
          </a:prstGeom>
          <a:solidFill>
            <a:srgbClr val="0F1828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5786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OUTPUT  ·  last lecture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2907792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 name &amp; age as JSON."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"name": "Ali",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"age": 28 }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17920" y="2423160"/>
            <a:ext cx="5440680" cy="1828800"/>
          </a:xfrm>
          <a:prstGeom prst="roundRect">
            <a:avLst>
              <a:gd name="adj" fmla="val 5000"/>
            </a:avLst>
          </a:prstGeom>
          <a:solidFill>
            <a:srgbClr val="0F182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25786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CALL  ·  same idea!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92240" y="2907792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"Get the weather in Lahore."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"tool": "get_weather",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"args": { "city": "Lahore" } }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806440" y="30632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502920" y="4526280"/>
            <a:ext cx="11155680" cy="914400"/>
          </a:xfrm>
          <a:prstGeom prst="roundRect">
            <a:avLst>
              <a:gd name="adj" fmla="val 10000"/>
            </a:avLst>
          </a:prstGeom>
          <a:solidFill>
            <a:srgbClr val="0F182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70916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Same mechanism, new purpose: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gives you DATA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; a tool call uses that same structure to name an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for your code to perform. The model is the brain choosing the tool; your code is the hands.</a:t>
            </a:r>
            <a:endParaRPr lang="en-US" sz="14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 / TOOL CALLING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9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loop, visualized (ReAct)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0876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 forms a cycle: the model THINKS, takes an ACTION (a tool call), reads the OBSERVATION, and loops — until it's ready to ANSWER.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1554480" y="224028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121C30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554480" y="22402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188720" y="3154680"/>
            <a:ext cx="2743200" cy="1645920"/>
          </a:xfrm>
          <a:prstGeom prst="diamond">
            <a:avLst/>
          </a:prstGeom>
          <a:solidFill>
            <a:srgbClr val="13243F"/>
          </a:solidFill>
          <a:ln w="22225">
            <a:solidFill>
              <a:srgbClr val="FBBF2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188720" y="315468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" y="5440680"/>
            <a:ext cx="1554480" cy="685800"/>
          </a:xfrm>
          <a:prstGeom prst="roundRect">
            <a:avLst>
              <a:gd name="adj" fmla="val 24000"/>
            </a:avLst>
          </a:prstGeom>
          <a:solidFill>
            <a:srgbClr val="121C30"/>
          </a:solidFill>
          <a:ln w="19050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" y="54406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26280" y="5029200"/>
            <a:ext cx="1920240" cy="731520"/>
          </a:xfrm>
          <a:prstGeom prst="roundRect">
            <a:avLst>
              <a:gd name="adj" fmla="val 10000"/>
            </a:avLst>
          </a:prstGeom>
          <a:solidFill>
            <a:srgbClr val="121C30"/>
          </a:solidFill>
          <a:ln w="19050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26280" y="50292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2560320" y="2926080"/>
            <a:ext cx="0" cy="228600"/>
          </a:xfrm>
          <a:prstGeom prst="line">
            <a:avLst/>
          </a:prstGeom>
          <a:noFill/>
          <a:ln w="25400">
            <a:solidFill>
              <a:srgbClr val="38BDF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1463040" y="4617720"/>
            <a:ext cx="137160" cy="822960"/>
          </a:xfrm>
          <a:prstGeom prst="line">
            <a:avLst/>
          </a:prstGeom>
          <a:noFill/>
          <a:ln w="25400">
            <a:solidFill>
              <a:srgbClr val="F472B6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457200" y="457200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2194560" y="5440680"/>
            <a:ext cx="-548640" cy="-731520"/>
          </a:xfrm>
          <a:prstGeom prst="line">
            <a:avLst/>
          </a:prstGeom>
          <a:noFill/>
          <a:ln w="25400">
            <a:solidFill>
              <a:srgbClr val="34D399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828800" y="50292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0" y="4114800"/>
            <a:ext cx="868680" cy="914400"/>
          </a:xfrm>
          <a:prstGeom prst="line">
            <a:avLst/>
          </a:prstGeom>
          <a:noFill/>
          <a:ln w="25400">
            <a:solidFill>
              <a:srgbClr val="8FA3C0"/>
            </a:solidFill>
            <a:prstDash val="dash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949440" y="2331720"/>
            <a:ext cx="4709160" cy="777240"/>
          </a:xfrm>
          <a:prstGeom prst="roundRect">
            <a:avLst>
              <a:gd name="adj" fmla="val 9412"/>
            </a:avLst>
          </a:prstGeom>
          <a:solidFill>
            <a:srgbClr val="121C3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78040" y="2532888"/>
            <a:ext cx="384048" cy="384048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78040" y="2532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726680" y="24414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define tools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726680" y="2752344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+ arguments, as a JSON schema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949440" y="3246120"/>
            <a:ext cx="4709160" cy="777240"/>
          </a:xfrm>
          <a:prstGeom prst="roundRect">
            <a:avLst>
              <a:gd name="adj" fmla="val 9412"/>
            </a:avLst>
          </a:prstGeom>
          <a:solidFill>
            <a:srgbClr val="121C3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78040" y="3447288"/>
            <a:ext cx="384048" cy="384048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78040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26680" y="33558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requests a call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726680" y="3666744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JSON, not text: which tool + args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949440" y="4160520"/>
            <a:ext cx="4709160" cy="777240"/>
          </a:xfrm>
          <a:prstGeom prst="roundRect">
            <a:avLst>
              <a:gd name="adj" fmla="val 9412"/>
            </a:avLst>
          </a:prstGeom>
          <a:solidFill>
            <a:srgbClr val="121C3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78040" y="4361688"/>
            <a:ext cx="384048" cy="384048"/>
          </a:xfrm>
          <a:prstGeom prst="ellipse">
            <a:avLst/>
          </a:prstGeom>
          <a:solidFill>
            <a:srgbClr val="1B274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78040" y="4361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726680" y="42702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 runs it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726680" y="4581144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API call / DB query happens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949440" y="5074920"/>
            <a:ext cx="4709160" cy="777240"/>
          </a:xfrm>
          <a:prstGeom prst="roundRect">
            <a:avLst>
              <a:gd name="adj" fmla="val 9412"/>
            </a:avLst>
          </a:prstGeom>
          <a:solidFill>
            <a:srgbClr val="121C30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178040" y="5276088"/>
            <a:ext cx="384048" cy="384048"/>
          </a:xfrm>
          <a:prstGeom prst="ellipse">
            <a:avLst/>
          </a:prstGeom>
          <a:solidFill>
            <a:srgbClr val="1B2740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78040" y="5276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7726680" y="51846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→ answer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726680" y="5495544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goes back; model replies to user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02920" y="63550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Thought→Action→Observation cycle repeats until the model can answer. That loop IS the agent.</a:t>
            </a:r>
            <a:endParaRPr lang="en-US" sz="11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 / TOOL CALLING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9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history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481328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could write — but not act. One feature changed everything, and the whole field has built on it since.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60120" y="2121408"/>
            <a:ext cx="0" cy="3621024"/>
          </a:xfrm>
          <a:prstGeom prst="line">
            <a:avLst/>
          </a:prstGeom>
          <a:noFill/>
          <a:ln w="25400">
            <a:solidFill>
              <a:srgbClr val="2B3A5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0392" y="2011680"/>
            <a:ext cx="219456" cy="219456"/>
          </a:xfrm>
          <a:prstGeom prst="ellipse">
            <a:avLst/>
          </a:prstGeom>
          <a:solidFill>
            <a:srgbClr val="2B3A57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80160" y="199339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3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2023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063240" y="197510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generate text only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040880" y="1938528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Powerful, but locked in a box — no live data, no actions.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50392" y="2615184"/>
            <a:ext cx="219456" cy="219456"/>
          </a:xfrm>
          <a:prstGeom prst="ellipse">
            <a:avLst/>
          </a:prstGeom>
          <a:solidFill>
            <a:srgbClr val="38BDF8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80160" y="259689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 13, 2023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63240" y="257860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introduces Function Calling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040880" y="254203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GPT-3.5 &amp; GPT-4 can output a structured call to developer-defined functions.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50392" y="3218688"/>
            <a:ext cx="219456" cy="219456"/>
          </a:xfrm>
          <a:prstGeom prst="ellipse">
            <a:avLst/>
          </a:prstGeom>
          <a:solidFill>
            <a:srgbClr val="34D399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80160" y="320040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 2023–24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063240" y="318211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follows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040880" y="3145536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(Gemini), Anthropic (Claude) &amp; others ship their own tool-calling APIs.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50392" y="3822192"/>
            <a:ext cx="219456" cy="219456"/>
          </a:xfrm>
          <a:prstGeom prst="ellipse">
            <a:avLst/>
          </a:prstGeom>
          <a:solidFill>
            <a:srgbClr val="FBBF24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80160" y="380390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2024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063240" y="378561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standardizes it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040880" y="3749040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Anthropic's Model Context Protocol — write a tool once, use it across models.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50392" y="4425696"/>
            <a:ext cx="219456" cy="219456"/>
          </a:xfrm>
          <a:prstGeom prst="ellipse">
            <a:avLst/>
          </a:prstGeom>
          <a:solidFill>
            <a:srgbClr val="F472B6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80160" y="440740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 → 2025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63240" y="438912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 bloom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040880" y="4352544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LangChain, LangGraph, OpenAI Agents SDK, Google ADK, Anthropic SDK.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50392" y="5029200"/>
            <a:ext cx="219456" cy="219456"/>
          </a:xfrm>
          <a:prstGeom prst="ellipse">
            <a:avLst/>
          </a:prstGeom>
          <a:solidFill>
            <a:srgbClr val="38BDF8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80160" y="501091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→ 2026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3063240" y="499262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agents &amp; visual builders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040880" y="4956048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Code, Claude Cowork, Manus, Open Code/Work, n8n, OpenAI Agent Builder — all built on tool calling + MCP.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50392" y="5632704"/>
            <a:ext cx="219456" cy="219456"/>
          </a:xfrm>
          <a:prstGeom prst="ellipse">
            <a:avLst/>
          </a:prstGeom>
          <a:solidFill>
            <a:srgbClr val="34D399"/>
          </a:solidFill>
          <a:ln w="25400">
            <a:solidFill>
              <a:srgbClr val="0B122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280160" y="561441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onwards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3063240" y="559612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agents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040880" y="555955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OpenClaw, Hermes — agents that act for you. Same foundation underneath.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02920" y="62636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wave above — frameworks, general agents, personal agents — is still the same tool-calling loop underneath.</a:t>
            </a:r>
            <a:endParaRPr lang="en-US" sz="11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9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you know runs on it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products feel like magic — but underneath, each one is the tool-calling loop applied to different tools: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3523488" cy="1280160"/>
          </a:xfrm>
          <a:prstGeom prst="roundRect">
            <a:avLst>
              <a:gd name="adj" fmla="val 7143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2331720"/>
            <a:ext cx="2883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22960" y="2816352"/>
            <a:ext cx="2883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web search, code, image tools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19016" y="2103120"/>
            <a:ext cx="3523488" cy="1280160"/>
          </a:xfrm>
          <a:prstGeom prst="roundRect">
            <a:avLst>
              <a:gd name="adj" fmla="val 7143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39056" y="2331720"/>
            <a:ext cx="2883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639056" y="2816352"/>
            <a:ext cx="2883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read-file, edit-file, run-terminal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35112" y="2103120"/>
            <a:ext cx="3523488" cy="1280160"/>
          </a:xfrm>
          <a:prstGeom prst="roundRect">
            <a:avLst>
              <a:gd name="adj" fmla="val 7143"/>
            </a:avLst>
          </a:prstGeom>
          <a:solidFill>
            <a:srgbClr val="121C30"/>
          </a:solidFill>
          <a:ln w="15875">
            <a:solidFill>
              <a:srgbClr val="FBBF2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455152" y="2331720"/>
            <a:ext cx="2883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455152" y="2816352"/>
            <a:ext cx="2883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file, shell &amp; git tools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3566160"/>
            <a:ext cx="3523488" cy="1280160"/>
          </a:xfrm>
          <a:prstGeom prst="roundRect">
            <a:avLst>
              <a:gd name="adj" fmla="val 7143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3794760"/>
            <a:ext cx="2883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Cowork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22960" y="4279392"/>
            <a:ext cx="2883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docs, sheets &amp; app tools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319016" y="3566160"/>
            <a:ext cx="3523488" cy="1280160"/>
          </a:xfrm>
          <a:prstGeom prst="roundRect">
            <a:avLst>
              <a:gd name="adj" fmla="val 7143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639056" y="3794760"/>
            <a:ext cx="2883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OpenClaw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4639056" y="4279392"/>
            <a:ext cx="2883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browser &amp; computer tools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135112" y="3566160"/>
            <a:ext cx="3523488" cy="1280160"/>
          </a:xfrm>
          <a:prstGeom prst="roundRect">
            <a:avLst>
              <a:gd name="adj" fmla="val 7143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455152" y="3794760"/>
            <a:ext cx="2883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455152" y="4279392"/>
            <a:ext cx="2883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APIs &amp; app integrations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02920" y="52120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tools, same engine. Learn the loop once, and every one of these stops being magic.</a:t>
            </a:r>
            <a:endParaRPr lang="en-US" sz="13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 / TOOL CALLING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9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 weather question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08760"/>
            <a:ext cx="11155680" cy="640080"/>
          </a:xfrm>
          <a:prstGeom prst="roundRect">
            <a:avLst>
              <a:gd name="adj" fmla="val 14286"/>
            </a:avLst>
          </a:prstGeom>
          <a:solidFill>
            <a:srgbClr val="13243F"/>
          </a:solidFill>
          <a:ln w="12700">
            <a:solidFill>
              <a:srgbClr val="2432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5087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USER: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"What's the weather in Lahore right now?"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" y="2331720"/>
            <a:ext cx="5440680" cy="1691640"/>
          </a:xfrm>
          <a:prstGeom prst="roundRect">
            <a:avLst>
              <a:gd name="adj" fmla="val 5405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25146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TOOL DEFINED (by you)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2898648"/>
            <a:ext cx="4892040" cy="960120"/>
          </a:xfrm>
          <a:prstGeom prst="roundRect">
            <a:avLst>
              <a:gd name="adj" fmla="val 5714"/>
            </a:avLst>
          </a:prstGeom>
          <a:solidFill>
            <a:srgbClr val="0B1220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2898648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get_weather(city: string)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returns current conditions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2331720"/>
            <a:ext cx="5440680" cy="1691640"/>
          </a:xfrm>
          <a:prstGeom prst="roundRect">
            <a:avLst>
              <a:gd name="adj" fmla="val 5405"/>
            </a:avLst>
          </a:prstGeom>
          <a:solidFill>
            <a:srgbClr val="121C30"/>
          </a:solidFill>
          <a:ln w="15875">
            <a:solidFill>
              <a:srgbClr val="FBBF2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37960" y="25146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MODEL REQUESTS CALL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537960" y="2898648"/>
            <a:ext cx="4892040" cy="960120"/>
          </a:xfrm>
          <a:prstGeom prst="roundRect">
            <a:avLst>
              <a:gd name="adj" fmla="val 5714"/>
            </a:avLst>
          </a:prstGeom>
          <a:solidFill>
            <a:srgbClr val="0B1220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20840" y="2898648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"tool": "get_weather",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"args": { "city": "Lahore" } }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206240"/>
            <a:ext cx="5440680" cy="1691640"/>
          </a:xfrm>
          <a:prstGeom prst="roundRect">
            <a:avLst>
              <a:gd name="adj" fmla="val 5405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77240" y="43891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YOUR CODE RUNS IT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" y="4773168"/>
            <a:ext cx="4892040" cy="960120"/>
          </a:xfrm>
          <a:prstGeom prst="roundRect">
            <a:avLst>
              <a:gd name="adj" fmla="val 5714"/>
            </a:avLst>
          </a:prstGeom>
          <a:solidFill>
            <a:srgbClr val="0B1220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4773168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calls weather API →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"temp": 34, "sky": "clear" }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63640" y="4206240"/>
            <a:ext cx="5440680" cy="1691640"/>
          </a:xfrm>
          <a:prstGeom prst="roundRect">
            <a:avLst>
              <a:gd name="adj" fmla="val 5405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537960" y="43891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MODEL ANSWERS USER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537960" y="4773168"/>
            <a:ext cx="4892040" cy="960120"/>
          </a:xfrm>
          <a:prstGeom prst="roundRect">
            <a:avLst>
              <a:gd name="adj" fmla="val 5714"/>
            </a:avLst>
          </a:prstGeom>
          <a:solidFill>
            <a:srgbClr val="0B1220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20840" y="4773168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"It's currently 34°C and clear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5E2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in Lahore."</a:t>
            </a:r>
            <a:endParaRPr lang="en-US" sz="12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457200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46920" y="457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" y="1600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5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MEMORY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86384" y="21031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&amp; long-term memory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822960" y="3246120"/>
            <a:ext cx="10515600" cy="1417320"/>
          </a:xfrm>
          <a:prstGeom prst="roundRect">
            <a:avLst>
              <a:gd name="adj" fmla="val 7742"/>
            </a:avLst>
          </a:prstGeom>
          <a:solidFill>
            <a:srgbClr val="121C30"/>
          </a:solidFill>
          <a:ln w="19050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43000" y="342900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 START HERE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43000" y="3767328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An LLM has </a:t>
            </a:r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built-in memory</a:t>
            </a:r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— neither short-term nor long-term. Each call is stateless: it forgets everything the moment it replies. Memory is something WE build around it.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22960" y="4937760"/>
            <a:ext cx="5120640" cy="1097280"/>
          </a:xfrm>
          <a:prstGeom prst="roundRect">
            <a:avLst>
              <a:gd name="adj" fmla="val 10000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188720" y="5120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88720" y="55321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one conversation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09360" y="4937760"/>
            <a:ext cx="5120640" cy="1097280"/>
          </a:xfrm>
          <a:prstGeom prst="roundRect">
            <a:avLst>
              <a:gd name="adj" fmla="val 10000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675120" y="5120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675120" y="55321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conversations, forever</a:t>
            </a:r>
            <a:endParaRPr lang="en-US" sz="14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MEMORY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10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forgets — so we remember for it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60020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Because the model is stateless, the ONLY way it “remembers” anything is if we </a:t>
            </a:r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re-send it in the next call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Memory = deciding what to store, and what to feed back in.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02920" y="2468880"/>
            <a:ext cx="5440680" cy="3291840"/>
          </a:xfrm>
          <a:prstGeom prst="roundRect">
            <a:avLst>
              <a:gd name="adj" fmla="val 3333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2651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 NO MEMORY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310896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You: “My name is Ali.”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Bot: “Hi Ali!”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You: “What’s my name?”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Bot: “I don’t know your name.”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5257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call starts from nothing.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2468880"/>
            <a:ext cx="5440680" cy="3291840"/>
          </a:xfrm>
          <a:prstGeom prst="roundRect">
            <a:avLst>
              <a:gd name="adj" fmla="val 3333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92240" y="2651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 WITH MEMORY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92240" y="310896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You: “My name is Ali.”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Bot: “Hi Ali!”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[we resend: “User’s name is Ali”]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You: “What’s my name?”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Bot: “Your name is Ali.”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92240" y="5257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feed the past back in.</a:t>
            </a:r>
            <a:endParaRPr lang="en-US" sz="1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MEMORY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10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memory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11155680" cy="566928"/>
          </a:xfrm>
          <a:prstGeom prst="roundRect">
            <a:avLst>
              <a:gd name="adj" fmla="val 16129"/>
            </a:avLst>
          </a:prstGeom>
          <a:solidFill>
            <a:srgbClr val="13243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48132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 PLAIN WORDS 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agent remembers within a single conversation.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286000"/>
            <a:ext cx="5394960" cy="1691640"/>
          </a:xfrm>
          <a:prstGeom prst="roundRect">
            <a:avLst>
              <a:gd name="adj" fmla="val 5405"/>
            </a:avLst>
          </a:prstGeom>
          <a:solidFill>
            <a:srgbClr val="121C30"/>
          </a:solidFill>
          <a:ln w="15875">
            <a:solidFill>
              <a:srgbClr val="38BDF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5420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/ conversations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68680" y="309067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running chat history — every message so far is resent each turn.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263640" y="2286000"/>
            <a:ext cx="5394960" cy="1691640"/>
          </a:xfrm>
          <a:prstGeom prst="roundRect">
            <a:avLst>
              <a:gd name="adj" fmla="val 5405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629400" y="25420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in the context window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29400" y="309067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all sits inside the model’s limited context for this session.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4297680"/>
            <a:ext cx="5394960" cy="1691640"/>
          </a:xfrm>
          <a:prstGeom prst="roundRect">
            <a:avLst>
              <a:gd name="adj" fmla="val 5405"/>
            </a:avLst>
          </a:prstGeom>
          <a:solidFill>
            <a:srgbClr val="121C30"/>
          </a:solidFill>
          <a:ln w="15875">
            <a:solidFill>
              <a:srgbClr val="FBBF2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455371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Gone when the chat ends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68680" y="510235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conversation and it’s lost — it was never truly stored.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263640" y="4297680"/>
            <a:ext cx="5394960" cy="1691640"/>
          </a:xfrm>
          <a:prstGeom prst="roundRect">
            <a:avLst>
              <a:gd name="adj" fmla="val 5405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29400" y="455371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by size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629400" y="510235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chats overflow the window — old messages must be dropped or summarized.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02920" y="6053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it: when a chat gets too long, summarize old turns into a short recap — “summarization memory.”</a:t>
            </a:r>
            <a:endParaRPr lang="en-US" sz="12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MEMORY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10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memory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11155680" cy="566928"/>
          </a:xfrm>
          <a:prstGeom prst="roundRect">
            <a:avLst>
              <a:gd name="adj" fmla="val 16129"/>
            </a:avLst>
          </a:prstGeom>
          <a:solidFill>
            <a:srgbClr val="13243F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48132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 PLAIN WORDS 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agent keeps across conversations — saved outside the model, recalled when needed.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19456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in a database or vector store, then retrieved and fed back in. Three kinds: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697480"/>
            <a:ext cx="3505200" cy="2606040"/>
          </a:xfrm>
          <a:prstGeom prst="roundRect">
            <a:avLst>
              <a:gd name="adj" fmla="val 3509"/>
            </a:avLst>
          </a:prstGeom>
          <a:solidFill>
            <a:srgbClr val="121C30"/>
          </a:solidFill>
          <a:ln w="15875">
            <a:solidFill>
              <a:srgbClr val="F472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292608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777240" y="3474720"/>
            <a:ext cx="295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events &amp; interactions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" y="4297680"/>
            <a:ext cx="2956560" cy="777240"/>
          </a:xfrm>
          <a:prstGeom prst="roundRect">
            <a:avLst>
              <a:gd name="adj" fmla="val 7059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343400"/>
            <a:ext cx="268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“Last week you booked a table for 4 at Cafe Rose.”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28160" y="2697480"/>
            <a:ext cx="3505200" cy="2606040"/>
          </a:xfrm>
          <a:prstGeom prst="roundRect">
            <a:avLst>
              <a:gd name="adj" fmla="val 3509"/>
            </a:avLst>
          </a:prstGeom>
          <a:solidFill>
            <a:srgbClr val="121C30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602480" y="292608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4602480" y="3474720"/>
            <a:ext cx="295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&amp; knowledge about the user/world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02480" y="4297680"/>
            <a:ext cx="2956560" cy="777240"/>
          </a:xfrm>
          <a:prstGeom prst="roundRect">
            <a:avLst>
              <a:gd name="adj" fmla="val 7059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39640" y="4343400"/>
            <a:ext cx="268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“Ali is vegetarian and lives in Lahore.”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153400" y="2697480"/>
            <a:ext cx="3505200" cy="2606040"/>
          </a:xfrm>
          <a:prstGeom prst="roundRect">
            <a:avLst>
              <a:gd name="adj" fmla="val 3509"/>
            </a:avLst>
          </a:prstGeom>
          <a:solidFill>
            <a:srgbClr val="121C30"/>
          </a:solidFill>
          <a:ln w="15875">
            <a:solidFill>
              <a:srgbClr val="FBBF2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427720" y="292608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Procedural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8427720" y="3474720"/>
            <a:ext cx="295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do things — learned skills &amp; steps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427720" y="4297680"/>
            <a:ext cx="2956560" cy="777240"/>
          </a:xfrm>
          <a:prstGeom prst="roundRect">
            <a:avLst>
              <a:gd name="adj" fmla="val 7059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64880" y="4343400"/>
            <a:ext cx="268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“To book a table: ask date, size, time, then confirm.”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55321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backends: regular databases for facts, and vector stores for “find me anything similar to this.”</a:t>
            </a:r>
            <a:endParaRPr lang="en-US" sz="12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MEMORY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10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7498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13243F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46920" y="7498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FUNDAMENTALS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vs. long-term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246120" y="1783080"/>
            <a:ext cx="4297680" cy="548640"/>
          </a:xfrm>
          <a:prstGeom prst="roundRect">
            <a:avLst>
              <a:gd name="adj" fmla="val 13333"/>
            </a:avLst>
          </a:prstGeom>
          <a:solidFill>
            <a:srgbClr val="13243F"/>
          </a:solidFill>
          <a:ln w="15875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6120" y="17830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680960" y="1783080"/>
            <a:ext cx="4297680" cy="548640"/>
          </a:xfrm>
          <a:prstGeom prst="roundRect">
            <a:avLst>
              <a:gd name="adj" fmla="val 13333"/>
            </a:avLst>
          </a:prstGeom>
          <a:solidFill>
            <a:srgbClr val="13243F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0" y="17830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4360" y="24688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46120" y="2468880"/>
            <a:ext cx="4297680" cy="640080"/>
          </a:xfrm>
          <a:prstGeom prst="roundRect">
            <a:avLst>
              <a:gd name="adj" fmla="val 8571"/>
            </a:avLst>
          </a:prstGeom>
          <a:solidFill>
            <a:srgbClr val="121C30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2468880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conversation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680960" y="2468880"/>
            <a:ext cx="4297680" cy="640080"/>
          </a:xfrm>
          <a:prstGeom prst="roundRect">
            <a:avLst>
              <a:gd name="adj" fmla="val 8571"/>
            </a:avLst>
          </a:prstGeom>
          <a:solidFill>
            <a:srgbClr val="121C30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09560" y="2468880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conversations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94360" y="321868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in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246120" y="3218688"/>
            <a:ext cx="4297680" cy="640080"/>
          </a:xfrm>
          <a:prstGeom prst="roundRect">
            <a:avLst>
              <a:gd name="adj" fmla="val 8571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0" y="3218688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context window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680960" y="3218688"/>
            <a:ext cx="4297680" cy="640080"/>
          </a:xfrm>
          <a:prstGeom prst="roundRect">
            <a:avLst>
              <a:gd name="adj" fmla="val 8571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09560" y="3218688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database / vector store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3968496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Lifespan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246120" y="3968496"/>
            <a:ext cx="4297680" cy="640080"/>
          </a:xfrm>
          <a:prstGeom prst="roundRect">
            <a:avLst>
              <a:gd name="adj" fmla="val 8571"/>
            </a:avLst>
          </a:prstGeom>
          <a:solidFill>
            <a:srgbClr val="121C30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0" y="3968496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Gone when chat ends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680960" y="3968496"/>
            <a:ext cx="4297680" cy="640080"/>
          </a:xfrm>
          <a:prstGeom prst="roundRect">
            <a:avLst>
              <a:gd name="adj" fmla="val 8571"/>
            </a:avLst>
          </a:prstGeom>
          <a:solidFill>
            <a:srgbClr val="121C30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09560" y="3968496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Persists indefinitely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94360" y="4718304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Analogy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246120" y="4718304"/>
            <a:ext cx="4297680" cy="640080"/>
          </a:xfrm>
          <a:prstGeom prst="roundRect">
            <a:avLst>
              <a:gd name="adj" fmla="val 8571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74720" y="4718304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a thought in your head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680960" y="4718304"/>
            <a:ext cx="4297680" cy="640080"/>
          </a:xfrm>
          <a:prstGeom prst="roundRect">
            <a:avLst>
              <a:gd name="adj" fmla="val 8571"/>
            </a:avLst>
          </a:prstGeom>
          <a:solidFill>
            <a:srgbClr val="0F1828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909560" y="4718304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it in a notebook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546811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3246120" y="5468112"/>
            <a:ext cx="4297680" cy="640080"/>
          </a:xfrm>
          <a:prstGeom prst="roundRect">
            <a:avLst>
              <a:gd name="adj" fmla="val 8571"/>
            </a:avLst>
          </a:prstGeom>
          <a:solidFill>
            <a:srgbClr val="121C30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74720" y="5468112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want a BBQ Chicken Pizza”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680960" y="5468112"/>
            <a:ext cx="4297680" cy="640080"/>
          </a:xfrm>
          <a:prstGeom prst="roundRect">
            <a:avLst>
              <a:gd name="adj" fmla="val 8571"/>
            </a:avLst>
          </a:prstGeom>
          <a:solidFill>
            <a:srgbClr val="121C30"/>
          </a:solidFill>
          <a:ln w="9525">
            <a:solidFill>
              <a:srgbClr val="2432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909560" y="5468112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“Never add tomatoes — I dislike them”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02920" y="63550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agents use BOTH: short-term for the live conversation, long-term to remember you over time.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Course — Slides</dc:title>
  <dc:subject>PptxGenJS Presentation</dc:subject>
  <dc:creator>Agentic AI Course</dc:creator>
  <cp:lastModifiedBy>Agentic AI Course</cp:lastModifiedBy>
  <cp:revision>1</cp:revision>
  <dcterms:created xsi:type="dcterms:W3CDTF">2026-06-23T03:17:54Z</dcterms:created>
  <dcterms:modified xsi:type="dcterms:W3CDTF">2026-06-23T03:17:54Z</dcterms:modified>
</cp:coreProperties>
</file>