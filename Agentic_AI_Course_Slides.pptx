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hyperlink" Target="https://openai.com/api/pricing" TargetMode="External"/><Relationship Id="rId2" Type="http://schemas.openxmlformats.org/officeDocument/2006/relationships/hyperlink" Target="https://platform.claude.com/docs/en/about-claude/pricing" TargetMode="External"/><Relationship Id="rId3" Type="http://schemas.openxmlformats.org/officeDocument/2006/relationships/hyperlink" Target="https://ai.google.dev/pricing" TargetMode="External"/><Relationship Id="rId4" Type="http://schemas.openxmlformats.org/officeDocument/2006/relationships/hyperlink" Target="https://x.ai/api" TargetMode="External"/><Relationship Id="rId5" Type="http://schemas.openxmlformats.org/officeDocument/2006/relationships/hyperlink" Target="https://api-docs.deepseek.com/quick_start/pricing" TargetMode="External"/><Relationship Id="rId6" Type="http://schemas.openxmlformats.org/officeDocument/2006/relationships/hyperlink" Target="https://mistral.ai/pricing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hyperlink" Target="https://arena.ai/leaderboard/tex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554480"/>
            <a:ext cx="3200400" cy="3200400"/>
          </a:xfrm>
          <a:prstGeom prst="ellipse">
            <a:avLst/>
          </a:prstGeom>
          <a:solidFill>
            <a:srgbClr val="13243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25603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786384" y="2240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2026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82296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learn — and the order to learn it in — to go from zero to building real AI agents.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Foundations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08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108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Full-Code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94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4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No-Code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80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Operating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4572000" cy="4206240"/>
          </a:xfrm>
          <a:prstGeom prst="roundRect">
            <a:avLst>
              <a:gd name="adj" fmla="val 2609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77640" y="1993392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777240" y="2103120"/>
            <a:ext cx="868680" cy="8686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313432"/>
            <a:ext cx="448056" cy="44805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77240" y="3108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77240" y="3584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397764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Framework-agnostic concepts every agent builder needs before touching any tool.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349240" y="182880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95544" y="203454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78424" y="1828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 &amp; providers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691372" y="182880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837676" y="203454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2" name="Text 19"/>
          <p:cNvSpPr/>
          <p:nvPr/>
        </p:nvSpPr>
        <p:spPr>
          <a:xfrm>
            <a:off x="9020556" y="1828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cost &amp; tokens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49240" y="242773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95544" y="263347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5" name="Text 22"/>
          <p:cNvSpPr/>
          <p:nvPr/>
        </p:nvSpPr>
        <p:spPr>
          <a:xfrm>
            <a:off x="5678424" y="24277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691372" y="242773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837676" y="263347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8" name="Text 25"/>
          <p:cNvSpPr/>
          <p:nvPr/>
        </p:nvSpPr>
        <p:spPr>
          <a:xfrm>
            <a:off x="9020556" y="24277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Chatbot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349240" y="3026664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95544" y="3232404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1" name="Text 28"/>
          <p:cNvSpPr/>
          <p:nvPr/>
        </p:nvSpPr>
        <p:spPr>
          <a:xfrm>
            <a:off x="5678424" y="30266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Automation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691372" y="3026664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37676" y="3232404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4" name="Text 31"/>
          <p:cNvSpPr/>
          <p:nvPr/>
        </p:nvSpPr>
        <p:spPr>
          <a:xfrm>
            <a:off x="9020556" y="30266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vs Agent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349240" y="3625596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495544" y="3831336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7" name="Text 34"/>
          <p:cNvSpPr/>
          <p:nvPr/>
        </p:nvSpPr>
        <p:spPr>
          <a:xfrm>
            <a:off x="5678424" y="36255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agents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691372" y="3625596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837676" y="3831336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0" name="Text 37"/>
          <p:cNvSpPr/>
          <p:nvPr/>
        </p:nvSpPr>
        <p:spPr>
          <a:xfrm>
            <a:off x="9020556" y="36255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5349240" y="4224528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495544" y="4430268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3" name="Text 40"/>
          <p:cNvSpPr/>
          <p:nvPr/>
        </p:nvSpPr>
        <p:spPr>
          <a:xfrm>
            <a:off x="5678424" y="42245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vs structured output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8691372" y="4224528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37676" y="4430268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6" name="Text 43"/>
          <p:cNvSpPr/>
          <p:nvPr/>
        </p:nvSpPr>
        <p:spPr>
          <a:xfrm>
            <a:off x="9020556" y="42245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349240" y="482346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495544" y="502920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9" name="Text 46"/>
          <p:cNvSpPr/>
          <p:nvPr/>
        </p:nvSpPr>
        <p:spPr>
          <a:xfrm>
            <a:off x="5678424" y="48234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8691372" y="482346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837676" y="502920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52" name="Text 49"/>
          <p:cNvSpPr/>
          <p:nvPr/>
        </p:nvSpPr>
        <p:spPr>
          <a:xfrm>
            <a:off x="9020556" y="48234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5349240" y="542239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495544" y="562813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55" name="Text 52"/>
          <p:cNvSpPr/>
          <p:nvPr/>
        </p:nvSpPr>
        <p:spPr>
          <a:xfrm>
            <a:off x="5678424" y="54223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150" dirty="0"/>
          </a:p>
        </p:txBody>
      </p:sp>
      <p:sp>
        <p:nvSpPr>
          <p:cNvPr id="56" name="Shape 53"/>
          <p:cNvSpPr/>
          <p:nvPr/>
        </p:nvSpPr>
        <p:spPr>
          <a:xfrm>
            <a:off x="8691372" y="542239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837676" y="562813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58" name="Text 55"/>
          <p:cNvSpPr/>
          <p:nvPr/>
        </p:nvSpPr>
        <p:spPr>
          <a:xfrm>
            <a:off x="9020556" y="54223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0025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7724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6771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066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settings, providers, cost &amp; tokens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 · vs chatbot · vs automation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MCP servers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7185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6918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4617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267712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0959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Full-Code Agents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60959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who want control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64617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24078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E2A42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3811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2"/>
          <p:cNvSpPr/>
          <p:nvPr/>
        </p:nvSpPr>
        <p:spPr>
          <a:xfrm>
            <a:off x="6515100" y="2084832"/>
            <a:ext cx="731520" cy="731520"/>
          </a:xfrm>
          <a:prstGeom prst="ellipse">
            <a:avLst/>
          </a:prstGeom>
          <a:solidFill>
            <a:srgbClr val="1A2438"/>
          </a:solidFill>
          <a:ln w="12700">
            <a:solidFill>
              <a:srgbClr val="243250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2267712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7852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Agents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7852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&amp; non-devs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515100" y="4023360"/>
            <a:ext cx="20734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10971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E2A42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060704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Shape 28"/>
          <p:cNvSpPr/>
          <p:nvPr/>
        </p:nvSpPr>
        <p:spPr>
          <a:xfrm>
            <a:off x="9384030" y="2084832"/>
            <a:ext cx="731520" cy="731520"/>
          </a:xfrm>
          <a:prstGeom prst="ellipse">
            <a:avLst/>
          </a:prstGeom>
          <a:solidFill>
            <a:srgbClr val="1A2438"/>
          </a:solidFill>
          <a:ln w="12700">
            <a:solidFill>
              <a:srgbClr val="243250"/>
            </a:solidFill>
            <a:prstDash val="solid"/>
          </a:ln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0" y="2267712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4745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Agents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4745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wanting productivity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9384030" y="4023360"/>
            <a:ext cx="20734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0025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7724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6771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066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settings, providers, cost &amp; tokens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 · vs chatbot · vs automation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MCP servers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7185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6918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4617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267712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0959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Full-Code Agents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60959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who want control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64617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24078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773811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2"/>
          <p:cNvSpPr/>
          <p:nvPr/>
        </p:nvSpPr>
        <p:spPr>
          <a:xfrm>
            <a:off x="651510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2267712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7852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Agents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7852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&amp; non-devs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51510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Make.com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Flowise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 Builder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GoHighLevel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10971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E2A42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060704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Shape 28"/>
          <p:cNvSpPr/>
          <p:nvPr/>
        </p:nvSpPr>
        <p:spPr>
          <a:xfrm>
            <a:off x="9384030" y="2084832"/>
            <a:ext cx="731520" cy="731520"/>
          </a:xfrm>
          <a:prstGeom prst="ellipse">
            <a:avLst/>
          </a:prstGeom>
          <a:solidFill>
            <a:srgbClr val="1A2438"/>
          </a:solidFill>
          <a:ln w="12700">
            <a:solidFill>
              <a:srgbClr val="243250"/>
            </a:solidFill>
            <a:prstDash val="solid"/>
          </a:ln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0" y="2267712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4745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Agents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4745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wanting productivity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9384030" y="4023360"/>
            <a:ext cx="20734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4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0025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7724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6771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066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settings, providers, cost &amp; tokens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 · vs chatbot · vs automation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MCP servers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7185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6918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4617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267712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0959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Full-Code Agents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60959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who want control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64617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24078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773811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2"/>
          <p:cNvSpPr/>
          <p:nvPr/>
        </p:nvSpPr>
        <p:spPr>
          <a:xfrm>
            <a:off x="651510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2267712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7852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Agents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7852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&amp; non-devs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51510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Make.com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Flowise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 Builder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GoHighLevel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10971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1060704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Shape 28"/>
          <p:cNvSpPr/>
          <p:nvPr/>
        </p:nvSpPr>
        <p:spPr>
          <a:xfrm>
            <a:off x="938403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0" y="2267712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4745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Agents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4745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wanting productivity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938403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&amp; extend pre-built agents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031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→ DL → GenAI → Agentic AI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 of how we got from spam filters to autonomous agents — and what each era is actually for.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44165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218688" y="4297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5661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441655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330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61888" y="4297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44165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762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705088" y="4297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90525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432" y="44165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194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Machine Learning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patterns from data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that learn rules from labeled/structured data to predict or classify — no explicit programming of the rules.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298448"/>
          </a:xfrm>
          <a:prstGeom prst="roundRect">
            <a:avLst>
              <a:gd name="adj" fmla="val 7042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vs. not-spam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/ demand forecasting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&amp; churn prediction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785616"/>
            <a:ext cx="6766560" cy="1389888"/>
          </a:xfrm>
          <a:prstGeom prst="roundRect">
            <a:avLst>
              <a:gd name="adj" fmla="val 65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9136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/ ALGORITHMS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regression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SVM, KNN, k-means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 &amp; boosting (XGBoost)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5285232"/>
            <a:ext cx="6766560" cy="932688"/>
          </a:xfrm>
          <a:prstGeom prst="roundRect">
            <a:avLst>
              <a:gd name="adj" fmla="val 980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4132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LightGBM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/ NumPy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Deep Learning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for complex data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neural networks that learn features directly from unstructured data (images, audio, text) — no manual feature engineering.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298448"/>
          </a:xfrm>
          <a:prstGeom prst="roundRect">
            <a:avLst>
              <a:gd name="adj" fmla="val 7042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classification &amp; object detection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translation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image diagnosis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785616"/>
            <a:ext cx="6766560" cy="1389888"/>
          </a:xfrm>
          <a:prstGeom prst="roundRect">
            <a:avLst>
              <a:gd name="adj" fmla="val 65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9136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/ ALGORITHMS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(vision)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RNNs, LSTMs, GRUs (sequence)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5285232"/>
            <a:ext cx="6766560" cy="932688"/>
          </a:xfrm>
          <a:prstGeom prst="roundRect">
            <a:avLst>
              <a:gd name="adj" fmla="val 980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4132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/ Keras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Generative AI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content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LLMs that generate new text, code, images, and audio by predicting patterns — reactive, prompt-driven.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298448"/>
          </a:xfrm>
          <a:prstGeom prst="roundRect">
            <a:avLst>
              <a:gd name="adj" fmla="val 7042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text, code &amp; summaries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over your docs (RAG)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/ audio generation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&amp; copilots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785616"/>
            <a:ext cx="6766560" cy="1389888"/>
          </a:xfrm>
          <a:prstGeom prst="roundRect">
            <a:avLst>
              <a:gd name="adj" fmla="val 65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9136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/ ALGORITHMS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(LLMs)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models (images)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models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5285232"/>
            <a:ext cx="6766560" cy="932688"/>
          </a:xfrm>
          <a:prstGeom prst="roundRect">
            <a:avLst>
              <a:gd name="adj" fmla="val 980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4132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Agentic AI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plan &amp; act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given tools, memory &amp; a loop — they plan, take actions, observe results, and pursue multi-step goals autonomously.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152144"/>
          </a:xfrm>
          <a:prstGeom prst="roundRect">
            <a:avLst>
              <a:gd name="adj" fmla="val 7937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research &amp; reports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trip end-to-end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tasks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automation w/ tools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639312"/>
            <a:ext cx="6766560" cy="1152144"/>
          </a:xfrm>
          <a:prstGeom prst="roundRect">
            <a:avLst>
              <a:gd name="adj" fmla="val 7937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7673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BUILDING BLOCKS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0965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LLMs (the brain)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 calling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memory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0965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&amp; reflection loops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4901184"/>
            <a:ext cx="6766560" cy="1316736"/>
          </a:xfrm>
          <a:prstGeom prst="roundRect">
            <a:avLst>
              <a:gd name="adj" fmla="val 694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0292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3583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SDK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3583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eras at a glance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07208"/>
            <a:ext cx="329184" cy="32918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2203704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40664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0664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patterns from data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0664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740664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vs. not-spam classification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364992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621024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807208"/>
            <a:ext cx="329184" cy="32918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28" name="Text 24"/>
          <p:cNvSpPr/>
          <p:nvPr/>
        </p:nvSpPr>
        <p:spPr>
          <a:xfrm>
            <a:off x="3602736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3602736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for complex data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602736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3602736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classification &amp; object detection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6227064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483096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2807208"/>
            <a:ext cx="329184" cy="329184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927848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1"/>
          <p:cNvSpPr/>
          <p:nvPr/>
        </p:nvSpPr>
        <p:spPr>
          <a:xfrm>
            <a:off x="6464808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500" dirty="0"/>
          </a:p>
        </p:txBody>
      </p:sp>
      <p:sp>
        <p:nvSpPr>
          <p:cNvPr id="37" name="Text 32"/>
          <p:cNvSpPr/>
          <p:nvPr/>
        </p:nvSpPr>
        <p:spPr>
          <a:xfrm>
            <a:off x="6464808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content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6464808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39" name="Text 34"/>
          <p:cNvSpPr/>
          <p:nvPr/>
        </p:nvSpPr>
        <p:spPr>
          <a:xfrm>
            <a:off x="6464808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text, code &amp; summaries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9089136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9345168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616" y="2807208"/>
            <a:ext cx="329184" cy="329184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10789920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44" name="Text 38"/>
          <p:cNvSpPr/>
          <p:nvPr/>
        </p:nvSpPr>
        <p:spPr>
          <a:xfrm>
            <a:off x="9326880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500" dirty="0"/>
          </a:p>
        </p:txBody>
      </p:sp>
      <p:sp>
        <p:nvSpPr>
          <p:cNvPr id="45" name="Text 39"/>
          <p:cNvSpPr/>
          <p:nvPr/>
        </p:nvSpPr>
        <p:spPr>
          <a:xfrm>
            <a:off x="9326880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plan &amp; act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9326880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47" name="Text 41"/>
          <p:cNvSpPr/>
          <p:nvPr/>
        </p:nvSpPr>
        <p:spPr>
          <a:xfrm>
            <a:off x="9326880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research &amp; reports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94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822960" y="3429000"/>
            <a:ext cx="10515600" cy="2011680"/>
          </a:xfrm>
          <a:prstGeom prst="roundRect">
            <a:avLst>
              <a:gd name="adj" fmla="val 545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370332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</a:t>
            </a:r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</a:t>
            </a:r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is an AI system trained on enormous amounts of text that </a:t>
            </a:r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next word</a:t>
            </a:r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over and over — one token at a time — to turn your text prompt into a useful text response.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2402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25856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enormous 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" y="288036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Books, code, websites — trillions of words.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8160" y="196596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2480" y="22402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2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96840" y="225856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0768" y="288036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neural-network design behind every modern LLM.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3400" y="196596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27720" y="22402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2772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022080" y="225856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machines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46008" y="288036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predict the next token, again and again.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6908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36168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→ text out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5528" y="498348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goes in, generated text comes out.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28160" y="406908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02480" y="434340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024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196840" y="436168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620768" y="498348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between calls — each request starts fresh.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53400" y="406908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27720" y="434340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2772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022080" y="436168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446008" y="498348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limit on how much text it can 'see' at once.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in, prediction out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prompt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type 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26280" y="27432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B274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 token × 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0" y="27432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953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595360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you get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7490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6352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remembers nothing between calls. Every request starts from a blank slate — the whole conversation must be re-sent each time.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46634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4652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hard limit on how much text fits in one call — prompt plus response. Exceed it and the earliest text falls out of view.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BUILDS LLMs?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Closed-source vs open-source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194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Closed-source (API only)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 —  GPT-5 / GPT-4.1 family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 —  Claude Opus &amp; Sonnet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—  Gemini 2.5 Pro / Flash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 —  Grok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(weights available)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37960" y="27889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—  Llama family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 —  DeepSeek V3 / R1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 —  Mistral / Mixtral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 —  Qwen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LLMs COST?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pricing pages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changes often — always check the source. Models are billed per million tokens, split into input and output.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23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7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868680" y="2807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openai.com/api/pricing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2402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423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7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6629400" y="2807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platform.claude.com › pricing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5204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703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700" dirty="0"/>
          </a:p>
        </p:txBody>
      </p:sp>
      <p:sp>
        <p:nvSpPr>
          <p:cNvPr id="16" name="Text 14">
            <a:hlinkClick r:id="rId3" tooltip=""/>
          </p:cNvPr>
          <p:cNvSpPr/>
          <p:nvPr/>
        </p:nvSpPr>
        <p:spPr>
          <a:xfrm>
            <a:off x="868680" y="4087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ai.google.dev/pricing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35204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703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Grok</a:t>
            </a:r>
            <a:endParaRPr lang="en-US" sz="1700" dirty="0"/>
          </a:p>
        </p:txBody>
      </p:sp>
      <p:sp>
        <p:nvSpPr>
          <p:cNvPr id="19" name="Text 17">
            <a:hlinkClick r:id="rId4" tooltip=""/>
          </p:cNvPr>
          <p:cNvSpPr/>
          <p:nvPr/>
        </p:nvSpPr>
        <p:spPr>
          <a:xfrm>
            <a:off x="6629400" y="4087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x.ai/api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8006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983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1700" dirty="0"/>
          </a:p>
        </p:txBody>
      </p:sp>
      <p:sp>
        <p:nvSpPr>
          <p:cNvPr id="22" name="Text 20">
            <a:hlinkClick r:id="rId5" tooltip=""/>
          </p:cNvPr>
          <p:cNvSpPr/>
          <p:nvPr/>
        </p:nvSpPr>
        <p:spPr>
          <a:xfrm>
            <a:off x="868680" y="5367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api-docs.deepseek.com › pricing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48006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983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</a:t>
            </a:r>
            <a:endParaRPr lang="en-US" sz="1700" dirty="0"/>
          </a:p>
        </p:txBody>
      </p:sp>
      <p:sp>
        <p:nvSpPr>
          <p:cNvPr id="25" name="Text 23">
            <a:hlinkClick r:id="rId6" tooltip=""/>
          </p:cNvPr>
          <p:cNvSpPr/>
          <p:nvPr/>
        </p:nvSpPr>
        <p:spPr>
          <a:xfrm>
            <a:off x="6629400" y="5367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mistral.ai/pricing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LLM IS BEST?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them yourself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11155680" cy="1828800"/>
          </a:xfrm>
          <a:prstGeom prst="roundRect">
            <a:avLst>
              <a:gd name="adj" fmla="val 6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3317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LMArena Leaderboard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humans vote on blind head-to-head model answers. The rankings are Elo scores — like chess ratings — and they shift constantly as new models arrive.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425196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13243F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777240" y="42519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→  arena.ai/leaderboard/text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63640" y="42519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 it. Check it monthly — not once.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057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dials that shape a response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prompt — these four knobs change what comes out. Here's each one in plain words: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9728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creativity dial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9728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= safe &amp; predictable. High = wild &amp; surprising.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2044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9476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79476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9476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budget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9476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it's allowed to say before it must stop.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9224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fixed-size shortlist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k best words are allowed to be picked.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8972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18972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8972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shortlist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or shrinks based on how sure the model is.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how a token gets chosen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every step the model outputs a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for every possible next token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settings decide how we pick from that list.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 “The cat sat on the ___”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554480" y="3200400"/>
            <a:ext cx="1188720" cy="2057400"/>
          </a:xfrm>
          <a:prstGeom prst="roundRect">
            <a:avLst>
              <a:gd name="adj" fmla="val 2308"/>
            </a:avLst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.45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1732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4343400"/>
            <a:ext cx="1188720" cy="914400"/>
          </a:xfrm>
          <a:prstGeom prst="roundRect">
            <a:avLst>
              <a:gd name="adj" fmla="val 3000"/>
            </a:avLst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108960" y="4050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6324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4572000"/>
            <a:ext cx="1188720" cy="685800"/>
          </a:xfrm>
          <a:prstGeom prst="roundRect">
            <a:avLst>
              <a:gd name="adj" fmla="val 4000"/>
            </a:avLst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0916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800600"/>
            <a:ext cx="1188720" cy="457200"/>
          </a:xfrm>
          <a:prstGeom prst="roundRect">
            <a:avLst>
              <a:gd name="adj" fmla="val 6000"/>
            </a:avLst>
          </a:prstGeom>
          <a:solidFill>
            <a:srgbClr val="F472B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4507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5508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38160" y="4983480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8FA3C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0" y="4690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00100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784080" y="5074920"/>
            <a:ext cx="1188720" cy="182880"/>
          </a:xfrm>
          <a:prstGeom prst="roundRect">
            <a:avLst>
              <a:gd name="adj" fmla="val 15000"/>
            </a:avLst>
          </a:prstGeom>
          <a:solidFill>
            <a:srgbClr val="8FA3C0"/>
          </a:solidFill>
          <a:ln/>
        </p:spPr>
      </p:sp>
      <p:sp>
        <p:nvSpPr>
          <p:cNvPr id="25" name="Text 23"/>
          <p:cNvSpPr/>
          <p:nvPr/>
        </p:nvSpPr>
        <p:spPr>
          <a:xfrm>
            <a:off x="9692640" y="4782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64692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417320" y="5257800"/>
            <a:ext cx="96926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bar is a candidate next token. Taller = more likely. They all add up to 1.0.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— random vs. focused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is the LLM's creativity dial — low plays it safe, high takes risks.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– 1.0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LLMs allow up to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0–0.3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Focused, deterministic. Facts, code, extraction.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0.4–0.7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Balanced. Most general use sits here.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0.8–2.0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Creative, varied, riskier. Brainstorming, fiction.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3337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temperature  (0.2)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3791331"/>
            <a:ext cx="566928" cy="1649349"/>
          </a:xfrm>
          <a:prstGeom prst="roundRect">
            <a:avLst>
              <a:gd name="adj" fmla="val 4839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498723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.78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19072" y="5186934"/>
            <a:ext cx="566928" cy="253746"/>
          </a:xfrm>
          <a:prstGeom prst="roundRect">
            <a:avLst>
              <a:gd name="adj" fmla="val 10811"/>
            </a:avLst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1627632" y="489432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581912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23744" y="5313807"/>
            <a:ext cx="566928" cy="126873"/>
          </a:xfrm>
          <a:prstGeom prst="roundRect">
            <a:avLst>
              <a:gd name="adj" fmla="val 21622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2432304" y="5021199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386584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8416" y="5398389"/>
            <a:ext cx="566928" cy="42291"/>
          </a:xfrm>
          <a:prstGeom prst="roundRect">
            <a:avLst>
              <a:gd name="adj" fmla="val 64865"/>
            </a:avLst>
          </a:prstGeom>
          <a:solidFill>
            <a:srgbClr val="F472B6"/>
          </a:solidFill>
          <a:ln/>
        </p:spPr>
      </p:sp>
      <p:sp>
        <p:nvSpPr>
          <p:cNvPr id="30" name="Text 28"/>
          <p:cNvSpPr/>
          <p:nvPr/>
        </p:nvSpPr>
        <p:spPr>
          <a:xfrm>
            <a:off x="3236976" y="510578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191256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33088" y="5404104"/>
            <a:ext cx="566928" cy="36576"/>
          </a:xfrm>
          <a:prstGeom prst="roundRect">
            <a:avLst>
              <a:gd name="adj" fmla="val 75000"/>
            </a:avLst>
          </a:prstGeom>
          <a:solidFill>
            <a:srgbClr val="8FA3C0"/>
          </a:solidFill>
          <a:ln/>
        </p:spPr>
      </p:sp>
      <p:sp>
        <p:nvSpPr>
          <p:cNvPr id="33" name="Text 31"/>
          <p:cNvSpPr/>
          <p:nvPr/>
        </p:nvSpPr>
        <p:spPr>
          <a:xfrm>
            <a:off x="4041648" y="51114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.01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95928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5404104"/>
            <a:ext cx="566928" cy="36576"/>
          </a:xfrm>
          <a:prstGeom prst="roundRect">
            <a:avLst>
              <a:gd name="adj" fmla="val 75000"/>
            </a:avLst>
          </a:prstGeom>
          <a:solidFill>
            <a:srgbClr val="8FA3C0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51114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.01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0060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5440680"/>
            <a:ext cx="4864608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715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almost always “mat”. Predictable.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3337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temperature  (1.2)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675120" y="4848606"/>
            <a:ext cx="566928" cy="592074"/>
          </a:xfrm>
          <a:prstGeom prst="roundRect">
            <a:avLst>
              <a:gd name="adj" fmla="val 4839"/>
            </a:avLst>
          </a:prstGeom>
          <a:solidFill>
            <a:srgbClr val="38BDF8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0" y="45559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3796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479792" y="4996625"/>
            <a:ext cx="566928" cy="444055"/>
          </a:xfrm>
          <a:prstGeom prst="roundRect">
            <a:avLst>
              <a:gd name="adj" fmla="val 6178"/>
            </a:avLst>
          </a:prstGeom>
          <a:solidFill>
            <a:srgbClr val="34D399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704017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.21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342632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284464" y="5060061"/>
            <a:ext cx="566928" cy="380619"/>
          </a:xfrm>
          <a:prstGeom prst="roundRect">
            <a:avLst>
              <a:gd name="adj" fmla="val 7207"/>
            </a:avLst>
          </a:prstGeom>
          <a:solidFill>
            <a:srgbClr val="FBBF24"/>
          </a:solidFill>
          <a:ln/>
        </p:spPr>
      </p:sp>
      <p:sp>
        <p:nvSpPr>
          <p:cNvPr id="48" name="Text 46"/>
          <p:cNvSpPr/>
          <p:nvPr/>
        </p:nvSpPr>
        <p:spPr>
          <a:xfrm>
            <a:off x="8193024" y="4767453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.18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147304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9136" y="5123498"/>
            <a:ext cx="566928" cy="317183"/>
          </a:xfrm>
          <a:prstGeom prst="roundRect">
            <a:avLst>
              <a:gd name="adj" fmla="val 8649"/>
            </a:avLst>
          </a:prstGeom>
          <a:solidFill>
            <a:srgbClr val="F472B6"/>
          </a:solidFill>
          <a:ln/>
        </p:spPr>
      </p:sp>
      <p:sp>
        <p:nvSpPr>
          <p:cNvPr id="51" name="Text 49"/>
          <p:cNvSpPr/>
          <p:nvPr/>
        </p:nvSpPr>
        <p:spPr>
          <a:xfrm>
            <a:off x="8997696" y="483089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951976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893808" y="5229225"/>
            <a:ext cx="566928" cy="211455"/>
          </a:xfrm>
          <a:prstGeom prst="roundRect">
            <a:avLst>
              <a:gd name="adj" fmla="val 12973"/>
            </a:avLst>
          </a:prstGeom>
          <a:solidFill>
            <a:srgbClr val="8FA3C0"/>
          </a:solidFill>
          <a:ln/>
        </p:spPr>
      </p:sp>
      <p:sp>
        <p:nvSpPr>
          <p:cNvPr id="54" name="Text 52"/>
          <p:cNvSpPr/>
          <p:nvPr/>
        </p:nvSpPr>
        <p:spPr>
          <a:xfrm>
            <a:off x="9802368" y="4936617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756648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98480" y="5271516"/>
            <a:ext cx="566928" cy="169164"/>
          </a:xfrm>
          <a:prstGeom prst="roundRect">
            <a:avLst>
              <a:gd name="adj" fmla="val 16216"/>
            </a:avLst>
          </a:prstGeom>
          <a:solidFill>
            <a:srgbClr val="8FA3C0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497890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.08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56132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537960" y="5440680"/>
            <a:ext cx="4864608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0" y="5715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of several words. Varied, surprising.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 — the length cap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 is the word budget — how much the model is allowed to say before it must stop.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context limit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up to 4k–64k+ depending on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tens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replies, snippets. Risk: cut off.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hundreds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Paragraphs, normal answers.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thousands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docs, full reports. Higher cost.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3756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 = 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91840" y="341071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cat sat on the”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869680" y="341071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off mid-sentence — ran out of room.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25196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43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 = 30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432511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cat sat on the mat and watched the rain.”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869680" y="432511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short answer.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16636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257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 = 500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91840" y="523951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paragraph or more…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869680" y="523951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Plenty of room; stops when naturally done.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2179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token ≈ ¾ of a word in English. Cost is billed per token, so this also caps cost.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— keep the k likeliest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is a shortlist of fixed size — only the k best words are allowed in the running.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vocab size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unset = disabled (no limit)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1–10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focused, safe. k=1 = always the top token.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20–50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default range.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100+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Loose; little filtering effect.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291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= 3   →   only “mat”, “rug”, “floor” survive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554480" y="3872484"/>
            <a:ext cx="1188720" cy="1522476"/>
          </a:xfrm>
          <a:prstGeom prst="roundRect">
            <a:avLst>
              <a:gd name="adj" fmla="val 2308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1463040" y="35798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1732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4718304"/>
            <a:ext cx="1188720" cy="676656"/>
          </a:xfrm>
          <a:prstGeom prst="roundRect">
            <a:avLst>
              <a:gd name="adj" fmla="val 4054"/>
            </a:avLst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425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06324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4887468"/>
            <a:ext cx="1188720" cy="507492"/>
          </a:xfrm>
          <a:prstGeom prst="roundRect">
            <a:avLst>
              <a:gd name="adj" fmla="val 5405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45948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5056632"/>
            <a:ext cx="1188720" cy="338328"/>
          </a:xfrm>
          <a:prstGeom prst="roundRect">
            <a:avLst>
              <a:gd name="adj" fmla="val 8108"/>
            </a:avLst>
          </a:prstGeom>
          <a:solidFill>
            <a:srgbClr val="24325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7640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38160" y="5191963"/>
            <a:ext cx="1188720" cy="202997"/>
          </a:xfrm>
          <a:prstGeom prst="roundRect">
            <a:avLst>
              <a:gd name="adj" fmla="val 13514"/>
            </a:avLst>
          </a:prstGeom>
          <a:solidFill>
            <a:srgbClr val="243250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0" y="489935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0100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784080" y="5259629"/>
            <a:ext cx="1188720" cy="135331"/>
          </a:xfrm>
          <a:prstGeom prst="roundRect">
            <a:avLst>
              <a:gd name="adj" fmla="val 20270"/>
            </a:avLst>
          </a:prstGeom>
          <a:solidFill>
            <a:srgbClr val="243250"/>
          </a:solidFill>
          <a:ln/>
        </p:spPr>
      </p:sp>
      <p:sp>
        <p:nvSpPr>
          <p:cNvPr id="36" name="Text 34"/>
          <p:cNvSpPr/>
          <p:nvPr/>
        </p:nvSpPr>
        <p:spPr>
          <a:xfrm>
            <a:off x="9692640" y="4967021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4692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17320" y="5394960"/>
            <a:ext cx="96926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80160" y="5760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989320" y="3703320"/>
            <a:ext cx="0" cy="1691640"/>
          </a:xfrm>
          <a:prstGeom prst="line">
            <a:avLst/>
          </a:prstGeom>
          <a:noFill/>
          <a:ln w="19050">
            <a:solidFill>
              <a:srgbClr val="F472B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k is fixed. If the model is very confident, k=3 still drags in unlikely words; if it's unsure, k=3 may cut good ones.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— keep the smallest set that adds up to p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is a smart shortlist that grows or shrinks based on how sure the model 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– 1.0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= consider all tokens (off)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0.1–0.5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Tight, safe. Only the very top tokens.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0.8–0.95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default. Good balance.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~1.0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in play; most diverse.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291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= 0.80   →   add mat(.45) + rug(.20) + floor(.15) = .80  ✓  stop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1554480" y="3867912"/>
            <a:ext cx="1188720" cy="1481328"/>
          </a:xfrm>
          <a:prstGeom prst="roundRect">
            <a:avLst>
              <a:gd name="adj" fmla="val 2308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1463040" y="3575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1732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4690872"/>
            <a:ext cx="1188720" cy="658368"/>
          </a:xfrm>
          <a:prstGeom prst="roundRect">
            <a:avLst>
              <a:gd name="adj" fmla="val 4167"/>
            </a:avLst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398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06324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4855464"/>
            <a:ext cx="1188720" cy="493776"/>
          </a:xfrm>
          <a:prstGeom prst="roundRect">
            <a:avLst>
              <a:gd name="adj" fmla="val 5556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45628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5020056"/>
            <a:ext cx="1188720" cy="329184"/>
          </a:xfrm>
          <a:prstGeom prst="roundRect">
            <a:avLst>
              <a:gd name="adj" fmla="val 8333"/>
            </a:avLst>
          </a:prstGeom>
          <a:solidFill>
            <a:srgbClr val="24325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727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38160" y="5151730"/>
            <a:ext cx="1188720" cy="197510"/>
          </a:xfrm>
          <a:prstGeom prst="roundRect">
            <a:avLst>
              <a:gd name="adj" fmla="val 13889"/>
            </a:avLst>
          </a:prstGeom>
          <a:solidFill>
            <a:srgbClr val="243250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0" y="485912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0100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784080" y="5217566"/>
            <a:ext cx="1188720" cy="131674"/>
          </a:xfrm>
          <a:prstGeom prst="roundRect">
            <a:avLst>
              <a:gd name="adj" fmla="val 20833"/>
            </a:avLst>
          </a:prstGeom>
          <a:solidFill>
            <a:srgbClr val="243250"/>
          </a:solidFill>
          <a:ln/>
        </p:spPr>
      </p:sp>
      <p:sp>
        <p:nvSpPr>
          <p:cNvPr id="36" name="Text 34"/>
          <p:cNvSpPr/>
          <p:nvPr/>
        </p:nvSpPr>
        <p:spPr>
          <a:xfrm>
            <a:off x="9692640" y="492495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4692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17320" y="5349240"/>
            <a:ext cx="96926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463040" y="5715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.45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108960" y="5715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.65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754880" y="5715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.80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989320" y="3703320"/>
            <a:ext cx="0" cy="1645920"/>
          </a:xfrm>
          <a:prstGeom prst="line">
            <a:avLst/>
          </a:prstGeom>
          <a:noFill/>
          <a:ln w="19050">
            <a:solidFill>
              <a:srgbClr val="F472B6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better than top-k: confident step → keeps few tokens; uncertain step → keeps more. It adapts.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945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vs. User Prompt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instructions go into every LLM call — one you set once, one the user types each time.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8872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developer · once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42062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PROMPT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by the user · every time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prompts, two jobs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103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275234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the developer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5021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20240" y="346557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once, behind the scenes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2153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4178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who the AI is and how it should behave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983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07492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helpful medical assistant. Be concise, never diagnose, always suggest seeing a doctor.”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63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2103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Prompt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2940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680960" y="275234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the end user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29400" y="35021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80960" y="346557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fresh with every message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29400" y="42153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680960" y="4178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question or request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29400" y="4983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507492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a headache and a slight fever. What could it be?”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reach the LLM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user sends a message, the system prompt is silently prepended. The LLM receives both as one combined input.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852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 by developer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helpful tutor…”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297680" y="233172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9768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PROMPT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0" y="2852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each message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 recursion.”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7955280" y="23317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3243F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5528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INPUT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5528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system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 </a:t>
            </a:r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55280" y="3246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as one payload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89720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7955280" y="429768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955280" y="4480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955280" y="48646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both as a single context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297680"/>
            <a:ext cx="6675120" cy="1417320"/>
          </a:xfrm>
          <a:prstGeom prst="roundRect">
            <a:avLst>
              <a:gd name="adj" fmla="val 6452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480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773168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system prompt is re-sent with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 message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because the LLM is stateless and remembers nothing. It's not stored on the model; it's resent each time, invisibly, in front of the user's text.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2860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great system prompt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proven techniques, length tradeoffs, and hard-won tips from real projects.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balance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1540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tips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a system prompt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system prompt is built from a few standard ingredients: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4140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7980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AI is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0040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2004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senior Python tutor.”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0" y="242316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69480" y="24140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&amp; tone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269480" y="27980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should sound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0" y="320040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32004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encouraging, patient, and concise.”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2062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52628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08760" y="4517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08760" y="49011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do, step by step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2960" y="530352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5303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 with an example, then a quiz.”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2062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83680" y="452628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69480" y="4517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&amp; limits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269480" y="49011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must NOT do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583680" y="530352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5303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write the student's homework for them.”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techniques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techniques you'll reach for again and again — we'll take each one in turn: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9572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27048" y="24505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31546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ask — no examples.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15968" y="21031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36008" y="239572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340096" y="24505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1546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few examples first.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9016" y="21031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49056" y="239572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53144" y="24505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49056" y="31546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step by step.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414016" y="42062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34056" y="449884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34056" y="4498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3438144" y="4553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of Thoughts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734056" y="52578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multiple paths, pick best.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27064" y="42062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47104" y="449884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47104" y="4498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251192" y="4553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prompting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547104" y="52578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expert persona.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1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do a task with no examples at all.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3959352"/>
          </a:xfrm>
          <a:prstGeom prst="roundRect">
            <a:avLst>
              <a:gd name="adj" fmla="val 2771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2679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give only the instruction and the input.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relies entirely on what it already learned in training.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and shortest — but can be less reliable on tricky or niche tasks.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51383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5138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common tasks the model clearly knows.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3959352"/>
          </a:xfrm>
          <a:prstGeom prst="roundRect">
            <a:avLst>
              <a:gd name="adj" fmla="val 2771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691640"/>
          </a:xfrm>
          <a:prstGeom prst="roundRect">
            <a:avLst>
              <a:gd name="adj" fmla="val 3243"/>
            </a:avLst>
          </a:prstGeom>
          <a:solidFill>
            <a:srgbClr val="0B122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 the sentiment of this review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Positive or Negative: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food was cold and the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was slow."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0292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285232"/>
            <a:ext cx="5806440" cy="777240"/>
          </a:xfrm>
          <a:prstGeom prst="roundRect">
            <a:avLst>
              <a:gd name="adj" fmla="val 7059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285232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Negative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2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handful of examples first, then give the real task.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370832"/>
          </a:xfrm>
          <a:prstGeom prst="roundRect">
            <a:avLst>
              <a:gd name="adj" fmla="val 251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demonstrate the pattern with 2–5 examples.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copies the format and logic of your examples.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enforcing a specific output style or a tricky mapping.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92531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9253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a specific format or style.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370832"/>
          </a:xfrm>
          <a:prstGeom prst="roundRect">
            <a:avLst>
              <a:gd name="adj" fmla="val 251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965960"/>
          </a:xfrm>
          <a:prstGeom prst="roundRect">
            <a:avLst>
              <a:gd name="adj" fmla="val 2791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a workout plan using this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Goal: Strength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Warm-up: 5 min rowing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Main: Squats, deadlifts, bench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Cool-down: Hamstring stretch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Goal: Fat loss →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3035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559552"/>
            <a:ext cx="5806440" cy="9144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559552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Warm-up: 5 min jump rope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Main: HIIT circuit, burpees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Cool-down: Light walk + stretch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3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 before answering.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096512"/>
          </a:xfrm>
          <a:prstGeom prst="roundRect">
            <a:avLst>
              <a:gd name="adj" fmla="val 2679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add a cue like "think step by step."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writes out its reasoning, then the final answer.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improves math, logic, and multi-step problems.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65099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5099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Math, logic, multi-step reasoning.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096512"/>
          </a:xfrm>
          <a:prstGeom prst="roundRect">
            <a:avLst>
              <a:gd name="adj" fmla="val 26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0B1220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Q: A shop has 3 boxes of 12 apples.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sells 20. How many remain?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Let's think step by step.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475488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010912"/>
            <a:ext cx="5806440" cy="1188720"/>
          </a:xfrm>
          <a:prstGeom prst="roundRect">
            <a:avLst>
              <a:gd name="adj" fmla="val 4615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010912"/>
            <a:ext cx="544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× 12 = 36 apples total.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36 − 20 = 16 sold... wait, remaining.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Answer: 16 apples.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4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of Thoughts (ToT)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explores several reasoning paths, then picks the best.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096512"/>
          </a:xfrm>
          <a:prstGeom prst="roundRect">
            <a:avLst>
              <a:gd name="adj" fmla="val 2679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 chain, it branches into multiple candidate ideas.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is explored and evaluated against the goal.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branches are pruned; the strongest path wins.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compute, but better for hard, open-ended problems.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65099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5099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problems with many possible approaches.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096512"/>
          </a:xfrm>
          <a:prstGeom prst="roundRect">
            <a:avLst>
              <a:gd name="adj" fmla="val 26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0B1220"/>
          </a:solidFill>
          <a:ln w="9525">
            <a:solidFill>
              <a:srgbClr val="F472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a 3-day trip. Propose 3 different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itineraries, evaluate each, then pick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best one and explain why.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475488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010912"/>
            <a:ext cx="5806440" cy="1188720"/>
          </a:xfrm>
          <a:prstGeom prst="roundRect">
            <a:avLst>
              <a:gd name="adj" fmla="val 4615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010912"/>
            <a:ext cx="544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A: beaches · Path B: culture ·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C: mix. Evaluating... Path C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balances cost &amp; variety. → Choose C.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5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the model a detailed expert persona to shape its answers.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416552"/>
          </a:xfrm>
          <a:prstGeom prst="roundRect">
            <a:avLst>
              <a:gd name="adj" fmla="val 2484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richer the role, the more specialized the output.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out niche specialization, experience, and how the expert works.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adopts the vocabulary, depth, and method of that role.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combined with the other techniques above.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97103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9710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expertise, tone, or domain framing matters.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416552"/>
          </a:xfrm>
          <a:prstGeom prst="roundRect">
            <a:avLst>
              <a:gd name="adj" fmla="val 248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219456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board-certified sports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physiotherapist, 15 years treating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marathon runners. You specialize in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overuse knee injuries. You always: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Ask about pain location &amp; history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Reason from biomechanics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Give a staged rehab plan, never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a one-size-fits-all answer.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Runner: outer-knee pain at mile 8.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5321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788152"/>
            <a:ext cx="5806440" cy="731520"/>
          </a:xfrm>
          <a:prstGeom prst="roundRect">
            <a:avLst>
              <a:gd name="adj" fmla="val 7500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788152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Likely IT band friction—where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exactly? Stage 1: deload + foam roll...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should it be?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Remember: the system prompt is re-sent with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 message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Length is a real tradeoff — it costs tokens and latency on every call.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4688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SHORT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Vague, under-specified. The model guesses and behaves inconsistently.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21C30"/>
          </a:solidFill>
          <a:ln w="2222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53712" y="24688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53712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53712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detail to be reliable, lean enough to stay cheap and fast. Aim 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5864" y="22860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30184" y="24688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30184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30184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Bloated. Higher cost &amp; latency on every message, and the model may lose focus.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11155680" cy="1051560"/>
          </a:xfrm>
          <a:prstGeom prst="roundRect">
            <a:avLst>
              <a:gd name="adj" fmla="val 8696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919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THUMB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everything the model needs to behave correctly — and nothing it doesn't. Every extra sentence is paid for on every message.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good prompts (1/3)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48256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1956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iterative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94960" y="195681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rarely nail it first try. Expect hit-and-trial before a prompt feels right.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072384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29809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models, different prompts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94960" y="298094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tuned for one model often needs rework for another.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877056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40050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your prompts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94960" y="4005072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prompt versions — track what changed and why, like code.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901184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12064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repeat instructions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94960" y="50292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the same thing twice adds noise and can confuse the model.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good prompts (2/3)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48256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19568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Organize, don't scatter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95681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related instructions. Don't drop them in randomly.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072384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29809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lists or XML tags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980944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sections with bullet lists or &lt;tags&gt; — LLMs parse structure better.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877056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400507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for emphasis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400507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really matters, write the key word in CAPITALS.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901184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12064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stuff first &amp; last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50292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long prompt, put the most critical points at the start AND the end.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positively (3/3)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LLMs follow </a:t>
            </a:r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instructions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better than negative ones. Tell the model what TO do, not just what to avoid.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INSTEAD OF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WRITE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060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be harsh.”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15000" y="2606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2606040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0604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polite and supportive.”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447288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44728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write long answers.”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344728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400800" y="344728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344728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answers short and to the point.”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4288536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28853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use jargon.”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15000" y="428853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400800" y="4288536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288536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simple, everyday language.”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" y="5129784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51297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ignore the context.”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15000" y="512978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00800" y="5129784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512978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“Always ground your answer in the context.”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hard-code secrets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905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057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 RULE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pass sensitive information, data, or secret instructions directly in the system prompt.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dangerous: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6675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can leak — users can trick the model into revealing them (prompt injection).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passwords &amp; secrets don't belong in text sent to a third-party model.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resent every message — more exposure, more logs, more risk.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589520" y="406908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4251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63840" y="4572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Keep secrets in environment variables or a secure vault. Give the agent a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that uses them — the model calls the tool without ever seeing the secret.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488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LLMs return data, not prose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read paragraphs — they need clean, predictable data. Structured output makes the model return JSON your code can trust.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512064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PROSE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46634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"Sure! The user's name is Ali and he's 28 years old."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4114800"/>
            <a:ext cx="512064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STRUCTURED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4709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"name": "Ali", "age": 28 }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need 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chatbot can answer in prose — a human reads it. But an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feeds its output to code: another function, another model, an API. Code can't reliably read a sentence — it needs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predictable data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PROSE  →  code can't parse it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"Sure! Ali is 28 and lives in Lahore. 😊"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42519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user.age   →  undefined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user.city  →  undefined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JSON.parse() →  ✗ throws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7889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STRUCTURED  →  code just works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92240" y="34290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"name": "Ali",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"age": 28,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"city": "Lahore" }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user.age   →  28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user.city  →  "Lahore"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JSON.parse() →  ✓ clean object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get structure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do it — one you ask for, one that's enforced. The second is the part most people miss: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743200"/>
            <a:ext cx="640080" cy="640080"/>
          </a:xfrm>
          <a:prstGeom prst="ellipse">
            <a:avLst/>
          </a:prstGeom>
          <a:solidFill>
            <a:srgbClr val="1B2740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78308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prompting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simply ask the model for JSON in the prompt.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21040" y="278892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· but no guarantee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406908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2222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B2740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783080" y="43891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“magic” method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783080" y="49377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decoding forces valid tokens at each step.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21040" y="457200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· format enforced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1 /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VERDICT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most of the time — but nothing is guaranteed.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5440680" cy="1828800"/>
          </a:xfrm>
          <a:prstGeom prst="roundRect">
            <a:avLst>
              <a:gd name="adj" fmla="val 500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4505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"Respond ONLY in JSON with keys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name and age. No other text."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265176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relies on what it learned in training to follow format instructions. You're asking — and hoping.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BREAK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8006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chatty prose: "Sure! Here's your JSON…"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it in ```json markdown fences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extra fields you didn't ask for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JSON syntax — a missing quote or comma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/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 method — constrained decoding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Remember: an LLM never "writes text." At each step it outputs a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over every token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one is sampled. Structured-output systems intercept that step.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Model's raw scores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 over ALL tokens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23774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B274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mask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634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→ legal tokens only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1040" y="23774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0392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 what's allowed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11155680" cy="1691640"/>
          </a:xfrm>
          <a:prstGeom prst="roundRect">
            <a:avLst>
              <a:gd name="adj" fmla="val 5405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IDEA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6177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system applies a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mask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every token that would break the schema has its probability set to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(−∞ on the logits)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before sampling. So if the JSON grammar says "after { the only legal thing is a quoted key or }," the model is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incapable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of emitting anything else. The format isn't requested — it's ENFORCED.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/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logit mask, step by step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state:  we've just emitted  {  — the grammar now allows only a quoted key or a closing brace.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3022600"/>
            <a:ext cx="1325880" cy="1869440"/>
          </a:xfrm>
          <a:prstGeom prst="roundRect">
            <a:avLst>
              <a:gd name="adj" fmla="val 2759"/>
            </a:avLst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729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4050792"/>
            <a:ext cx="1325880" cy="841248"/>
          </a:xfrm>
          <a:prstGeom prst="roundRect">
            <a:avLst>
              <a:gd name="adj" fmla="val 4348"/>
            </a:avLst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375818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6320" y="3957320"/>
            <a:ext cx="1325880" cy="934720"/>
          </a:xfrm>
          <a:prstGeom prst="roundRect">
            <a:avLst>
              <a:gd name="adj" fmla="val 3913"/>
            </a:avLst>
          </a:prstGeom>
          <a:solidFill>
            <a:srgbClr val="24325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6647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0916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629400" y="4331208"/>
            <a:ext cx="1325880" cy="560832"/>
          </a:xfrm>
          <a:prstGeom prst="roundRect">
            <a:avLst>
              <a:gd name="adj" fmla="val 6522"/>
            </a:avLst>
          </a:prstGeom>
          <a:solidFill>
            <a:srgbClr val="24325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0386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412480" y="4611624"/>
            <a:ext cx="1325880" cy="280416"/>
          </a:xfrm>
          <a:prstGeom prst="roundRect">
            <a:avLst>
              <a:gd name="adj" fmla="val 13043"/>
            </a:avLst>
          </a:prstGeom>
          <a:solidFill>
            <a:srgbClr val="243250"/>
          </a:solidFill>
          <a:ln/>
        </p:spPr>
      </p:sp>
      <p:sp>
        <p:nvSpPr>
          <p:cNvPr id="25" name="Text 23"/>
          <p:cNvSpPr/>
          <p:nvPr/>
        </p:nvSpPr>
        <p:spPr>
          <a:xfrm>
            <a:off x="8321040" y="43190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7532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7532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195560" y="4705096"/>
            <a:ext cx="1325880" cy="186944"/>
          </a:xfrm>
          <a:prstGeom prst="roundRect">
            <a:avLst>
              <a:gd name="adj" fmla="val 19565"/>
            </a:avLst>
          </a:prstGeom>
          <a:solidFill>
            <a:srgbClr val="24325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04120" y="4412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97280" y="4892040"/>
            <a:ext cx="106070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tokens (prose, markdown, numbers) are zeroed out — only schema-valid tokens survive to be sampled.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/ 2 · UNDER THE HOOD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powers the magic method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Two things combine. Providers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models on huge amounts of tool-use and JSON (so they lean toward valid structure), then apply </a:t>
            </a:r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decoding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on top to enforce 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871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788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you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"JSON mode"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or pass a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schema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to OpenAI or Anthropic, it's usually BOTH at once: a model trained toward structure, plus constrained decoding enforcing it under the hood.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749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LIBRARIES THAT ENFORCE STRUCTURE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1148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regex &amp; JSON schemas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41148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4224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· templated generation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50292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 GBNF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grammar-based sampling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50292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outputs at serving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extraction with a schema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text in → guaranteed schema out. The shape is enforced; the model only fills the values.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042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 ·  raw email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6517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"Hi, this is Ayesha Malik, I'd like to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table for 4 this Friday at 7pm.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number is 0300-1234567."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 ·  what you require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257860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name: string,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party_size: integer,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day: string,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time: string,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phone: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11155680" cy="1965960"/>
          </a:xfrm>
          <a:prstGeom prst="roundRect">
            <a:avLst>
              <a:gd name="adj" fmla="val 4651"/>
            </a:avLst>
          </a:prstGeom>
          <a:solidFill>
            <a:srgbClr val="0B122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4251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GUARANTEED OUTPUT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535424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"name": "Ayesha Malik",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"party_size": 4,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"day": "Friday",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"time": "19:00",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"phone": "0300-1234567"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you'll use it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5528" y="235000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36829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extraction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95528" y="297180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clean fields from messy text — invoices, emails, resumes.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19016" y="205740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1624" y="235000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1624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187696" y="236829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11624" y="297180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fixed label your code can switch on: {intent: "refund"}.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5112" y="205740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27720" y="235000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27720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03792" y="236829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workflow pipelines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27720" y="297180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model's output becomes another model's — or an app's — input.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6052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5528" y="445312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47141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Templated data generation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95528" y="507492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rows, records, or config that always match a fixed shape.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319016" y="416052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11624" y="445312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1624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187696" y="447141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artifact rendering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4611624" y="507492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JSON a UI maps straight to cards, charts, or forms.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135112" y="416052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27720" y="445312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27720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003792" y="447141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tool invocation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8427720" y="507492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tools clean, valid arguments — the core of agent tool calling.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488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LLMs take action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concept that turns a text generator into an agent. Everything in agentic AI is built on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840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40050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TOOLS  ·  text in, text out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480060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006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423160" y="480060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48006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51960" y="4800600"/>
            <a:ext cx="1417320" cy="685800"/>
          </a:xfrm>
          <a:prstGeom prst="roundRect">
            <a:avLst>
              <a:gd name="adj" fmla="val 10667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4800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057400" y="5138928"/>
            <a:ext cx="365760" cy="0"/>
          </a:xfrm>
          <a:prstGeom prst="line">
            <a:avLst/>
          </a:prstGeom>
          <a:noFill/>
          <a:ln w="22225">
            <a:solidFill>
              <a:srgbClr val="8FA3C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5138928"/>
            <a:ext cx="365760" cy="0"/>
          </a:xfrm>
          <a:prstGeom prst="line">
            <a:avLst/>
          </a:prstGeom>
          <a:noFill/>
          <a:ln w="22225">
            <a:solidFill>
              <a:srgbClr val="8FA3C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77240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 in the box — no live data, no actions.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840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92240" y="40050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TOOLS  ·  reaches out &amp; acts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0" y="480060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B2740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800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012680" y="437083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12680" y="43708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🌦️ API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5184648"/>
            <a:ext cx="1874520" cy="-585216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12680" y="4956048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12680" y="49560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DB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184648"/>
            <a:ext cx="187452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12680" y="5541264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12680" y="554126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Web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5184648"/>
            <a:ext cx="1874520" cy="585216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492240" y="5596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real tools — fetches data, takes actions.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 (you already know the trick)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Here's the secret: a tool call is just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 disguise. The model doesn't run anything — it returns clean JSON saying which function to call and with what arguments. YOUR code runs it.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423160"/>
            <a:ext cx="5440680" cy="1828800"/>
          </a:xfrm>
          <a:prstGeom prst="roundRect">
            <a:avLst>
              <a:gd name="adj" fmla="val 5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786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  ·  last lecture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907792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name &amp; age as JSON."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"name": "Ali",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"age": 28 }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423160"/>
            <a:ext cx="5440680" cy="1828800"/>
          </a:xfrm>
          <a:prstGeom prst="roundRect">
            <a:avLst>
              <a:gd name="adj" fmla="val 5000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5786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  ·  same idea!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2907792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the weather in Lahore."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"tool": "get_weather",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"args": { "city": "Lahore" } }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0644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452628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7091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Same mechanism, new purpose: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gives you DATA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; a tool call uses that same structure to name an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for your code to perform. The model is the brain choosing the tool; your code is the hands.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visualized (ReAct)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forms a cycle: the model THINKS, takes an ACTION (a tool call), reads the OBSERVATION, and loops — until it's ready to ANSWER.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554480" y="22402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121C30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554480" y="2240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88720" y="3154680"/>
            <a:ext cx="2743200" cy="1645920"/>
          </a:xfrm>
          <a:prstGeom prst="diamond">
            <a:avLst/>
          </a:prstGeom>
          <a:solidFill>
            <a:srgbClr val="13243F"/>
          </a:solidFill>
          <a:ln w="2222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31546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5440680"/>
            <a:ext cx="1554480" cy="685800"/>
          </a:xfrm>
          <a:prstGeom prst="roundRect">
            <a:avLst>
              <a:gd name="adj" fmla="val 24000"/>
            </a:avLst>
          </a:prstGeom>
          <a:solidFill>
            <a:srgbClr val="121C3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5440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502920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121C3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50292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560320" y="2926080"/>
            <a:ext cx="0" cy="22860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4617720"/>
            <a:ext cx="137160" cy="822960"/>
          </a:xfrm>
          <a:prstGeom prst="line">
            <a:avLst/>
          </a:prstGeom>
          <a:noFill/>
          <a:ln w="25400">
            <a:solidFill>
              <a:srgbClr val="F472B6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57200" y="45720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194560" y="5440680"/>
            <a:ext cx="-548640" cy="-73152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28800" y="5029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0" y="4114800"/>
            <a:ext cx="868680" cy="914400"/>
          </a:xfrm>
          <a:prstGeom prst="line">
            <a:avLst/>
          </a:prstGeom>
          <a:noFill/>
          <a:ln w="25400">
            <a:solidFill>
              <a:srgbClr val="8FA3C0"/>
            </a:solidFill>
            <a:prstDash val="dash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949440" y="23317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25328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6680" y="2441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tools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26680" y="27523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+ arguments, as a JSON schema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49440" y="32461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78040" y="34472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26680" y="33558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requests a call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726680" y="36667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JSON, not text: which tool + args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949440" y="41605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8040" y="43616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26680" y="4270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runs 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726680" y="45811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API call / DB query happens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949440" y="50749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78040" y="52760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2668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→ answer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26680" y="54955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goes back; model replies to user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Thought→Action→Observation cycle repeats until the model can answer. That loop IS the agent.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could write — but not act. One feature changed everything, and the whole field has built on it since.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60120" y="2121408"/>
            <a:ext cx="0" cy="3621024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392" y="2011680"/>
            <a:ext cx="219456" cy="219456"/>
          </a:xfrm>
          <a:prstGeom prst="ellipse">
            <a:avLst/>
          </a:prstGeom>
          <a:solidFill>
            <a:srgbClr val="2B3A57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19933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2023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063240" y="19751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generate text only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but locked in a box — no live data, no actions.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50392" y="2615184"/>
            <a:ext cx="219456" cy="219456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13, 2023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3240" y="25786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introduces Function Calling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254203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&amp; GPT-4 can output a structured call to developer-defined functions.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50392" y="3218688"/>
            <a:ext cx="219456" cy="21945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32004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2023–24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063240" y="318211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follows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40880" y="314553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(Gemini), Anthropic (Claude) &amp; others ship their own tool-calling APIs.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50392" y="3822192"/>
            <a:ext cx="219456" cy="219456"/>
          </a:xfrm>
          <a:prstGeom prst="ellipse">
            <a:avLst/>
          </a:prstGeom>
          <a:solidFill>
            <a:srgbClr val="FBBF24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38039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063240" y="378561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standardizes 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Model Context Protocol — write a tool once, use it across models.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0392" y="4425696"/>
            <a:ext cx="219456" cy="219456"/>
          </a:xfrm>
          <a:prstGeom prst="ellipse">
            <a:avLst/>
          </a:prstGeom>
          <a:solidFill>
            <a:srgbClr val="F472B6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44074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→ 2025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3240" y="43891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bloom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40880" y="43525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LangChain, LangGraph, OpenAI Agents SDK, Google ADK, Anthropic SDK.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" y="5029200"/>
            <a:ext cx="219456" cy="219456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501091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2026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063240" y="49926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agents &amp; visual builders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40880" y="495604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Claude Cowork, Manus, Open Code/Work, n8n, OpenAI Agent Builder — all built on tool calling + MCP.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50392" y="5632704"/>
            <a:ext cx="219456" cy="21945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80160" y="56144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onwards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063240" y="559612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agents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40880" y="55595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OpenClaw, Hermes — agents that act for you. Same foundation underneath.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wave above — frameworks, general agents, personal agents — is still the same tool-calling loop underneath.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you know runs on 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products feel like magic — but underneath, each one is the tool-calling loop applied to different tools: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33172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281635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web search, code, image tools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19016" y="210312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39056" y="233172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9056" y="281635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read-file, edit-file, run-terminal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5112" y="210312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55152" y="233172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55152" y="281635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file, shell &amp; git tools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79476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22960" y="427939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docs, sheets &amp; app tools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9016" y="356616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39056" y="379476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639056" y="427939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browser &amp; computer tools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135112" y="356616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55152" y="379476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455152" y="427939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APIs &amp; app integrations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52120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tools, same engine. Learn the loop once, and every one of these stops being magic.</a:t>
            </a:r>
            <a:endParaRPr lang="en-US" sz="13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weather question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11155680" cy="640080"/>
          </a:xfrm>
          <a:prstGeom prst="roundRect">
            <a:avLst>
              <a:gd name="adj" fmla="val 14286"/>
            </a:avLst>
          </a:prstGeom>
          <a:solidFill>
            <a:srgbClr val="13243F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087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USER: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weather in Lahore right now?"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TOOL DEFINED (by you)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9864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89864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get_weather(city: string)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current conditions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233172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MODEL REQUESTS CALL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37960" y="289864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89864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"tool": "get_weather",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"args": { "city": "Lahore" } }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YOUR CODE RUNS 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477316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773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calls weather API →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"temp": 34, "sky": "clear" }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3796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MODEL ANSWERS USER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37960" y="477316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4773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"It's currently 34°C and clear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in Lahore."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031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&amp; long-term memory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22960" y="3246120"/>
            <a:ext cx="10515600" cy="1417320"/>
          </a:xfrm>
          <a:prstGeom prst="roundRect">
            <a:avLst>
              <a:gd name="adj" fmla="val 7742"/>
            </a:avLst>
          </a:prstGeom>
          <a:solidFill>
            <a:srgbClr val="121C30"/>
          </a:solidFill>
          <a:ln w="1905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34290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 START 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376732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 LLM has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built-in memory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neither short-term nor long-term. Each call is stateless: it forgets everything the moment it replies. Memory is something WE build around it.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937760"/>
            <a:ext cx="5120640" cy="1097280"/>
          </a:xfrm>
          <a:prstGeom prst="roundRect">
            <a:avLst>
              <a:gd name="adj" fmla="val 10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5532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one conversation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4937760"/>
            <a:ext cx="5120640" cy="1097280"/>
          </a:xfrm>
          <a:prstGeom prst="roundRect">
            <a:avLst>
              <a:gd name="adj" fmla="val 1000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5120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5532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conversations, forever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forgets — so we remember for 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Because the model is stateless, the ONLY way it “remembers” anything is if we </a:t>
            </a:r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re-send it in the next call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Memory = deciding what to store, and what to feed back in.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246888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651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NO MEMORY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1089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“My name is Ali.”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“Hi Ali!”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“What’s my name?”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“I don’t know your name.”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5257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starts from nothing.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46888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51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WITH MEMORY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31089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“My name is Ali.”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“Hi Ali!”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[we resend: “User’s name is Ali”]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“What’s my name?”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“Your name is Ali.”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5257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feed the past back in.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remembers within a single conversation.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542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/ conversations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30906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chat history — every message so far is resent each turn.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228600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2542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 context window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30906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all sits inside the model’s limited context for this session.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429768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when the chat ends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8680" y="51023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conversation and it’s lost — it was never truly stored.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429768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2940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by size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51023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chats overflow the window — old messages must be dropped or summarized.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it: when a chat gets too long, summarize old turns into a short recap — “summarization memory.”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keeps across conversations — saved outside the model, recalled when needed.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945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a database or vector store, then retrieved and fed back in. Three kinds: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3505200" cy="2606040"/>
          </a:xfrm>
          <a:prstGeom prst="roundRect">
            <a:avLst>
              <a:gd name="adj" fmla="val 3509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92608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77240" y="347472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events &amp; interactions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297680"/>
            <a:ext cx="2956560" cy="777240"/>
          </a:xfrm>
          <a:prstGeom prst="roundRect">
            <a:avLst>
              <a:gd name="adj" fmla="val 705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4340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“Last week you booked a table for 4 at Cafe Rose.”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28160" y="2697480"/>
            <a:ext cx="3505200" cy="2606040"/>
          </a:xfrm>
          <a:prstGeom prst="roundRect">
            <a:avLst>
              <a:gd name="adj" fmla="val 3509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02480" y="292608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02480" y="347472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&amp; knowledge about the user/world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02480" y="4297680"/>
            <a:ext cx="2956560" cy="777240"/>
          </a:xfrm>
          <a:prstGeom prst="roundRect">
            <a:avLst>
              <a:gd name="adj" fmla="val 705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39640" y="434340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“Ali is vegetarian and lives in Lahore.”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53400" y="2697480"/>
            <a:ext cx="3505200" cy="2606040"/>
          </a:xfrm>
          <a:prstGeom prst="roundRect">
            <a:avLst>
              <a:gd name="adj" fmla="val 3509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27720" y="292608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27720" y="347472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things — learned skills &amp; steps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427720" y="4297680"/>
            <a:ext cx="2956560" cy="777240"/>
          </a:xfrm>
          <a:prstGeom prst="roundRect">
            <a:avLst>
              <a:gd name="adj" fmla="val 705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4880" y="434340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 book a table: ask date, size, time, then confirm.”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5532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backends: regular databases for facts, and vector stores for “find me anything similar to this.”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vs. long-term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3243F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783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680960" y="1783080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3243F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0" y="1783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2468880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46888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80960" y="2468880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09560" y="246888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conversations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321868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3218688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21868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218688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321868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/ vector store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396849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Lifespan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46120" y="3968496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968496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when chat ends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680960" y="3968496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09560" y="3968496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indefinitely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47183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46120" y="4718304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4718304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a thought in your head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80960" y="4718304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09560" y="4718304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it in a notebook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546811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246120" y="5468112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0" y="546811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a BBQ Chicken Pizza”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680960" y="5468112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9560" y="546811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add tomatoes — I dislike them”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agents use BOTH: short-term for the live conversation, long-term to remember you over time.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14173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one standard for all tools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pattern: REST standardized how any app talks to a backend. MCP does the same for how any agent talks to a tool.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06324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13243F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6324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77440" y="3063240"/>
            <a:ext cx="2926080" cy="1234440"/>
          </a:xfrm>
          <a:prstGeom prst="roundRect">
            <a:avLst>
              <a:gd name="adj" fmla="val 7407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frontend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(web, mobile, server)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33558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20640" y="38679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/ HTTP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55080" y="3063240"/>
            <a:ext cx="2926080" cy="1234440"/>
          </a:xfrm>
          <a:prstGeom prst="roundRect">
            <a:avLst>
              <a:gd name="adj" fmla="val 7407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(database, service)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509760" y="3063240"/>
            <a:ext cx="2148840" cy="1234440"/>
          </a:xfrm>
          <a:prstGeom prst="roundRect">
            <a:avLst>
              <a:gd name="adj" fmla="val 740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46920" y="3063240"/>
            <a:ext cx="1874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any backend from anywhere.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70916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13243F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70916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377440" y="4709160"/>
            <a:ext cx="2926080" cy="1234440"/>
          </a:xfrm>
          <a:prstGeom prst="roundRect">
            <a:avLst>
              <a:gd name="adj" fmla="val 7407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47091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(Claude, GPT, your own)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0" y="50017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1206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protocol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55080" y="4709160"/>
            <a:ext cx="2926080" cy="1234440"/>
          </a:xfrm>
          <a:prstGeom prst="roundRect">
            <a:avLst>
              <a:gd name="adj" fmla="val 7407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47091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data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(DB, Slack, files)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09760" y="4709160"/>
            <a:ext cx="2148840" cy="1234440"/>
          </a:xfrm>
          <a:prstGeom prst="roundRect">
            <a:avLst>
              <a:gd name="adj" fmla="val 7407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4709160"/>
            <a:ext cx="1874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any tool from any agent.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leap, new layer: a standard interface turns one-off integrations into universal building blocks.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MCP?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everyone rebuilds the same tools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MCP, every agent needed its OWN custom connector for every tool — even agents YOU build. More agents × more tools = an explosion of brittle integrations.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5440680" cy="3611880"/>
          </a:xfrm>
          <a:prstGeom prst="roundRect">
            <a:avLst>
              <a:gd name="adj" fmla="val 303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487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WITHOUT MCP  ·  N × M mess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97180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718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6118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25196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51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89204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920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06240" y="3291840"/>
            <a:ext cx="132588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0" y="32918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132588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393192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06240" y="4572000"/>
            <a:ext cx="132588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0" y="45720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240280" y="3223260"/>
            <a:ext cx="1965960" cy="32004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0280" y="3223260"/>
            <a:ext cx="1965960" cy="96012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23260"/>
            <a:ext cx="1965960" cy="160020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240280" y="3543300"/>
            <a:ext cx="1965960" cy="32004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3863340"/>
            <a:ext cx="1965960" cy="32004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3863340"/>
            <a:ext cx="1965960" cy="96012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240280" y="3543300"/>
            <a:ext cx="1965960" cy="96012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40280" y="4183380"/>
            <a:ext cx="1965960" cy="32004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503420"/>
            <a:ext cx="1965960" cy="32004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2240280" y="3543300"/>
            <a:ext cx="1965960" cy="160020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240280" y="4183380"/>
            <a:ext cx="1965960" cy="96012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2240280" y="4823460"/>
            <a:ext cx="1965960" cy="320040"/>
          </a:xfrm>
          <a:prstGeom prst="line">
            <a:avLst/>
          </a:prstGeom>
          <a:noFill/>
          <a:ln w="7620">
            <a:solidFill>
              <a:srgbClr val="F472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532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brittle, custom integrations.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17920" y="2331720"/>
            <a:ext cx="5440680" cy="3611880"/>
          </a:xfrm>
          <a:prstGeom prst="roundRect">
            <a:avLst>
              <a:gd name="adj" fmla="val 303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92240" y="2487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WITH MCP  ·  one hub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366760" y="3566160"/>
            <a:ext cx="1188720" cy="1005840"/>
          </a:xfrm>
          <a:prstGeom prst="roundRect">
            <a:avLst>
              <a:gd name="adj" fmla="val 9091"/>
            </a:avLst>
          </a:prstGeom>
          <a:solidFill>
            <a:srgbClr val="13243F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66760" y="356616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492240" y="297180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72400" y="3223260"/>
            <a:ext cx="594360" cy="84582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92240" y="361188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36118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772400" y="3863340"/>
            <a:ext cx="594360" cy="20574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92240" y="425196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92240" y="42519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 flipV="1">
            <a:off x="7772400" y="4069080"/>
            <a:ext cx="594360" cy="43434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92240" y="4892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92240" y="4892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 flipV="1">
            <a:off x="7772400" y="4069080"/>
            <a:ext cx="594360" cy="107442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95560" y="32918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195560" y="32918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 flipV="1">
            <a:off x="9555480" y="3543300"/>
            <a:ext cx="640080" cy="52578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195560" y="393192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5560" y="39319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555480" y="4069080"/>
            <a:ext cx="640080" cy="11430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195560" y="4572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95560" y="45720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9555480" y="4069080"/>
            <a:ext cx="640080" cy="75438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92240" y="5532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built ONCE. Any agent plugs in — including yours.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55680" cy="1600200"/>
          </a:xfrm>
          <a:prstGeom prst="roundRect">
            <a:avLst>
              <a:gd name="adj" fmla="val 6857"/>
            </a:avLst>
          </a:prstGeom>
          <a:solidFill>
            <a:srgbClr val="121C3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78308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</a:t>
            </a:r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is an </a:t>
            </a:r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</a:t>
            </a:r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that defines a single, universal way for AI agents to connect to external tools and data — so any agent can talk to any tool through the same interface.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02920" y="3383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CAN EXPOSE THREE THINGS — TOOLS IS THE MAIN USE CASE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2540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9776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77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USE CASE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491947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the agent can take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" y="5349240"/>
            <a:ext cx="2880360" cy="457200"/>
          </a:xfrm>
          <a:prstGeom prst="roundRect">
            <a:avLst>
              <a:gd name="adj" fmla="val 12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349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e.g.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 DB, send an email, call an API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79392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99432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99432" y="4526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the agent can read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599432" y="5029200"/>
            <a:ext cx="2880360" cy="457200"/>
          </a:xfrm>
          <a:prstGeom prst="roundRect">
            <a:avLst>
              <a:gd name="adj" fmla="val 12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36592" y="5029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e.g.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 FAQ doc, a database record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75904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375904" y="4526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prompt templates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375904" y="5029200"/>
            <a:ext cx="2880360" cy="457200"/>
          </a:xfrm>
          <a:prstGeom prst="roundRect">
            <a:avLst>
              <a:gd name="adj" fmla="val 12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13064" y="5029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e.g.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ready-made “summarize this” prompt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Anthropic project to open standard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48256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482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9568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releases MCP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195681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Open-sourced as a way to connect AI assistants to data &amp; tools.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072384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29809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adopts 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9809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OpenAI, Google, Microsoft &amp; GitHub join; thousands of servers appear.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877056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96512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965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40050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governance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400507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process introduced (SEPs &amp; working groups) — no longer a solo project.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901184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1206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2025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50292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Donated to the Linux Foundation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5029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to the Agentic AI Foundation — now a vendor-neutral open body.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HTTP and the Linux kernel, MCP is now neutral infrastructure — owned by the community, not one company.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CONNECT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talk to an MCP server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reaches an MCP server over one of two transports — pick based on WHERE the server runs.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440680" cy="3794760"/>
          </a:xfrm>
          <a:prstGeom prst="roundRect">
            <a:avLst>
              <a:gd name="adj" fmla="val 2892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377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160520" y="2450592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24505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runs on the SAME machine as the agent.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talk over standard input/output — like piping between two programs.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simple, no network. Great for local dev &amp; desktop tools.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68680" y="5212080"/>
            <a:ext cx="4709160" cy="566928"/>
          </a:xfrm>
          <a:prstGeom prst="roundRect">
            <a:avLst>
              <a:gd name="adj" fmla="val 9677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2120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 file-system or git server running on your laptop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2148840"/>
            <a:ext cx="5440680" cy="3794760"/>
          </a:xfrm>
          <a:prstGeom prst="roundRect">
            <a:avLst>
              <a:gd name="adj" fmla="val 2892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29400" y="2377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 HTTP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921240" y="2450592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21240" y="24505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runs somewhere else — a different machine or the cloud.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talk over HTTP, so it works across the network.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many users; the standard for hosted/production servers.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5212080"/>
            <a:ext cx="4709160" cy="566928"/>
          </a:xfrm>
          <a:prstGeom prst="roundRect">
            <a:avLst>
              <a:gd name="adj" fmla="val 9677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52120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 hosted Slack or database server in the cloud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148132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 LLM alone isn't enough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an LLM has three hard limits. RAG exists to fix all three.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3368040" cy="2788920"/>
          </a:xfrm>
          <a:prstGeom prst="roundRect">
            <a:avLst>
              <a:gd name="adj" fmla="val 3934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3200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" y="3886200"/>
            <a:ext cx="272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4434840"/>
            <a:ext cx="2727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knows what it saw in training. Anything after that date — or breaking news — is invisible to it.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56760" y="2971800"/>
            <a:ext cx="3368040" cy="2788920"/>
          </a:xfrm>
          <a:prstGeom prst="roundRect">
            <a:avLst>
              <a:gd name="adj" fmla="val 3934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76800" y="3200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876800" y="3886200"/>
            <a:ext cx="272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 to your data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76800" y="4434840"/>
            <a:ext cx="2727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never seen your company docs, your emails, or your private files. It can't answer about them.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90560" y="2971800"/>
            <a:ext cx="3368040" cy="2788920"/>
          </a:xfrm>
          <a:prstGeom prst="roundRect">
            <a:avLst>
              <a:gd name="adj" fmla="val 3934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10600" y="3200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610600" y="3886200"/>
            <a:ext cx="272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hallucinates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10600" y="4434840"/>
            <a:ext cx="2727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predicts likely tokens — it's non-deterministic. When unsure, it invents confident, wrong answers.</a:t>
            </a:r>
            <a:endParaRPr lang="en-US" sz="13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RAG?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55680" cy="1463040"/>
          </a:xfrm>
          <a:prstGeom prst="roundRect">
            <a:avLst>
              <a:gd name="adj" fmla="val 7500"/>
            </a:avLst>
          </a:prstGeom>
          <a:solidFill>
            <a:srgbClr val="121C30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7830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gives the model relevant information </a:t>
            </a:r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question time</a:t>
            </a:r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 retrieves the right facts from your own data, adds them to the prompt, and lets the model generate an answer grounded in those facts.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02920" y="3246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 SAYS EXACTLY WHAT IT DOES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57600"/>
            <a:ext cx="3474720" cy="2148840"/>
          </a:xfrm>
          <a:prstGeom prst="roundRect">
            <a:avLst>
              <a:gd name="adj" fmla="val 5106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463040" y="39502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22960" y="46177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relevant facts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your data for the pieces that answer THIS question.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43400" y="3657600"/>
            <a:ext cx="3474720" cy="2148840"/>
          </a:xfrm>
          <a:prstGeom prst="roundRect">
            <a:avLst>
              <a:gd name="adj" fmla="val 5106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1772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5303520" y="39502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63440" y="46177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them to the prompt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those facts into the context alongside the user's question.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83880" y="3657600"/>
            <a:ext cx="3474720" cy="2148840"/>
          </a:xfrm>
          <a:prstGeom prst="roundRect">
            <a:avLst>
              <a:gd name="adj" fmla="val 5106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5820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144000" y="39502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answer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0392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writes the answer — now grounded in the retrieved facts.</a:t>
            </a:r>
            <a:endParaRPr lang="en-US" sz="12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RAG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pipelines: ingestion &amp; retrieval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runs in two phases. You prepare your data ONCE (ingestion), then use it on EVERY question (retrieval).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11155680" cy="1783080"/>
          </a:xfrm>
          <a:prstGeom prst="roundRect">
            <a:avLst>
              <a:gd name="adj" fmla="val 6154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2128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INGESTION  ·  done once, ahead of time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65176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docs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2651760"/>
            <a:ext cx="42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535680" y="265176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7120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chunks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67400" y="2651760"/>
            <a:ext cx="42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94120" y="265176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5560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each chunk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25840" y="2651760"/>
            <a:ext cx="42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052560" y="265176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2651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vector DB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4023360"/>
            <a:ext cx="11155680" cy="2148840"/>
          </a:xfrm>
          <a:prstGeom prst="roundRect">
            <a:avLst>
              <a:gd name="adj" fmla="val 5106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7880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RETRIEVAL  ·  runs on every question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46177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461772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606040" y="461772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2971800" y="46177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44952" y="461772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question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800600" y="461772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166360" y="46177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9512" y="461772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similar chunks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995160" y="461772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360920" y="46177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34072" y="461772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prompt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189720" y="461772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555480" y="46177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F1828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28632" y="461772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answers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share the same trick: turn text into vectors so meaning can be searched.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CONCEPTS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retrieval work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474720" cy="2697480"/>
          </a:xfrm>
          <a:prstGeom prst="roundRect">
            <a:avLst>
              <a:gd name="adj" fmla="val 406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embeddings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numbers that capture MEANING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embedding model turns each chunk of text into a list of numbers (a vector). Similar meanings land close together.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474720" cy="2697480"/>
          </a:xfrm>
          <a:prstGeom prst="roundRect">
            <a:avLst>
              <a:gd name="adj" fmla="val 406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2743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searches those vectors fast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3337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built to hold millions of embeddings and instantly find the closest ones to any query vector.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691640"/>
            <a:ext cx="3474720" cy="2697480"/>
          </a:xfrm>
          <a:prstGeom prst="roundRect">
            <a:avLst>
              <a:gd name="adj" fmla="val 406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0392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03920" y="2743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meaning, not keywords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03920" y="3337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text that MEANS the same thing, even with different words — “car” matches “automobile.”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61772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THEY FIT TOGETHER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turn text into meaning-vectors. A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stores them.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compares the question's vector to the stored ones and returns the closest — the most relevant chunks — to feed the model.</a:t>
            </a:r>
            <a:endParaRPr lang="en-US" sz="1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IN ONE PICTURE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answers, end to end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flows through retrieval, picks up real facts, and the model answers from them — not from memory.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21C30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880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7240" y="33375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33756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“What's our refund policy?”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2194560"/>
            <a:ext cx="24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352800" y="21945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21C3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58140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72840" y="2880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627120" y="33375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36848" y="333756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company docs → find the refund section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58840" y="2194560"/>
            <a:ext cx="24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202680" y="21945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21C30"/>
          </a:solidFill>
          <a:ln w="19050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3128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22720" y="2880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477000" y="33375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6728" y="333756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that section to the prompt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808720" y="2194560"/>
            <a:ext cx="24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9052560" y="21945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121C30"/>
          </a:solidFill>
          <a:ln w="1905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28116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372600" y="2880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9326880" y="33375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36608" y="333756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“Refunds within 30 days, per your policy doc.”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" y="45720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4754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SOLVES THE THREE LIMITS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7240" y="50749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private data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(beats the cutoff and the no-access problem) and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in real sources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(beats hallucination) — the model answers from retrieved facts it can even cite, instead of guessing from memory.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TO ADAPT A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115568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vs RAG vs Fine-Tuning vs Training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400000"/>
            <a:ext cx="11155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to change what a model does — from cheapest to most expensive.</a:t>
            </a:r>
            <a:endParaRPr lang="en-US" sz="1450" dirty="0"/>
          </a:p>
        </p:txBody>
      </p:sp>
      <p:sp>
        <p:nvSpPr>
          <p:cNvPr id="40" name="Header METHOD"/>
          <p:cNvSpPr/>
          <p:nvPr/>
        </p:nvSpPr>
        <p:spPr>
          <a:xfrm>
            <a:off x="732920" y="1780000"/>
            <a:ext cx="16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41" name="Header WHAT IT CHANGES"/>
          <p:cNvSpPr/>
          <p:nvPr/>
        </p:nvSpPr>
        <p:spPr>
          <a:xfrm>
            <a:off x="2432920" y="1780000"/>
            <a:ext cx="32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</a:t>
            </a:r>
            <a:endParaRPr lang="en-US" sz="1050" dirty="0"/>
          </a:p>
        </p:txBody>
      </p:sp>
      <p:sp>
        <p:nvSpPr>
          <p:cNvPr id="42" name="Header COST AND TIME"/>
          <p:cNvSpPr/>
          <p:nvPr/>
        </p:nvSpPr>
        <p:spPr>
          <a:xfrm>
            <a:off x="5732920" y="1780000"/>
            <a:ext cx="2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TIME</a:t>
            </a:r>
            <a:endParaRPr lang="en-US" sz="1050" dirty="0"/>
          </a:p>
        </p:txBody>
      </p:sp>
      <p:sp>
        <p:nvSpPr>
          <p:cNvPr id="43" name="Header BEST FOR"/>
          <p:cNvSpPr/>
          <p:nvPr/>
        </p:nvSpPr>
        <p:spPr>
          <a:xfrm>
            <a:off x="8132920" y="1780000"/>
            <a:ext cx="3295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050" dirty="0"/>
          </a:p>
        </p:txBody>
      </p:sp>
      <p:sp>
        <p:nvSpPr>
          <p:cNvPr id="44" name="RowCard0"/>
          <p:cNvSpPr/>
          <p:nvPr/>
        </p:nvSpPr>
        <p:spPr>
          <a:xfrm>
            <a:off x="502920" y="2220000"/>
            <a:ext cx="11155680" cy="7000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45" name="Method0"/>
          <p:cNvSpPr/>
          <p:nvPr/>
        </p:nvSpPr>
        <p:spPr>
          <a:xfrm>
            <a:off x="732920" y="2220000"/>
            <a:ext cx="16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</a:rPr>
              <a:t>Prompt</a:t>
            </a:r>
          </a:p>
          <a:p>
            <a:pPr algn="l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</a:rPr>
              <a:t>Engineering</a:t>
            </a:r>
            <a:endParaRPr lang="en-US" sz="1250" b="1" dirty="0"/>
          </a:p>
        </p:txBody>
      </p:sp>
      <p:sp>
        <p:nvSpPr>
          <p:cNvPr id="46" name="Changes0"/>
          <p:cNvSpPr/>
          <p:nvPr/>
        </p:nvSpPr>
        <p:spPr>
          <a:xfrm>
            <a:off x="2432920" y="2220000"/>
            <a:ext cx="3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— just the input</a:t>
            </a:r>
            <a:endParaRPr lang="en-US" sz="1150" dirty="0"/>
          </a:p>
        </p:txBody>
      </p:sp>
      <p:sp>
        <p:nvSpPr>
          <p:cNvPr id="47" name="Cost0"/>
          <p:cNvSpPr/>
          <p:nvPr/>
        </p:nvSpPr>
        <p:spPr>
          <a:xfrm>
            <a:off x="5732920" y="2220000"/>
            <a:ext cx="23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Minutes</a:t>
            </a:r>
            <a:endParaRPr lang="en-US" sz="1150" dirty="0"/>
          </a:p>
        </p:txBody>
      </p:sp>
      <p:sp>
        <p:nvSpPr>
          <p:cNvPr id="48" name="Best0"/>
          <p:cNvSpPr/>
          <p:nvPr/>
        </p:nvSpPr>
        <p:spPr>
          <a:xfrm>
            <a:off x="8132920" y="2220000"/>
            <a:ext cx="329568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iteration, most tasks</a:t>
            </a:r>
            <a:endParaRPr lang="en-US" sz="1150" dirty="0"/>
          </a:p>
        </p:txBody>
      </p:sp>
      <p:sp>
        <p:nvSpPr>
          <p:cNvPr id="49" name="RowCard1"/>
          <p:cNvSpPr/>
          <p:nvPr/>
        </p:nvSpPr>
        <p:spPr>
          <a:xfrm>
            <a:off x="502920" y="2960000"/>
            <a:ext cx="11155680" cy="7000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50" name="Method1"/>
          <p:cNvSpPr/>
          <p:nvPr/>
        </p:nvSpPr>
        <p:spPr>
          <a:xfrm>
            <a:off x="732920" y="2960000"/>
            <a:ext cx="16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</a:rPr>
              <a:t>RAG</a:t>
            </a:r>
            <a:endParaRPr lang="en-US" sz="1250" b="1" dirty="0"/>
          </a:p>
        </p:txBody>
      </p:sp>
      <p:sp>
        <p:nvSpPr>
          <p:cNvPr id="51" name="Changes1"/>
          <p:cNvSpPr/>
          <p:nvPr/>
        </p:nvSpPr>
        <p:spPr>
          <a:xfrm>
            <a:off x="2432920" y="2960000"/>
            <a:ext cx="3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— adds retrieved context</a:t>
            </a:r>
            <a:endParaRPr lang="en-US" sz="1150" dirty="0"/>
          </a:p>
        </p:txBody>
      </p:sp>
      <p:sp>
        <p:nvSpPr>
          <p:cNvPr id="52" name="Cost1"/>
          <p:cNvSpPr/>
          <p:nvPr/>
        </p:nvSpPr>
        <p:spPr>
          <a:xfrm>
            <a:off x="5732920" y="2960000"/>
            <a:ext cx="23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Low-medium · Hours-days</a:t>
            </a:r>
            <a:endParaRPr lang="en-US" sz="1150" dirty="0"/>
          </a:p>
        </p:txBody>
      </p:sp>
      <p:sp>
        <p:nvSpPr>
          <p:cNvPr id="53" name="Best1"/>
          <p:cNvSpPr/>
          <p:nvPr/>
        </p:nvSpPr>
        <p:spPr>
          <a:xfrm>
            <a:off x="8132920" y="2960000"/>
            <a:ext cx="329568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Up-to-date or private knowledge</a:t>
            </a:r>
            <a:endParaRPr lang="en-US" sz="1150" dirty="0"/>
          </a:p>
        </p:txBody>
      </p:sp>
      <p:sp>
        <p:nvSpPr>
          <p:cNvPr id="54" name="RowCard2"/>
          <p:cNvSpPr/>
          <p:nvPr/>
        </p:nvSpPr>
        <p:spPr>
          <a:xfrm>
            <a:off x="502920" y="3700000"/>
            <a:ext cx="11155680" cy="7000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55" name="Method2"/>
          <p:cNvSpPr/>
          <p:nvPr/>
        </p:nvSpPr>
        <p:spPr>
          <a:xfrm>
            <a:off x="732920" y="3700000"/>
            <a:ext cx="16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</a:rPr>
              <a:t>Fine-Tuning</a:t>
            </a:r>
            <a:endParaRPr lang="en-US" sz="1250" b="1" dirty="0"/>
          </a:p>
        </p:txBody>
      </p:sp>
      <p:sp>
        <p:nvSpPr>
          <p:cNvPr id="56" name="Changes2"/>
          <p:cNvSpPr/>
          <p:nvPr/>
        </p:nvSpPr>
        <p:spPr>
          <a:xfrm>
            <a:off x="2432920" y="3700000"/>
            <a:ext cx="3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 (partially)</a:t>
            </a:r>
            <a:endParaRPr lang="en-US" sz="1150" dirty="0"/>
          </a:p>
        </p:txBody>
      </p:sp>
      <p:sp>
        <p:nvSpPr>
          <p:cNvPr id="57" name="Cost2"/>
          <p:cNvSpPr/>
          <p:nvPr/>
        </p:nvSpPr>
        <p:spPr>
          <a:xfrm>
            <a:off x="5732920" y="3700000"/>
            <a:ext cx="23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Medium-high · Days-weeks</a:t>
            </a:r>
            <a:endParaRPr lang="en-US" sz="1150" dirty="0"/>
          </a:p>
        </p:txBody>
      </p:sp>
      <p:sp>
        <p:nvSpPr>
          <p:cNvPr id="58" name="Best2"/>
          <p:cNvSpPr/>
          <p:nvPr/>
        </p:nvSpPr>
        <p:spPr>
          <a:xfrm>
            <a:off x="8132920" y="3700000"/>
            <a:ext cx="329568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Behavior, style, format adaptation</a:t>
            </a:r>
            <a:endParaRPr lang="en-US" sz="1150" dirty="0"/>
          </a:p>
        </p:txBody>
      </p:sp>
      <p:sp>
        <p:nvSpPr>
          <p:cNvPr id="59" name="RowCard3"/>
          <p:cNvSpPr/>
          <p:nvPr/>
        </p:nvSpPr>
        <p:spPr>
          <a:xfrm>
            <a:off x="502920" y="4440000"/>
            <a:ext cx="11155680" cy="7000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F472B6"/>
            </a:solidFill>
            <a:prstDash val="solid"/>
          </a:ln>
        </p:spPr>
      </p:sp>
      <p:sp>
        <p:nvSpPr>
          <p:cNvPr id="60" name="Method3"/>
          <p:cNvSpPr/>
          <p:nvPr/>
        </p:nvSpPr>
        <p:spPr>
          <a:xfrm>
            <a:off x="732920" y="4440000"/>
            <a:ext cx="16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472B6"/>
                </a:solidFill>
                <a:latin typeface="Calibri" pitchFamily="34" charset="0"/>
              </a:rPr>
              <a:t>Training</a:t>
            </a:r>
          </a:p>
          <a:p>
            <a:pPr algn="l" indent="0" marL="0">
              <a:buNone/>
            </a:pPr>
            <a:r>
              <a:rPr lang="en-US" sz="1250" b="1" dirty="0">
                <a:solidFill>
                  <a:srgbClr val="F472B6"/>
                </a:solidFill>
                <a:latin typeface="Calibri" pitchFamily="34" charset="0"/>
              </a:rPr>
              <a:t>from Scratch</a:t>
            </a:r>
            <a:endParaRPr lang="en-US" sz="1250" b="1" dirty="0"/>
          </a:p>
        </p:txBody>
      </p:sp>
      <p:sp>
        <p:nvSpPr>
          <p:cNvPr id="61" name="Changes3"/>
          <p:cNvSpPr/>
          <p:nvPr/>
        </p:nvSpPr>
        <p:spPr>
          <a:xfrm>
            <a:off x="2432920" y="4440000"/>
            <a:ext cx="3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architecture, tokenizer, weights</a:t>
            </a:r>
            <a:endParaRPr lang="en-US" sz="1150" dirty="0"/>
          </a:p>
        </p:txBody>
      </p:sp>
      <p:sp>
        <p:nvSpPr>
          <p:cNvPr id="62" name="Cost3"/>
          <p:cNvSpPr/>
          <p:nvPr/>
        </p:nvSpPr>
        <p:spPr>
          <a:xfrm>
            <a:off x="5732920" y="4440000"/>
            <a:ext cx="23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high · Months</a:t>
            </a:r>
            <a:endParaRPr lang="en-US" sz="1150" dirty="0"/>
          </a:p>
        </p:txBody>
      </p:sp>
      <p:sp>
        <p:nvSpPr>
          <p:cNvPr id="63" name="Best3"/>
          <p:cNvSpPr/>
          <p:nvPr/>
        </p:nvSpPr>
        <p:spPr>
          <a:xfrm>
            <a:off x="8132920" y="4440000"/>
            <a:ext cx="329568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foundational capability (rare)</a:t>
            </a:r>
            <a:endParaRPr lang="en-US" sz="1150" dirty="0"/>
          </a:p>
        </p:txBody>
      </p:sp>
      <p:sp>
        <p:nvSpPr>
          <p:cNvPr id="64" name="TakeawayBox"/>
          <p:cNvSpPr/>
          <p:nvPr/>
        </p:nvSpPr>
        <p:spPr>
          <a:xfrm>
            <a:off x="502920" y="5260000"/>
            <a:ext cx="11155680" cy="11000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5" name="TakeawayLabel"/>
          <p:cNvSpPr/>
          <p:nvPr/>
        </p:nvSpPr>
        <p:spPr>
          <a:xfrm>
            <a:off x="777240" y="5380000"/>
            <a:ext cx="1060704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COMBINATION</a:t>
            </a:r>
            <a:endParaRPr lang="en-US" sz="1050" dirty="0"/>
          </a:p>
        </p:txBody>
      </p:sp>
      <p:sp>
        <p:nvSpPr>
          <p:cNvPr id="66" name="TakeawayBody"/>
          <p:cNvSpPr/>
          <p:nvPr/>
        </p:nvSpPr>
        <p:spPr>
          <a:xfrm>
            <a:off x="777240" y="5680000"/>
            <a:ext cx="106070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</a:rPr>
              <a:t xml:space="preserve">Prompt engineering (baseline) </a:t>
            </a:r>
            <a:r>
              <a:rPr lang="en-US" sz="1350" dirty="0">
                <a:solidFill>
                  <a:srgbClr val="D5E2F5"/>
                </a:solidFill>
                <a:latin typeface="Calibri" pitchFamily="34" charset="0"/>
              </a:rPr>
              <a:t xml:space="preserve">→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</a:rPr>
              <a:t xml:space="preserve">RAG (for knowledge) </a:t>
            </a:r>
            <a:r>
              <a:rPr lang="en-US" sz="1350" dirty="0">
                <a:solidFill>
                  <a:srgbClr val="D5E2F5"/>
                </a:solidFill>
                <a:latin typeface="Calibri" pitchFamily="34" charset="0"/>
              </a:rPr>
              <a:t xml:space="preserve">→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</a:rPr>
              <a:t>Fine-tuning (for behavior)</a:t>
            </a:r>
            <a:r>
              <a:rPr lang="en-US" sz="1350" dirty="0">
                <a:solidFill>
                  <a:srgbClr val="D5E2F5"/>
                </a:solidFill>
                <a:latin typeface="Calibri" pitchFamily="34" charset="0"/>
              </a:rPr>
              <a:t xml:space="preserve"> — training from scratch stays out of scope almost always.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Course — Slides</dc:title>
  <dc:subject>PptxGenJS Presentation</dc:subject>
  <dc:creator>Agentic AI Course</dc:creator>
  <cp:lastModifiedBy>Agentic AI Course</cp:lastModifiedBy>
  <cp:revision>1</cp:revision>
  <dcterms:created xsi:type="dcterms:W3CDTF">2026-06-23T03:17:54Z</dcterms:created>
  <dcterms:modified xsi:type="dcterms:W3CDTF">2026-06-23T03:17:54Z</dcterms:modified>
</cp:coreProperties>
</file>