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ai.com/api/pricing" TargetMode="External"/><Relationship Id="rId2" Type="http://schemas.openxmlformats.org/officeDocument/2006/relationships/hyperlink" Target="https://platform.claude.com/docs/en/about-claude/pricing" TargetMode="External"/><Relationship Id="rId3" Type="http://schemas.openxmlformats.org/officeDocument/2006/relationships/hyperlink" Target="https://ai.google.dev/pricing" TargetMode="External"/><Relationship Id="rId4" Type="http://schemas.openxmlformats.org/officeDocument/2006/relationships/hyperlink" Target="https://x.ai/api" TargetMode="External"/><Relationship Id="rId5" Type="http://schemas.openxmlformats.org/officeDocument/2006/relationships/hyperlink" Target="https://api-docs.deepseek.com/quick_start/pricing" TargetMode="External"/><Relationship Id="rId6" Type="http://schemas.openxmlformats.org/officeDocument/2006/relationships/hyperlink" Target="https://mistral.ai/pricing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arena.ai/leaderboard/te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554480"/>
            <a:ext cx="3200400" cy="3200400"/>
          </a:xfrm>
          <a:prstGeom prst="ellipse">
            <a:avLst/>
          </a:prstGeom>
          <a:solidFill>
            <a:srgbClr val="1324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25603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86384" y="2240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2026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learn — and the order to learn it in — to go from zero to building real AI agents.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484632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Foundations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08960" y="484632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08960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Full-Code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94960" y="484632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121C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No-Code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80960" y="484632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0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Operating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building AI agents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6382512"/>
            <a:ext cx="146304" cy="146304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" y="6382512"/>
            <a:ext cx="146304" cy="146304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8" name="Shape 6"/>
          <p:cNvSpPr/>
          <p:nvPr/>
        </p:nvSpPr>
        <p:spPr>
          <a:xfrm>
            <a:off x="1435608" y="6382512"/>
            <a:ext cx="146304" cy="146304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of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77640" y="199339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777240" y="2103120"/>
            <a:ext cx="868680" cy="86868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313432"/>
            <a:ext cx="448056" cy="4480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77240" y="3108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77240" y="35844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“why” — for everyone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39776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concepts every agent builder needs before touching any tool.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349240" y="182880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95544" y="2034540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9" name="Text 16"/>
          <p:cNvSpPr/>
          <p:nvPr/>
        </p:nvSpPr>
        <p:spPr>
          <a:xfrm>
            <a:off x="5678424" y="1828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settings &amp; providers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691372" y="182880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837676" y="2034540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2" name="Text 19"/>
          <p:cNvSpPr/>
          <p:nvPr/>
        </p:nvSpPr>
        <p:spPr>
          <a:xfrm>
            <a:off x="9020556" y="1828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&amp; tokens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349240" y="2427732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95544" y="263347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5" name="Text 22"/>
          <p:cNvSpPr/>
          <p:nvPr/>
        </p:nvSpPr>
        <p:spPr>
          <a:xfrm>
            <a:off x="5678424" y="24277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LLM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691372" y="2427732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837676" y="263347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8" name="Text 25"/>
          <p:cNvSpPr/>
          <p:nvPr/>
        </p:nvSpPr>
        <p:spPr>
          <a:xfrm>
            <a:off x="9020556" y="24277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Chatbot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349240" y="3026664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95544" y="3232404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1" name="Text 28"/>
          <p:cNvSpPr/>
          <p:nvPr/>
        </p:nvSpPr>
        <p:spPr>
          <a:xfrm>
            <a:off x="5678424" y="30266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Automation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691372" y="3026664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837676" y="3232404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4" name="Text 31"/>
          <p:cNvSpPr/>
          <p:nvPr/>
        </p:nvSpPr>
        <p:spPr>
          <a:xfrm>
            <a:off x="9020556" y="30266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 Agent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349240" y="3625596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95544" y="3831336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7" name="Text 34"/>
          <p:cNvSpPr/>
          <p:nvPr/>
        </p:nvSpPr>
        <p:spPr>
          <a:xfrm>
            <a:off x="5678424" y="36255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agents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691372" y="3625596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837676" y="3831336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0" name="Text 37"/>
          <p:cNvSpPr/>
          <p:nvPr/>
        </p:nvSpPr>
        <p:spPr>
          <a:xfrm>
            <a:off x="9020556" y="36255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function calling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5349240" y="4224528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495544" y="4430268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3" name="Text 40"/>
          <p:cNvSpPr/>
          <p:nvPr/>
        </p:nvSpPr>
        <p:spPr>
          <a:xfrm>
            <a:off x="5678424" y="42245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vs structured output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8691372" y="4224528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837676" y="4430268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6" name="Text 43"/>
          <p:cNvSpPr/>
          <p:nvPr/>
        </p:nvSpPr>
        <p:spPr>
          <a:xfrm>
            <a:off x="9020556" y="42245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5349240" y="482346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495544" y="5029200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9" name="Text 46"/>
          <p:cNvSpPr/>
          <p:nvPr/>
        </p:nvSpPr>
        <p:spPr>
          <a:xfrm>
            <a:off x="5678424" y="48234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8691372" y="482346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837676" y="5029200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2" name="Text 49"/>
          <p:cNvSpPr/>
          <p:nvPr/>
        </p:nvSpPr>
        <p:spPr>
          <a:xfrm>
            <a:off x="9020556" y="48234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5349240" y="5422392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495544" y="562813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5" name="Text 52"/>
          <p:cNvSpPr/>
          <p:nvPr/>
        </p:nvSpPr>
        <p:spPr>
          <a:xfrm>
            <a:off x="5678424" y="54223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8691372" y="5422392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837676" y="562813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8" name="Text 55"/>
          <p:cNvSpPr/>
          <p:nvPr/>
        </p:nvSpPr>
        <p:spPr>
          <a:xfrm>
            <a:off x="9020556" y="54223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short vs long term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building AI agents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63825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" y="6382512"/>
            <a:ext cx="146304" cy="146304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8" name="Shape 6"/>
          <p:cNvSpPr/>
          <p:nvPr/>
        </p:nvSpPr>
        <p:spPr>
          <a:xfrm>
            <a:off x="1435608" y="6382512"/>
            <a:ext cx="146304" cy="146304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of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0025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7724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67712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066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066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“why” — for everyone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settings, providers, cost &amp; tokens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LLM · vs chatbot · vs automation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function calling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MCP servers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short vs long term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7185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6918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364617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2267712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0959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Full-Code Agents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60959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who want control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64617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LangGraph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4078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E2A42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3811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Shape 22"/>
          <p:cNvSpPr/>
          <p:nvPr/>
        </p:nvSpPr>
        <p:spPr>
          <a:xfrm>
            <a:off x="6515100" y="2084832"/>
            <a:ext cx="731520" cy="731520"/>
          </a:xfrm>
          <a:prstGeom prst="ellipse">
            <a:avLst/>
          </a:prstGeom>
          <a:solidFill>
            <a:srgbClr val="1A2438"/>
          </a:solidFill>
          <a:ln w="12700">
            <a:solidFill>
              <a:srgbClr val="243250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2267712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7852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Agents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47852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&amp; non-devs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515100" y="4023360"/>
            <a:ext cx="207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10971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E2A42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1060704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33" name="Shape 28"/>
          <p:cNvSpPr/>
          <p:nvPr/>
        </p:nvSpPr>
        <p:spPr>
          <a:xfrm>
            <a:off x="9384030" y="2084832"/>
            <a:ext cx="731520" cy="731520"/>
          </a:xfrm>
          <a:prstGeom prst="ellipse">
            <a:avLst/>
          </a:prstGeom>
          <a:solidFill>
            <a:srgbClr val="1A2438"/>
          </a:solidFill>
          <a:ln w="12700">
            <a:solidFill>
              <a:srgbClr val="243250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910" y="2267712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34745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Agents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934745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wanting productivity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9384030" y="4023360"/>
            <a:ext cx="207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building AI agents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63825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" y="638251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435608" y="6382512"/>
            <a:ext cx="146304" cy="146304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of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0025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7724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67712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066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066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“why” — for everyone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settings, providers, cost &amp; tokens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LLM · vs chatbot · vs automation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function calling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MCP servers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short vs long term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7185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6918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364617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2267712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0959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Full-Code Agents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60959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who want control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64617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LangGraph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4078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73811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Shape 22"/>
          <p:cNvSpPr/>
          <p:nvPr/>
        </p:nvSpPr>
        <p:spPr>
          <a:xfrm>
            <a:off x="651510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2267712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7852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Agents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47852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&amp; non-devs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51510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Make.com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Flowise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 Builder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GoHighLevel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10971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E2A42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1060704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33" name="Shape 28"/>
          <p:cNvSpPr/>
          <p:nvPr/>
        </p:nvSpPr>
        <p:spPr>
          <a:xfrm>
            <a:off x="9384030" y="2084832"/>
            <a:ext cx="731520" cy="731520"/>
          </a:xfrm>
          <a:prstGeom prst="ellipse">
            <a:avLst/>
          </a:prstGeom>
          <a:solidFill>
            <a:srgbClr val="1A2438"/>
          </a:solidFill>
          <a:ln w="12700">
            <a:solidFill>
              <a:srgbClr val="243250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910" y="2267712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34745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Agents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934745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wanting productivity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9384030" y="4023360"/>
            <a:ext cx="207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building AI agents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63825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" y="638251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435608" y="6382512"/>
            <a:ext cx="146304" cy="146304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 of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0025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7724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67712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066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066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“why” — for everyone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settings, providers, cost &amp; tokens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LLM · vs chatbot · vs automation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function calling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MCP servers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short vs long term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7185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6918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364617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2267712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0959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Full-Code Agents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60959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who want control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64617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LangGraph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4078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73811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Shape 22"/>
          <p:cNvSpPr/>
          <p:nvPr/>
        </p:nvSpPr>
        <p:spPr>
          <a:xfrm>
            <a:off x="651510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2267712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7852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Agents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47852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&amp; non-devs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51510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Make.com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Flowise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 Builder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GoHighLevel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10971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1060704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33" name="Shape 28"/>
          <p:cNvSpPr/>
          <p:nvPr/>
        </p:nvSpPr>
        <p:spPr>
          <a:xfrm>
            <a:off x="938403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910" y="2267712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34745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Agents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934745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wanting productivity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938403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&amp; extend pre-built agents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AI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86384" y="2103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→ DL → GenAI → Agentic AI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history of how we got from spam filters to autonomous agents — and what each era is actually for.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44165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18688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566160" y="429768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441655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3308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961888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309360" y="429768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41655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7628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705088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9052560" y="429768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432" y="441655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1948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Machine Learning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10881360" cy="0"/>
          </a:xfrm>
          <a:prstGeom prst="line">
            <a:avLst/>
          </a:prstGeom>
          <a:noFill/>
          <a:ln w="25400">
            <a:solidFill>
              <a:srgbClr val="2B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8810" y="1755648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45161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9150" y="1755648"/>
            <a:ext cx="182880" cy="182880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11" name="Text 9"/>
          <p:cNvSpPr/>
          <p:nvPr/>
        </p:nvSpPr>
        <p:spPr>
          <a:xfrm>
            <a:off x="417195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49490" y="1755648"/>
            <a:ext cx="182880" cy="182880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13" name="Text 11"/>
          <p:cNvSpPr/>
          <p:nvPr/>
        </p:nvSpPr>
        <p:spPr>
          <a:xfrm>
            <a:off x="689229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69830" y="1755648"/>
            <a:ext cx="182880" cy="182880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15" name="Text 13"/>
          <p:cNvSpPr/>
          <p:nvPr/>
        </p:nvSpPr>
        <p:spPr>
          <a:xfrm>
            <a:off x="961263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2670048"/>
            <a:ext cx="914400" cy="9144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898648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52044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813816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13816" y="41696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patterns from data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13816" y="4663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3816" y="4956048"/>
            <a:ext cx="3511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that learn rules from labeled/structured data to predict or classify — no explicit programming of the rules.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92040" y="2377440"/>
            <a:ext cx="6766560" cy="1298448"/>
          </a:xfrm>
          <a:prstGeom prst="roundRect">
            <a:avLst>
              <a:gd name="adj" fmla="val 7042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25054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IT SOLVES  ·  TECHNICAL EXAMPLES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202936" y="28346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vs. not-spam classification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demand forecasting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494776" y="28346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churn prediction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892040" y="3785616"/>
            <a:ext cx="6766560" cy="1389888"/>
          </a:xfrm>
          <a:prstGeom prst="roundRect">
            <a:avLst>
              <a:gd name="adj" fmla="val 6579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66360" y="39136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/ ALGORITHMS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202936" y="42428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494776" y="42428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KNN, k-means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&amp; boosting (XGBoost)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892040" y="5285232"/>
            <a:ext cx="6766560" cy="932688"/>
          </a:xfrm>
          <a:prstGeom prst="roundRect">
            <a:avLst>
              <a:gd name="adj" fmla="val 9804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66360" y="54132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202936" y="5742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494776" y="5742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Deep Learning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10881360" cy="0"/>
          </a:xfrm>
          <a:prstGeom prst="line">
            <a:avLst/>
          </a:prstGeom>
          <a:noFill/>
          <a:ln w="25400">
            <a:solidFill>
              <a:srgbClr val="2B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8810" y="1755648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45161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9150" y="1755648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17195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49490" y="1755648"/>
            <a:ext cx="182880" cy="182880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13" name="Text 11"/>
          <p:cNvSpPr/>
          <p:nvPr/>
        </p:nvSpPr>
        <p:spPr>
          <a:xfrm>
            <a:off x="689229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69830" y="1755648"/>
            <a:ext cx="182880" cy="182880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15" name="Text 13"/>
          <p:cNvSpPr/>
          <p:nvPr/>
        </p:nvSpPr>
        <p:spPr>
          <a:xfrm>
            <a:off x="961263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2670048"/>
            <a:ext cx="914400" cy="9144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898648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52044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813816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13816" y="41696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for complex data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13816" y="4663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3816" y="4956048"/>
            <a:ext cx="3511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neural networks that learn features directly from unstructured data (images, audio, text) — no manual feature engineering.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92040" y="2377440"/>
            <a:ext cx="6766560" cy="1298448"/>
          </a:xfrm>
          <a:prstGeom prst="roundRect">
            <a:avLst>
              <a:gd name="adj" fmla="val 7042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25054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IT SOLVES  ·  TECHNICAL EXAMPLES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202936" y="28346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&amp; object detection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494776" y="28346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translation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diagnosis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892040" y="3785616"/>
            <a:ext cx="6766560" cy="1389888"/>
          </a:xfrm>
          <a:prstGeom prst="roundRect">
            <a:avLst>
              <a:gd name="adj" fmla="val 6579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66360" y="39136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/ ALGORITHMS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202936" y="42428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(vision)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RNNs, LSTMs, GRUs (sequence)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494776" y="42428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892040" y="5285232"/>
            <a:ext cx="6766560" cy="932688"/>
          </a:xfrm>
          <a:prstGeom prst="roundRect">
            <a:avLst>
              <a:gd name="adj" fmla="val 9804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66360" y="54132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202936" y="5742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494776" y="5742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Generative AI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10881360" cy="0"/>
          </a:xfrm>
          <a:prstGeom prst="line">
            <a:avLst/>
          </a:prstGeom>
          <a:noFill/>
          <a:ln w="25400">
            <a:solidFill>
              <a:srgbClr val="2B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8810" y="1755648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45161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9150" y="1755648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17195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49490" y="1755648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689229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69830" y="1755648"/>
            <a:ext cx="182880" cy="182880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15" name="Text 13"/>
          <p:cNvSpPr/>
          <p:nvPr/>
        </p:nvSpPr>
        <p:spPr>
          <a:xfrm>
            <a:off x="961263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2670048"/>
            <a:ext cx="914400" cy="9144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898648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52044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813816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13816" y="41696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content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13816" y="4663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3816" y="4956048"/>
            <a:ext cx="3511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LLMs that generate new text, code, images, and audio by predicting patterns — reactive, prompt-driven.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92040" y="2377440"/>
            <a:ext cx="6766560" cy="1298448"/>
          </a:xfrm>
          <a:prstGeom prst="roundRect">
            <a:avLst>
              <a:gd name="adj" fmla="val 7042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25054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IT SOLVES  ·  TECHNICAL EXAMPLES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202936" y="28346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text, code &amp; summaries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over your docs (RAG)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494776" y="28346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audio generation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copilots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892040" y="3785616"/>
            <a:ext cx="6766560" cy="1389888"/>
          </a:xfrm>
          <a:prstGeom prst="roundRect">
            <a:avLst>
              <a:gd name="adj" fmla="val 6579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66360" y="39136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/ ALGORITHMS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202936" y="42428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(LLMs)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(images)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494776" y="42428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892040" y="5285232"/>
            <a:ext cx="6766560" cy="932688"/>
          </a:xfrm>
          <a:prstGeom prst="roundRect">
            <a:avLst>
              <a:gd name="adj" fmla="val 9804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66360" y="54132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202936" y="5742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494776" y="5742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Agentic AI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10881360" cy="0"/>
          </a:xfrm>
          <a:prstGeom prst="line">
            <a:avLst/>
          </a:prstGeom>
          <a:noFill/>
          <a:ln w="25400">
            <a:solidFill>
              <a:srgbClr val="2B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8810" y="1755648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45161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9150" y="1755648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17195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49490" y="1755648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689229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69830" y="1755648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5" name="Text 13"/>
          <p:cNvSpPr/>
          <p:nvPr/>
        </p:nvSpPr>
        <p:spPr>
          <a:xfrm>
            <a:off x="961263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2670048"/>
            <a:ext cx="914400" cy="9144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898648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52044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813816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13816" y="41696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plan &amp; act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13816" y="4663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3816" y="4956048"/>
            <a:ext cx="3511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given tools, memory &amp; a loop — they plan, take actions, observe results, and pursue multi-step goals autonomously.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92040" y="2377440"/>
            <a:ext cx="6766560" cy="1152144"/>
          </a:xfrm>
          <a:prstGeom prst="roundRect">
            <a:avLst>
              <a:gd name="adj" fmla="val 7937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25054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IT SOLVES  ·  TECHNICAL EXAMPLES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202936" y="283464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research &amp; reports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trip end-to-end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494776" y="283464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coding tasks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w/ tools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892040" y="3639312"/>
            <a:ext cx="6766560" cy="1152144"/>
          </a:xfrm>
          <a:prstGeom prst="roundRect">
            <a:avLst>
              <a:gd name="adj" fmla="val 7937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66360" y="37673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BUILDING BLOCKS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202936" y="409651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LLMs (the brain)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function calling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memory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494776" y="409651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&amp; reflection loops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892040" y="4901184"/>
            <a:ext cx="6766560" cy="1316736"/>
          </a:xfrm>
          <a:prstGeom prst="roundRect">
            <a:avLst>
              <a:gd name="adj" fmla="val 6944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66360" y="50292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202936" y="535838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494776" y="535838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eras at a glance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10881360" cy="0"/>
          </a:xfrm>
          <a:prstGeom prst="line">
            <a:avLst/>
          </a:prstGeom>
          <a:noFill/>
          <a:ln w="25400">
            <a:solidFill>
              <a:srgbClr val="2B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8810" y="1755648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45161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9150" y="1755648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17195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49490" y="1755648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689229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69830" y="1755648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5" name="Text 13"/>
          <p:cNvSpPr/>
          <p:nvPr/>
        </p:nvSpPr>
        <p:spPr>
          <a:xfrm>
            <a:off x="961263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395728"/>
            <a:ext cx="2569464" cy="3794760"/>
          </a:xfrm>
          <a:prstGeom prst="roundRect">
            <a:avLst>
              <a:gd name="adj" fmla="val 4270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" y="2651760"/>
            <a:ext cx="640080" cy="64008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07208"/>
            <a:ext cx="329184" cy="3291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203704" y="26334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40664" y="3419856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40664" y="387705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patterns from data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0664" y="445312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example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40664" y="468172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vs. not-spam classification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364992" y="2395728"/>
            <a:ext cx="2569464" cy="3794760"/>
          </a:xfrm>
          <a:prstGeom prst="roundRect">
            <a:avLst>
              <a:gd name="adj" fmla="val 4270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21024" y="2651760"/>
            <a:ext cx="640080" cy="64008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807208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65776" y="26334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3602736" y="3419856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3602736" y="387705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for complex data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602736" y="445312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example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602736" y="468172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&amp; object detection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227064" y="2395728"/>
            <a:ext cx="2569464" cy="3794760"/>
          </a:xfrm>
          <a:prstGeom prst="roundRect">
            <a:avLst>
              <a:gd name="adj" fmla="val 4270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483096" y="2651760"/>
            <a:ext cx="640080" cy="64008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807208"/>
            <a:ext cx="329184" cy="32918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927848" y="26334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36" name="Text 31"/>
          <p:cNvSpPr/>
          <p:nvPr/>
        </p:nvSpPr>
        <p:spPr>
          <a:xfrm>
            <a:off x="6464808" y="3419856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6464808" y="387705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content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464808" y="445312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example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6464808" y="468172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text, code &amp; summaries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9089136" y="2395728"/>
            <a:ext cx="2569464" cy="3794760"/>
          </a:xfrm>
          <a:prstGeom prst="roundRect">
            <a:avLst>
              <a:gd name="adj" fmla="val 4270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9345168" y="2651760"/>
            <a:ext cx="640080" cy="64008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2807208"/>
            <a:ext cx="329184" cy="32918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10789920" y="26334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44" name="Text 38"/>
          <p:cNvSpPr/>
          <p:nvPr/>
        </p:nvSpPr>
        <p:spPr>
          <a:xfrm>
            <a:off x="9326880" y="3419856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45" name="Text 39"/>
          <p:cNvSpPr/>
          <p:nvPr/>
        </p:nvSpPr>
        <p:spPr>
          <a:xfrm>
            <a:off x="9326880" y="387705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plan &amp; act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9326880" y="445312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example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9326880" y="468172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research &amp; reports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LLM?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86384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10515600" cy="2011680"/>
          </a:xfrm>
          <a:prstGeom prst="roundRect">
            <a:avLst>
              <a:gd name="adj" fmla="val 5455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370332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AI system trained on enormous amounts of text that </a:t>
            </a:r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next word</a:t>
            </a:r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and over — one token at a time — to turn your text prompt into a useful text response.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LLM?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50520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24028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258568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enormous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" y="288036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code, websites — trillions of words.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8160" y="1965960"/>
            <a:ext cx="350520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2480" y="224028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24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96840" y="2258568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20768" y="288036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neural-network design behind every modern LLM.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53400" y="1965960"/>
            <a:ext cx="350520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27720" y="224028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277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22080" y="2258568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machines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46008" y="288036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predict the next token, again and again.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350520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361688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→ text out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5528" y="498348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goes in, generated text comes out.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28160" y="4069080"/>
            <a:ext cx="350520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02480" y="434340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24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96840" y="4361688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20768" y="498348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between calls — each request starts fresh.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53400" y="4069080"/>
            <a:ext cx="350520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27720" y="434340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277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22080" y="4361688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46008" y="498348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limit on how much text it can 'see' at once.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LLM?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in, prediction out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prompt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type 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26280" y="274320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3547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next token × 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0" y="274320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9536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text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95360" y="3547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you get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4904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63524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F18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280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1389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remembers nothing between calls. Every request starts from a blank slate — the whole conversation must be re-sent each time.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46634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F18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8280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51389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hard limit on how much text fits in one call — prompt plus response. Exceed it and the earliest text falls out of view.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BUILDS LLMs?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 vs open-source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 (API only)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 —  GPT-5 / GPT-4.1 family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 —  Claude Opus &amp; Sonnet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 —  Gemini 2.5 Pro / Flash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 —  Grok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(weights available)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27889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—  Llama family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 —  DeepSeek V3 / R1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 —  Mistral / Mixtral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 —  Qwen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LLMs COST?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pricing pages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changes often — always check the source. Models are billed per million tokens, split into input and output.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423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7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868680" y="2807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openai.com/api/pricing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2402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423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70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6629400" y="2807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platform.claude.com › pricing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204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03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700" dirty="0"/>
          </a:p>
        </p:txBody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868680" y="40873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ai.google.dev/pricing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5204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703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Grok</a:t>
            </a:r>
            <a:endParaRPr lang="en-US" sz="1700" dirty="0"/>
          </a:p>
        </p:txBody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6629400" y="40873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x.ai/api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8006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983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700" dirty="0"/>
          </a:p>
        </p:txBody>
      </p:sp>
      <p:sp>
        <p:nvSpPr>
          <p:cNvPr id="22" name="Text 20">
            <a:hlinkClick r:id="rId5" tooltip=""/>
          </p:cNvPr>
          <p:cNvSpPr/>
          <p:nvPr/>
        </p:nvSpPr>
        <p:spPr>
          <a:xfrm>
            <a:off x="868680" y="5367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api-docs.deepseek.com › pricing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48006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983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700" dirty="0"/>
          </a:p>
        </p:txBody>
      </p:sp>
      <p:sp>
        <p:nvSpPr>
          <p:cNvPr id="25" name="Text 23">
            <a:hlinkClick r:id="rId6" tooltip=""/>
          </p:cNvPr>
          <p:cNvSpPr/>
          <p:nvPr/>
        </p:nvSpPr>
        <p:spPr>
          <a:xfrm>
            <a:off x="6629400" y="5367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mistral.ai/pricing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LLM IS BEST?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them yourself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3317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LMArena Leaderboard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humans vote on blind head-to-head model answers. The rankings are Elo scores — like chess ratings — and they shift constantly as new models arrive.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4251960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13243F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777240" y="42519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 arena.ai/leaderboard/text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63640" y="425196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it. Check it monthly — not once.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SETTINGS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86384" y="2057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dials that shape a response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prompt — these four knobs change what comes out. Here's each one in plain words: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7365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creativity dial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5074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= safe &amp; predictable. High = wild &amp; surprising.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365760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9476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94760" y="47365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budget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94760" y="5074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it's allowed to say before it must stop.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9224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7365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fixed-size shortlist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5074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k best words are allowed to be picked.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15400" y="365760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8972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18972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89720" y="47365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shortlist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89720" y="5074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or shrinks based on how sure the model is.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SETTINGS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how a token gets chosen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step the model outputs a </a:t>
            </a:r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for every possible next token</a:t>
            </a:r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The settings decide how we pick from that list.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 “The cat sat on the ___”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54480" y="3200400"/>
            <a:ext cx="1188720" cy="2057400"/>
          </a:xfrm>
          <a:prstGeom prst="roundRect">
            <a:avLst>
              <a:gd name="adj" fmla="val 2308"/>
            </a:avLst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907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.45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17320" y="5330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4343400"/>
            <a:ext cx="1188720" cy="914400"/>
          </a:xfrm>
          <a:prstGeom prst="roundRect">
            <a:avLst>
              <a:gd name="adj" fmla="val 3000"/>
            </a:avLst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4050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63240" y="5330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4572000"/>
            <a:ext cx="1188720" cy="685800"/>
          </a:xfrm>
          <a:prstGeom prst="roundRect">
            <a:avLst>
              <a:gd name="adj" fmla="val 4000"/>
            </a:avLst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5330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4800600"/>
            <a:ext cx="1188720" cy="457200"/>
          </a:xfrm>
          <a:prstGeom prst="roundRect">
            <a:avLst>
              <a:gd name="adj" fmla="val 6000"/>
            </a:avLst>
          </a:prstGeom>
          <a:solidFill>
            <a:srgbClr val="F472B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507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55080" y="5330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38160" y="4983480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8FA3C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4690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01000" y="5330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784080" y="5074920"/>
            <a:ext cx="1188720" cy="182880"/>
          </a:xfrm>
          <a:prstGeom prst="roundRect">
            <a:avLst>
              <a:gd name="adj" fmla="val 15000"/>
            </a:avLst>
          </a:prstGeom>
          <a:solidFill>
            <a:srgbClr val="8FA3C0"/>
          </a:solidFill>
          <a:ln/>
        </p:spPr>
      </p:sp>
      <p:sp>
        <p:nvSpPr>
          <p:cNvPr id="25" name="Text 23"/>
          <p:cNvSpPr/>
          <p:nvPr/>
        </p:nvSpPr>
        <p:spPr>
          <a:xfrm>
            <a:off x="9692640" y="4782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46920" y="5330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17320" y="5257800"/>
            <a:ext cx="9692640" cy="0"/>
          </a:xfrm>
          <a:prstGeom prst="line">
            <a:avLst/>
          </a:prstGeom>
          <a:noFill/>
          <a:ln w="19050">
            <a:solidFill>
              <a:srgbClr val="2B3A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bar is a candidate next token. Taller = more likely. They all add up to 1.0.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SETTINGS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— random vs. focused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is the LLM's creativity dial — low plays it safe, high takes risks.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1155680" cy="841248"/>
          </a:xfrm>
          <a:prstGeom prst="roundRect">
            <a:avLst>
              <a:gd name="adj" fmla="val 10870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0428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1.0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779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LLMs allow up to 2.0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2340864"/>
            <a:ext cx="0" cy="548640"/>
          </a:xfrm>
          <a:prstGeom prst="line">
            <a:avLst/>
          </a:prstGeom>
          <a:noFill/>
          <a:ln w="12700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· 0–0.3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Focused, deterministic. Facts, code, extraction.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8744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· 0.4–0.7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744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Balanced. Most general use sits here.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0872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· 0.8–2.0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0872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Creative, varied, riskier. Brainstorming, fiction.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 (0.2)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791331"/>
            <a:ext cx="566928" cy="1649349"/>
          </a:xfrm>
          <a:prstGeom prst="roundRect">
            <a:avLst>
              <a:gd name="adj" fmla="val 4839"/>
            </a:avLst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98723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.78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19072" y="5186934"/>
            <a:ext cx="566928" cy="253746"/>
          </a:xfrm>
          <a:prstGeom prst="roundRect">
            <a:avLst>
              <a:gd name="adj" fmla="val 10811"/>
            </a:avLst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1627632" y="489432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581912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23744" y="5313807"/>
            <a:ext cx="566928" cy="126873"/>
          </a:xfrm>
          <a:prstGeom prst="roundRect">
            <a:avLst>
              <a:gd name="adj" fmla="val 21622"/>
            </a:avLst>
          </a:prstGeom>
          <a:solidFill>
            <a:srgbClr val="FBBF24"/>
          </a:solidFill>
          <a:ln/>
        </p:spPr>
      </p:sp>
      <p:sp>
        <p:nvSpPr>
          <p:cNvPr id="27" name="Text 25"/>
          <p:cNvSpPr/>
          <p:nvPr/>
        </p:nvSpPr>
        <p:spPr>
          <a:xfrm>
            <a:off x="2432304" y="5021199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86584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28416" y="5398389"/>
            <a:ext cx="566928" cy="42291"/>
          </a:xfrm>
          <a:prstGeom prst="roundRect">
            <a:avLst>
              <a:gd name="adj" fmla="val 64865"/>
            </a:avLst>
          </a:prstGeom>
          <a:solidFill>
            <a:srgbClr val="F472B6"/>
          </a:solidFill>
          <a:ln/>
        </p:spPr>
      </p:sp>
      <p:sp>
        <p:nvSpPr>
          <p:cNvPr id="30" name="Text 28"/>
          <p:cNvSpPr/>
          <p:nvPr/>
        </p:nvSpPr>
        <p:spPr>
          <a:xfrm>
            <a:off x="3236976" y="5105781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91256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33088" y="5404104"/>
            <a:ext cx="566928" cy="36576"/>
          </a:xfrm>
          <a:prstGeom prst="roundRect">
            <a:avLst>
              <a:gd name="adj" fmla="val 75000"/>
            </a:avLst>
          </a:prstGeom>
          <a:solidFill>
            <a:srgbClr val="8FA3C0"/>
          </a:solidFill>
          <a:ln/>
        </p:spPr>
      </p:sp>
      <p:sp>
        <p:nvSpPr>
          <p:cNvPr id="33" name="Text 31"/>
          <p:cNvSpPr/>
          <p:nvPr/>
        </p:nvSpPr>
        <p:spPr>
          <a:xfrm>
            <a:off x="4041648" y="511149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995928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5404104"/>
            <a:ext cx="566928" cy="36576"/>
          </a:xfrm>
          <a:prstGeom prst="roundRect">
            <a:avLst>
              <a:gd name="adj" fmla="val 75000"/>
            </a:avLst>
          </a:prstGeom>
          <a:solidFill>
            <a:srgbClr val="8FA3C0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511149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" y="5440680"/>
            <a:ext cx="4864608" cy="0"/>
          </a:xfrm>
          <a:prstGeom prst="line">
            <a:avLst/>
          </a:prstGeom>
          <a:noFill/>
          <a:ln w="19050">
            <a:solidFill>
              <a:srgbClr val="2B3A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715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almost always “mat”. Predictable.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  (1.2)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675120" y="4848606"/>
            <a:ext cx="566928" cy="592074"/>
          </a:xfrm>
          <a:prstGeom prst="roundRect">
            <a:avLst>
              <a:gd name="adj" fmla="val 4839"/>
            </a:avLst>
          </a:prstGeom>
          <a:solidFill>
            <a:srgbClr val="38BDF8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455599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37960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79792" y="4996625"/>
            <a:ext cx="566928" cy="444055"/>
          </a:xfrm>
          <a:prstGeom prst="roundRect">
            <a:avLst>
              <a:gd name="adj" fmla="val 6178"/>
            </a:avLst>
          </a:prstGeom>
          <a:solidFill>
            <a:srgbClr val="34D399"/>
          </a:solidFill>
          <a:ln/>
        </p:spPr>
      </p:sp>
      <p:sp>
        <p:nvSpPr>
          <p:cNvPr id="45" name="Text 43"/>
          <p:cNvSpPr/>
          <p:nvPr/>
        </p:nvSpPr>
        <p:spPr>
          <a:xfrm>
            <a:off x="7388352" y="4704017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.21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42632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284464" y="5060061"/>
            <a:ext cx="566928" cy="380619"/>
          </a:xfrm>
          <a:prstGeom prst="roundRect">
            <a:avLst>
              <a:gd name="adj" fmla="val 7207"/>
            </a:avLst>
          </a:prstGeom>
          <a:solidFill>
            <a:srgbClr val="FBBF24"/>
          </a:solidFill>
          <a:ln/>
        </p:spPr>
      </p:sp>
      <p:sp>
        <p:nvSpPr>
          <p:cNvPr id="48" name="Text 46"/>
          <p:cNvSpPr/>
          <p:nvPr/>
        </p:nvSpPr>
        <p:spPr>
          <a:xfrm>
            <a:off x="8193024" y="4767453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.18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147304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089136" y="5123498"/>
            <a:ext cx="566928" cy="317183"/>
          </a:xfrm>
          <a:prstGeom prst="roundRect">
            <a:avLst>
              <a:gd name="adj" fmla="val 8649"/>
            </a:avLst>
          </a:prstGeom>
          <a:solidFill>
            <a:srgbClr val="F472B6"/>
          </a:solidFill>
          <a:ln/>
        </p:spPr>
      </p:sp>
      <p:sp>
        <p:nvSpPr>
          <p:cNvPr id="51" name="Text 49"/>
          <p:cNvSpPr/>
          <p:nvPr/>
        </p:nvSpPr>
        <p:spPr>
          <a:xfrm>
            <a:off x="8997696" y="483089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.15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951976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893808" y="5229225"/>
            <a:ext cx="566928" cy="211455"/>
          </a:xfrm>
          <a:prstGeom prst="roundRect">
            <a:avLst>
              <a:gd name="adj" fmla="val 12973"/>
            </a:avLst>
          </a:prstGeom>
          <a:solidFill>
            <a:srgbClr val="8FA3C0"/>
          </a:solidFill>
          <a:ln/>
        </p:spPr>
      </p:sp>
      <p:sp>
        <p:nvSpPr>
          <p:cNvPr id="54" name="Text 52"/>
          <p:cNvSpPr/>
          <p:nvPr/>
        </p:nvSpPr>
        <p:spPr>
          <a:xfrm>
            <a:off x="9802368" y="4936617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756648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698480" y="5271516"/>
            <a:ext cx="566928" cy="169164"/>
          </a:xfrm>
          <a:prstGeom prst="roundRect">
            <a:avLst>
              <a:gd name="adj" fmla="val 16216"/>
            </a:avLst>
          </a:prstGeom>
          <a:solidFill>
            <a:srgbClr val="8FA3C0"/>
          </a:solidFill>
          <a:ln/>
        </p:spPr>
      </p:sp>
      <p:sp>
        <p:nvSpPr>
          <p:cNvPr id="57" name="Text 55"/>
          <p:cNvSpPr/>
          <p:nvPr/>
        </p:nvSpPr>
        <p:spPr>
          <a:xfrm>
            <a:off x="10607040" y="49789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.08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561320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537960" y="5440680"/>
            <a:ext cx="4864608" cy="0"/>
          </a:xfrm>
          <a:prstGeom prst="line">
            <a:avLst/>
          </a:prstGeom>
          <a:noFill/>
          <a:ln w="19050">
            <a:solidFill>
              <a:srgbClr val="2B3A5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0" y="5715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any of several words. Varied, surprising.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SETTINGS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 — the length cap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 is the word budget — how much the model is allowed to say before it must stop.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1155680" cy="841248"/>
          </a:xfrm>
          <a:prstGeom prst="roundRect">
            <a:avLst>
              <a:gd name="adj" fmla="val 10870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0428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context limit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779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up to 4k–64k+ depending on model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2340864"/>
            <a:ext cx="0" cy="548640"/>
          </a:xfrm>
          <a:prstGeom prst="line">
            <a:avLst/>
          </a:prstGeom>
          <a:noFill/>
          <a:ln w="12700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· tens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replies, snippets. Risk: cut off.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8744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· hundreds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744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Paragraphs, normal answers.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0872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· thousands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0872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docs, full reports. Higher cost.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33756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max_tokens = 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341071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cat sat on the”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869680" y="34107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off mid-sentence — ran out of room.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25196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43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max_tokens = 30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91840" y="432511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cat sat on the mat and watched the rain.”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869680" y="43251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short answer.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516636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257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max_tokens = 500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91840" y="523951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paragraph or more…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869680" y="52395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 of room; stops when naturally done.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2179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 ≈ ¾ of a word in English. Cost is billed per token, so this also caps cost.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SETTINGS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— keep the k likeliest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is a shortlist of fixed size — only the k best words are allowed in the running.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1155680" cy="841248"/>
          </a:xfrm>
          <a:prstGeom prst="roundRect">
            <a:avLst>
              <a:gd name="adj" fmla="val 10870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0428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vocab size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779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or unset = disabled (no limit)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2340864"/>
            <a:ext cx="0" cy="548640"/>
          </a:xfrm>
          <a:prstGeom prst="line">
            <a:avLst/>
          </a:prstGeom>
          <a:noFill/>
          <a:ln w="12700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· 1–10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focused, safe. k=1 = always the top token.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8744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· 20–50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744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default range.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0872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· 100+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0872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Loose; little filtering effect.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291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= 3   →   only “mat”, “rug”, “floor” survive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554480" y="3872484"/>
            <a:ext cx="1188720" cy="1522476"/>
          </a:xfrm>
          <a:prstGeom prst="roundRect">
            <a:avLst>
              <a:gd name="adj" fmla="val 2308"/>
            </a:avLst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35798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.45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17320" y="5468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4718304"/>
            <a:ext cx="1188720" cy="676656"/>
          </a:xfrm>
          <a:prstGeom prst="roundRect">
            <a:avLst>
              <a:gd name="adj" fmla="val 4054"/>
            </a:avLst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3108960" y="4425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063240" y="5468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4887468"/>
            <a:ext cx="1188720" cy="507492"/>
          </a:xfrm>
          <a:prstGeom prst="roundRect">
            <a:avLst>
              <a:gd name="adj" fmla="val 5405"/>
            </a:avLst>
          </a:prstGeom>
          <a:solidFill>
            <a:srgbClr val="FBBF24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45948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5468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5056632"/>
            <a:ext cx="1188720" cy="338328"/>
          </a:xfrm>
          <a:prstGeom prst="roundRect">
            <a:avLst>
              <a:gd name="adj" fmla="val 8108"/>
            </a:avLst>
          </a:prstGeom>
          <a:solidFill>
            <a:srgbClr val="24325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764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5468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5191963"/>
            <a:ext cx="1188720" cy="202997"/>
          </a:xfrm>
          <a:prstGeom prst="roundRect">
            <a:avLst>
              <a:gd name="adj" fmla="val 13514"/>
            </a:avLst>
          </a:prstGeom>
          <a:solidFill>
            <a:srgbClr val="243250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0" y="489935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01000" y="5468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784080" y="5259629"/>
            <a:ext cx="1188720" cy="135331"/>
          </a:xfrm>
          <a:prstGeom prst="roundRect">
            <a:avLst>
              <a:gd name="adj" fmla="val 20270"/>
            </a:avLst>
          </a:prstGeom>
          <a:solidFill>
            <a:srgbClr val="243250"/>
          </a:solidFill>
          <a:ln/>
        </p:spPr>
      </p:sp>
      <p:sp>
        <p:nvSpPr>
          <p:cNvPr id="36" name="Text 34"/>
          <p:cNvSpPr/>
          <p:nvPr/>
        </p:nvSpPr>
        <p:spPr>
          <a:xfrm>
            <a:off x="9692640" y="496702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646920" y="5468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17320" y="5394960"/>
            <a:ext cx="9692640" cy="0"/>
          </a:xfrm>
          <a:prstGeom prst="line">
            <a:avLst/>
          </a:prstGeom>
          <a:noFill/>
          <a:ln w="19050">
            <a:solidFill>
              <a:srgbClr val="2B3A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80160" y="5760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5760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89320" y="3703320"/>
            <a:ext cx="0" cy="1691640"/>
          </a:xfrm>
          <a:prstGeom prst="line">
            <a:avLst/>
          </a:prstGeom>
          <a:noFill/>
          <a:ln w="19050">
            <a:solidFill>
              <a:srgbClr val="F472B6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k is fixed. If the model is very confident, k=3 still drags in unlikely words; if it's unsure, k=3 may cut good ones.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SETTINGS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— keep the smallest set that adds up to 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is a smart shortlist that grows or shrinks based on how sure the model 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1155680" cy="841248"/>
          </a:xfrm>
          <a:prstGeom prst="roundRect">
            <a:avLst>
              <a:gd name="adj" fmla="val 10870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0428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1.0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779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consider all tokens (off)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2340864"/>
            <a:ext cx="0" cy="548640"/>
          </a:xfrm>
          <a:prstGeom prst="line">
            <a:avLst/>
          </a:prstGeom>
          <a:noFill/>
          <a:ln w="12700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· 0.1–0.5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Tight, safe. Only the very top tokens.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8744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· 0.8–0.95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744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default. Good balance.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0872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· ~1.0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0872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everything in play; most diverse.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291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= 0.80   →   add mat(.45) + rug(.20) + floor(.15) = .80  ✓  stop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554480" y="3867912"/>
            <a:ext cx="1188720" cy="1481328"/>
          </a:xfrm>
          <a:prstGeom prst="roundRect">
            <a:avLst>
              <a:gd name="adj" fmla="val 2308"/>
            </a:avLst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3575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.45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17320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4690872"/>
            <a:ext cx="1188720" cy="658368"/>
          </a:xfrm>
          <a:prstGeom prst="roundRect">
            <a:avLst>
              <a:gd name="adj" fmla="val 4167"/>
            </a:avLst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3108960" y="4398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063240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4855464"/>
            <a:ext cx="1188720" cy="493776"/>
          </a:xfrm>
          <a:prstGeom prst="roundRect">
            <a:avLst>
              <a:gd name="adj" fmla="val 5556"/>
            </a:avLst>
          </a:prstGeom>
          <a:solidFill>
            <a:srgbClr val="FBBF24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4562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5020056"/>
            <a:ext cx="1188720" cy="329184"/>
          </a:xfrm>
          <a:prstGeom prst="roundRect">
            <a:avLst>
              <a:gd name="adj" fmla="val 8333"/>
            </a:avLst>
          </a:prstGeom>
          <a:solidFill>
            <a:srgbClr val="24325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727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5151730"/>
            <a:ext cx="1188720" cy="197510"/>
          </a:xfrm>
          <a:prstGeom prst="roundRect">
            <a:avLst>
              <a:gd name="adj" fmla="val 13889"/>
            </a:avLst>
          </a:prstGeom>
          <a:solidFill>
            <a:srgbClr val="243250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0" y="485912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01000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784080" y="5217566"/>
            <a:ext cx="1188720" cy="131674"/>
          </a:xfrm>
          <a:prstGeom prst="roundRect">
            <a:avLst>
              <a:gd name="adj" fmla="val 20833"/>
            </a:avLst>
          </a:prstGeom>
          <a:solidFill>
            <a:srgbClr val="243250"/>
          </a:solidFill>
          <a:ln/>
        </p:spPr>
      </p:sp>
      <p:sp>
        <p:nvSpPr>
          <p:cNvPr id="36" name="Text 34"/>
          <p:cNvSpPr/>
          <p:nvPr/>
        </p:nvSpPr>
        <p:spPr>
          <a:xfrm>
            <a:off x="9692640" y="492495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646920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17320" y="5349240"/>
            <a:ext cx="9692640" cy="0"/>
          </a:xfrm>
          <a:prstGeom prst="line">
            <a:avLst/>
          </a:prstGeom>
          <a:noFill/>
          <a:ln w="19050">
            <a:solidFill>
              <a:srgbClr val="2B3A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63040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.45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108960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.65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54880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.80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89320" y="3703320"/>
            <a:ext cx="0" cy="1645920"/>
          </a:xfrm>
          <a:prstGeom prst="line">
            <a:avLst/>
          </a:prstGeom>
          <a:noFill/>
          <a:ln w="19050">
            <a:solidFill>
              <a:srgbClr val="F472B6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02920" y="6080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better than top-k: confident step → keeps few tokens; uncertain step → keeps more. It adapts.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86384" y="21945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vs. User Prompt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instructions go into every LLM call — one you set once, one the user types each time.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the developer · once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420624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by the user · every time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prompts, two jobs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103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275234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the developer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5021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346557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once, behind the scenes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2153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4178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who the AI is and how it should behave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98348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07492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helpful medical assistant. Be concise, never diagnose, always suggest seeing a doctor.”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18745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2103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80960" y="275234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the end user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35021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0" y="346557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fresh with every message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42153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80960" y="4178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question or request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29400" y="498348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507492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a headache and a slight fever. What could it be?”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reach the LLM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user sends a message, the system prompt is silently prepended. The LLM receives both as one combined input.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 by developer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helpful tutor…”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4297680" y="233172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852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each message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recursion.”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7955280" y="23317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3243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5528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INPUT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5528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as one payload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89720" y="3703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7955280" y="429768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55280" y="4480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955280" y="4864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both as a single context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297680"/>
            <a:ext cx="6675120" cy="1417320"/>
          </a:xfrm>
          <a:prstGeom prst="roundRect">
            <a:avLst>
              <a:gd name="adj" fmla="val 6452"/>
            </a:avLst>
          </a:prstGeom>
          <a:solidFill>
            <a:srgbClr val="0F18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4805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773168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is re-sent with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message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because the LLM is stateless and remembers nothing. It's not stored on the model; it's resent each time, invisibly, in front of the user's text.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86384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great system prompt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proven techniques, length tradeoffs, and hard-won tips from real projects.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20440" y="429768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429768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balance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15400" y="429768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tips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a system prompt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system prompt is built from a few standard ingredients: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4140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7980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AI 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2004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200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senior Python tutor.”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2423160"/>
            <a:ext cx="548640" cy="54864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69480" y="24140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&amp; tone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69480" y="27980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should sound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0" y="32004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200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 encouraging, patient, and concise.”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2062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526280"/>
            <a:ext cx="548640" cy="54864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08760" y="45171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8760" y="49011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do, step by step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530352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3035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with an example, then a quiz.”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2062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0" y="4526280"/>
            <a:ext cx="548640" cy="54864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69480" y="45171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limits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69480" y="49011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must NOT do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83680" y="530352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53035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write the student's homework for them.”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techniques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techniques you'll reach for again and again — we'll take each one in turn: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395728"/>
            <a:ext cx="566928" cy="56692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27048" y="24505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 — no examples.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15968" y="21031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2395728"/>
            <a:ext cx="566928" cy="56692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340096" y="24505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36008" y="31546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few examples first.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29016" y="21031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49056" y="2395728"/>
            <a:ext cx="566928" cy="56692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9056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153144" y="24505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49056" y="31546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step by step.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414016" y="42062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34056" y="4498848"/>
            <a:ext cx="566928" cy="56692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34056" y="4498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438144" y="45537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734056" y="52578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multiple paths, pick best.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27064" y="42062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47104" y="4498848"/>
            <a:ext cx="566928" cy="56692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47104" y="4498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7251192" y="45537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547104" y="52578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expert persona.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1 /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prompting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do a task with no examples at all.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4572000" cy="3959352"/>
          </a:xfrm>
          <a:prstGeom prst="roundRect">
            <a:avLst>
              <a:gd name="adj" fmla="val 2771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402336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only the instruction and the input.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relies entirely on what it already learned in training.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and shortest — but can be less reliable on tricky or niche tasks.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551383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51383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 </a:t>
            </a:r>
            <a:pPr indent="0" marL="0">
              <a:buNone/>
            </a:pPr>
            <a:r>
              <a:rPr lang="en-US" sz="1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common tasks the model clearly knows.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286000"/>
            <a:ext cx="6355080" cy="3959352"/>
          </a:xfrm>
          <a:prstGeom prst="roundRect">
            <a:avLst>
              <a:gd name="adj" fmla="val 2771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2487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8529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3108960"/>
            <a:ext cx="5806440" cy="1691640"/>
          </a:xfrm>
          <a:prstGeom prst="roundRect">
            <a:avLst>
              <a:gd name="adj" fmla="val 3243"/>
            </a:avLst>
          </a:prstGeom>
          <a:solidFill>
            <a:srgbClr val="0B1220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108960"/>
            <a:ext cx="5440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the sentiment of this review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Positive or Negative: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food was cold and the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was slow."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77840" y="50292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5285232"/>
            <a:ext cx="5806440" cy="777240"/>
          </a:xfrm>
          <a:prstGeom prst="roundRect">
            <a:avLst>
              <a:gd name="adj" fmla="val 7059"/>
            </a:avLst>
          </a:prstGeom>
          <a:solidFill>
            <a:srgbClr val="0B122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5285232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2 /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handful of examples first, then give the real task.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4572000" cy="4370832"/>
          </a:xfrm>
          <a:prstGeom prst="roundRect">
            <a:avLst>
              <a:gd name="adj" fmla="val 2510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402336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demonstrate the pattern with 2–5 examples.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copies the format and logic of your examples.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enforcing a specific output style or a tricky mapping.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592531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92531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 </a:t>
            </a:r>
            <a:pPr indent="0" marL="0">
              <a:buNone/>
            </a:pPr>
            <a:r>
              <a:rPr lang="en-US" sz="1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a specific format or style.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286000"/>
            <a:ext cx="6355080" cy="4370832"/>
          </a:xfrm>
          <a:prstGeom prst="roundRect">
            <a:avLst>
              <a:gd name="adj" fmla="val 2510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2487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8529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3108960"/>
            <a:ext cx="5806440" cy="1965960"/>
          </a:xfrm>
          <a:prstGeom prst="roundRect">
            <a:avLst>
              <a:gd name="adj" fmla="val 2791"/>
            </a:avLst>
          </a:prstGeom>
          <a:solidFill>
            <a:srgbClr val="0B122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108960"/>
            <a:ext cx="5440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a workout plan using this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Strength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Warm-up: 5 min rowing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Main: Squats, deadlifts, bench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Cool-down: Hamstring stretch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Fat loss →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77840" y="53035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5559552"/>
            <a:ext cx="5806440" cy="9144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5559552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Warm-up: 5 min jump rope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Main: HIIT circuit, burpees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Cool-down: Light walk + stretch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3 /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reason step by step before answering.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4572000" cy="4096512"/>
          </a:xfrm>
          <a:prstGeom prst="roundRect">
            <a:avLst>
              <a:gd name="adj" fmla="val 2679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402336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add a cue like "think step by step."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writes out its reasoning, then the final answer.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improves math, logic, and multi-step problems.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565099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65099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 </a:t>
            </a:r>
            <a:pPr indent="0" marL="0">
              <a:buNone/>
            </a:pPr>
            <a:r>
              <a:rPr lang="en-US" sz="1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logic, multi-step reasoning.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286000"/>
            <a:ext cx="6355080" cy="4096512"/>
          </a:xfrm>
          <a:prstGeom prst="roundRect">
            <a:avLst>
              <a:gd name="adj" fmla="val 2679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2487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8529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3108960"/>
            <a:ext cx="5806440" cy="1417320"/>
          </a:xfrm>
          <a:prstGeom prst="roundRect">
            <a:avLst>
              <a:gd name="adj" fmla="val 3871"/>
            </a:avLst>
          </a:prstGeom>
          <a:solidFill>
            <a:srgbClr val="0B122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10896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A shop has 3 boxes of 12 apples.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sells 20. How many remain?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Let's think step by step.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77840" y="47548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5010912"/>
            <a:ext cx="5806440" cy="1188720"/>
          </a:xfrm>
          <a:prstGeom prst="roundRect">
            <a:avLst>
              <a:gd name="adj" fmla="val 4615"/>
            </a:avLst>
          </a:prstGeom>
          <a:solidFill>
            <a:srgbClr val="0B122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5010912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× 12 = 36 apples total.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36 − 20 = 16 sold... wait, remaining.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16 apples.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4 /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 (ToT)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explores several reasoning paths, then picks the best.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4572000" cy="4096512"/>
          </a:xfrm>
          <a:prstGeom prst="roundRect">
            <a:avLst>
              <a:gd name="adj" fmla="val 2679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402336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chain, it branches into multiple candidate ideas.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is explored and evaluated against the goal.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branches are pruned; the strongest path wins.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compute, but better for hard, open-ended problems.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565099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65099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 </a:t>
            </a:r>
            <a:pPr indent="0" marL="0">
              <a:buNone/>
            </a:pPr>
            <a:r>
              <a:rPr lang="en-US" sz="1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problems with many possible approaches.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286000"/>
            <a:ext cx="6355080" cy="4096512"/>
          </a:xfrm>
          <a:prstGeom prst="roundRect">
            <a:avLst>
              <a:gd name="adj" fmla="val 2679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2487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8529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3108960"/>
            <a:ext cx="5806440" cy="1417320"/>
          </a:xfrm>
          <a:prstGeom prst="roundRect">
            <a:avLst>
              <a:gd name="adj" fmla="val 3871"/>
            </a:avLst>
          </a:prstGeom>
          <a:solidFill>
            <a:srgbClr val="0B1220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10896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a 3-day trip. Propose 3 different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itineraries, evaluate each, then pick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best one and explain why.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77840" y="47548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5010912"/>
            <a:ext cx="5806440" cy="1188720"/>
          </a:xfrm>
          <a:prstGeom prst="roundRect">
            <a:avLst>
              <a:gd name="adj" fmla="val 4615"/>
            </a:avLst>
          </a:prstGeom>
          <a:solidFill>
            <a:srgbClr val="0B122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5010912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A: beaches · Path B: culture ·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C: mix. Evaluating... Path C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balances cost &amp; variety. → Choose C.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5 /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model a detailed expert persona to shape its answers.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4572000" cy="4416552"/>
          </a:xfrm>
          <a:prstGeom prst="roundRect">
            <a:avLst>
              <a:gd name="adj" fmla="val 2484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402336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richer the role, the more specialized the output.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out niche specialization, experience, and how the expert works.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adopts the vocabulary, depth, and method of that role.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combined with the other techniques above.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597103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97103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 </a:t>
            </a:r>
            <a:pPr indent="0" marL="0">
              <a:buNone/>
            </a:pPr>
            <a:r>
              <a:rPr lang="en-US" sz="1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expertise, tone, or domain framing matters.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286000"/>
            <a:ext cx="6355080" cy="4416552"/>
          </a:xfrm>
          <a:prstGeom prst="roundRect">
            <a:avLst>
              <a:gd name="adj" fmla="val 2484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2487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8529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3108960"/>
            <a:ext cx="5806440" cy="2194560"/>
          </a:xfrm>
          <a:prstGeom prst="roundRect">
            <a:avLst>
              <a:gd name="adj" fmla="val 2500"/>
            </a:avLst>
          </a:prstGeom>
          <a:solidFill>
            <a:srgbClr val="0B1220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108960"/>
            <a:ext cx="5440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board-certified sports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physiotherapist, 15 years treating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marathon runners. You specialize in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overuse knee injuries. You always: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Ask about pain location &amp; history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Reason from biomechanics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Give a staged rehab plan, never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 one-size-fits-all answer.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Runner: outer-knee pain at mile 8.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77840" y="55321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5788152"/>
            <a:ext cx="5806440" cy="731520"/>
          </a:xfrm>
          <a:prstGeom prst="roundRect">
            <a:avLst>
              <a:gd name="adj" fmla="val 7500"/>
            </a:avLst>
          </a:prstGeom>
          <a:solidFill>
            <a:srgbClr val="0B122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5788152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Likely IT band friction—where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exactly? Stage 1: deload + foam roll...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should it be?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the system prompt is re-sent with </a:t>
            </a:r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message</a:t>
            </a:r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Length is a real tradeoff — it costs tokens and latency on every call.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468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SHORT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Vague, under-specified. The model guesses and behaves inconsistently.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9392" y="22860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21C30"/>
          </a:solidFill>
          <a:ln w="2222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53712" y="2468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53712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53712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detail to be reliable, lean enough to stay cheap and fast. Aim here.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55864" y="22860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21C30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0184" y="2468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30184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30184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Bloated. Higher cost &amp; latency on every message, and the model may lose focus.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75488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0F18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9194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OF THUMB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everything the model needs to behave correctly — and nothing it doesn't. Every extra sentence is paid for on every message.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 · FROM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good prompts (1/3)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48256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9568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iterative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1956816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rarely nail it first try. Expect hit-and-trial before a prompt feels right.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072384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98094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models, different prompts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60" y="298094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tuned for one model often needs rework for another.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877056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096512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40050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your prompts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400507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prompt versions — track what changed and why, like code.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901184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63040" y="5029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repeat instructions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50292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the same thing twice adds noise and can confuse the model.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 · FROM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good prompts (2/3)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48256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95681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Organize, don't scatter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195681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instructions. Don't drop them in randomly.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072384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98094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lists or XML tags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77840" y="298094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sections with bullet lists or &lt;tags&gt; — LLMs parse structure better.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877056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096512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400507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 for emphasis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400507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really matters, write the key word in CAPITALS.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901184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63040" y="5029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stuff first &amp; last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50292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long prompt, put the most critical points at the start AND the end.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 · FROM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positively (3/3)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follow </a:t>
            </a:r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instructions</a:t>
            </a:r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better than negative ones. Tell the model what TO do, not just what to avoid.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INSTEAD OF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WRITE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0604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be harsh.”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26060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0" y="260604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60604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 polite and supportive.”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447288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44728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write long answers.”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15000" y="344728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400800" y="3447288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44728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answers short and to the point.”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288536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288536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use jargon.”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15000" y="428853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400800" y="4288536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288536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 simple, everyday language.”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5129784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12978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ignore the context.”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15000" y="512978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400800" y="5129784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5129784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“Always ground your answer in the context.”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 · FROM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hard-code secrets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554480"/>
          </a:xfrm>
          <a:prstGeom prst="roundRect">
            <a:avLst>
              <a:gd name="adj" fmla="val 7059"/>
            </a:avLst>
          </a:prstGeom>
          <a:solidFill>
            <a:srgbClr val="121C30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057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 RULE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pass sensitive information, data, or secret instructions directly in the system prompt.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dangerous: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6675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can leak — users can trick the model into revealing them (prompt injection).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passwords &amp; secrets don't belong in text sent to a third-party model.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resent every message — more exposure, more logs, more risk.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89520" y="406908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0F18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INSTEAD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0" y="45720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in environment variables or a secure vault. Give the agent a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uses them — the model calls the tool without ever seeing the secret.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86384" y="2148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LLMs return data, not prose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read paragraphs — they need clean, predictable data. Structured output makes the model return JSON your code can trust.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PROSE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6634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"Sure! The user's name is Ali and he's 28 years old."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411480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STRUCTURED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4709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"name": "Ali", "age": 28 }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agents need it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can answer in prose — a human reads it. But an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feeds its output to code: another function, another model, an API. Code can't reliably read a sentence — it needs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predictable data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5440680" cy="3017520"/>
          </a:xfrm>
          <a:prstGeom prst="roundRect">
            <a:avLst>
              <a:gd name="adj" fmla="val 3636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999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PROSE  →  code can't parse 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"Sure! Ali is 28 and lives in Lahore. 😊"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42519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user.age   →  undefined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user.city  →  undefined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JSON.parse() →  ✗ throws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788920"/>
            <a:ext cx="5440680" cy="3017520"/>
          </a:xfrm>
          <a:prstGeom prst="roundRect">
            <a:avLst>
              <a:gd name="adj" fmla="val 3636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999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STRUCTURED  →  code just works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34290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"name": "Ali",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"age": 28,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"city": "Lahore" }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44805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user.age   →  28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user.city  →  "Lahore"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JSON.parse() →  ✓ clean object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get structure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do it — one you ask for, one that's enforced. The second is the part most people miss: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11155680" cy="1554480"/>
          </a:xfrm>
          <a:prstGeom prst="roundRect">
            <a:avLst>
              <a:gd name="adj" fmla="val 7059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43200"/>
            <a:ext cx="640080" cy="640080"/>
          </a:xfrm>
          <a:prstGeom prst="ellipse">
            <a:avLst/>
          </a:prstGeom>
          <a:solidFill>
            <a:srgbClr val="1B2740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83080" y="26060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prompting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783080" y="3154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simply ask the model for JSON in the prompt.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0" y="278892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· but no guarantee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069080"/>
            <a:ext cx="11155680" cy="1554480"/>
          </a:xfrm>
          <a:prstGeom prst="roundRect">
            <a:avLst>
              <a:gd name="adj" fmla="val 7059"/>
            </a:avLst>
          </a:prstGeom>
          <a:solidFill>
            <a:srgbClr val="121C30"/>
          </a:solidFill>
          <a:ln w="2222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526280"/>
            <a:ext cx="640080" cy="640080"/>
          </a:xfrm>
          <a:prstGeom prst="ellipse">
            <a:avLst/>
          </a:prstGeom>
          <a:solidFill>
            <a:srgbClr val="1B2740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83080" y="43891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“magic” method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783080" y="49377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decoding forces valid tokens at each step.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21040" y="457200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· format enforced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1 /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prompting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most of the time — but nothing is guaranteed.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505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WRITE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"Respond ONLY in JSON with keys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and age. No other text."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17920" y="265176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relies on what it learned in training to follow format instructions. You're asking — and hoping.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BREAK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80060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chatty prose: "Sure! Here's your JSON…"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it in ```json markdown fences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extra fields you didn't ask for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JSON syntax — a missing quote or comma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2 /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 method — constrained decoding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an LLM never "writes text." At each step it outputs a </a:t>
            </a:r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over every token</a:t>
            </a:r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one is sampled. Structured-output systems intercept that step.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Model's raw scores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 over ALL tokens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237744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mask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→ legal tokens only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1040" y="237744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392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what's allowed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6809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02920" y="4114800"/>
            <a:ext cx="11155680" cy="1691640"/>
          </a:xfrm>
          <a:prstGeom prst="roundRect">
            <a:avLst>
              <a:gd name="adj" fmla="val 5405"/>
            </a:avLst>
          </a:prstGeom>
          <a:solidFill>
            <a:srgbClr val="0F18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976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IDEA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6177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applies a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mask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every token that would break the schema has its probability set to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(−∞ on the logits)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sampling. So if the JSON grammar says "after { the only legal thing is a quoted key or }," the model is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incapable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emitting anything else. The format isn't requested — it's ENFORCED.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2 /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logit mask, step by step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state:  we've just emitted  {  — the grammar now allows only a quoted key or a closing brace.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3022600"/>
            <a:ext cx="1325880" cy="1869440"/>
          </a:xfrm>
          <a:prstGeom prst="roundRect">
            <a:avLst>
              <a:gd name="adj" fmla="val 2759"/>
            </a:avLst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7299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.40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4983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5303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63240" y="4050792"/>
            <a:ext cx="1325880" cy="841248"/>
          </a:xfrm>
          <a:prstGeom prst="roundRect">
            <a:avLst>
              <a:gd name="adj" fmla="val 4348"/>
            </a:avLst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37581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4983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5303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3957320"/>
            <a:ext cx="1325880" cy="934720"/>
          </a:xfrm>
          <a:prstGeom prst="roundRect">
            <a:avLst>
              <a:gd name="adj" fmla="val 3913"/>
            </a:avLst>
          </a:prstGeom>
          <a:solidFill>
            <a:srgbClr val="24325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6647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4983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15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5303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29400" y="4331208"/>
            <a:ext cx="1325880" cy="560832"/>
          </a:xfrm>
          <a:prstGeom prst="roundRect">
            <a:avLst>
              <a:gd name="adj" fmla="val 6522"/>
            </a:avLst>
          </a:prstGeom>
          <a:solidFill>
            <a:srgbClr val="243250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038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983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15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5303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412480" y="4611624"/>
            <a:ext cx="1325880" cy="280416"/>
          </a:xfrm>
          <a:prstGeom prst="roundRect">
            <a:avLst>
              <a:gd name="adj" fmla="val 13043"/>
            </a:avLst>
          </a:prstGeom>
          <a:solidFill>
            <a:srgbClr val="243250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43190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75320" y="4983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15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5320" y="5303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195560" y="4705096"/>
            <a:ext cx="1325880" cy="186944"/>
          </a:xfrm>
          <a:prstGeom prst="roundRect">
            <a:avLst>
              <a:gd name="adj" fmla="val 19565"/>
            </a:avLst>
          </a:prstGeom>
          <a:solidFill>
            <a:srgbClr val="243250"/>
          </a:solidFill>
          <a:ln/>
        </p:spPr>
      </p:sp>
      <p:sp>
        <p:nvSpPr>
          <p:cNvPr id="29" name="Text 27"/>
          <p:cNvSpPr/>
          <p:nvPr/>
        </p:nvSpPr>
        <p:spPr>
          <a:xfrm>
            <a:off x="10104120" y="4412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0" y="4983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15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0" y="5303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97280" y="4892040"/>
            <a:ext cx="10607040" cy="0"/>
          </a:xfrm>
          <a:prstGeom prst="line">
            <a:avLst/>
          </a:prstGeom>
          <a:noFill/>
          <a:ln w="19050">
            <a:solidFill>
              <a:srgbClr val="2B3A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tokens (prose, markdown, numbers) are zeroed out — only schema-valid tokens survive to be sampled.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2 / 2 · 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powers the magic method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combine. Providers </a:t>
            </a:r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models on huge amounts of tool-use and JSON (so they lean toward valid structure), then apply </a:t>
            </a:r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decoding</a:t>
            </a:r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top to enforce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11155680" cy="114300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871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use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"JSON mode"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pass a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schema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OpenAI or Anthropic, it's usually BOTH at once: a model trained toward structure, plus constrained decoding enforcing it under the hood.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 THAT ENFORCE 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1148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21C30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24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regex &amp; JSON schemas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41148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21C30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224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 · templated generation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50292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21C30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38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GBNF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5486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grammar-based sampling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50292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21C30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5138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5486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outputs at serving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extraction with a schema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text in → guaranteed schema out. The shape is enforced; the model only fills the values.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042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 ·  raw email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"Hi, this is Ayesha Malik, I'd like to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table for 4 this Friday at 7pm.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number is 0300-1234567."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0F18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286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 ·  what you require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57860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party_size: integer,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day: string,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time: string,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phone: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114800"/>
            <a:ext cx="11155680" cy="1965960"/>
          </a:xfrm>
          <a:prstGeom prst="roundRect">
            <a:avLst>
              <a:gd name="adj" fmla="val 4651"/>
            </a:avLst>
          </a:prstGeom>
          <a:solidFill>
            <a:srgbClr val="0B122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251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GUARANTEED OUTPUT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535424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"Ayesha Malik",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"party_size": 4,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"day": "Friday",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"time": "19:00",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"phone": "0300-1234567"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you'll use it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3523488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350008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368296"/>
            <a:ext cx="242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extraction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5528" y="2971800"/>
            <a:ext cx="2974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clean fields from messy text — invoices, emails, resumes.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19016" y="2057400"/>
            <a:ext cx="3523488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1624" y="2350008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1624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87696" y="2368296"/>
            <a:ext cx="242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11624" y="2971800"/>
            <a:ext cx="2974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fixed label your code can switch on: {intent: "refund"}.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5112" y="2057400"/>
            <a:ext cx="3523488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27720" y="2350008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2772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03792" y="2368296"/>
            <a:ext cx="242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workflow pipelines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427720" y="2971800"/>
            <a:ext cx="2974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model's output becomes another model's — or an app's — input.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160520"/>
            <a:ext cx="3523488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5528" y="4453128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4471416"/>
            <a:ext cx="242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Templated data generation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95528" y="5074920"/>
            <a:ext cx="2974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rows, records, or config that always match a fixed shape.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19016" y="4160520"/>
            <a:ext cx="3523488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1624" y="4453128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1624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187696" y="4471416"/>
            <a:ext cx="242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artifact rendering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4611624" y="5074920"/>
            <a:ext cx="2974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JSON a UI maps straight to cards, charts, or forms.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35112" y="4160520"/>
            <a:ext cx="3523488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27720" y="4453128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2772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003792" y="4471416"/>
            <a:ext cx="242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tool invocation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8427720" y="5074920"/>
            <a:ext cx="2974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tools clean, valid arguments — the core of agent tool calling.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/ TOOL CALLING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86384" y="2148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take action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concept that turns a text generator into an agent. Everything in agentic AI is built on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40050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TOOLS  ·  text in, text out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480060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1B2740"/>
          </a:solidFill>
          <a:ln w="12700">
            <a:solidFill>
              <a:srgbClr val="8FA3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8006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423160" y="48006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1B274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4800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51960" y="480060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B2740"/>
          </a:solidFill>
          <a:ln w="12700">
            <a:solidFill>
              <a:srgbClr val="8FA3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48006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057400" y="5138928"/>
            <a:ext cx="365760" cy="0"/>
          </a:xfrm>
          <a:prstGeom prst="line">
            <a:avLst/>
          </a:prstGeom>
          <a:noFill/>
          <a:ln w="22225">
            <a:solidFill>
              <a:srgbClr val="8FA3C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86200" y="5138928"/>
            <a:ext cx="365760" cy="0"/>
          </a:xfrm>
          <a:prstGeom prst="line">
            <a:avLst/>
          </a:prstGeom>
          <a:noFill/>
          <a:ln w="22225">
            <a:solidFill>
              <a:srgbClr val="8FA3C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77240" y="5596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in the box — no live data, no actions.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40050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TOOLS  ·  reaches out &amp; acts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480060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1B2740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800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012680" y="437083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0F18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12680" y="43708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🌦️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5184648"/>
            <a:ext cx="1874520" cy="-585216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12680" y="4956048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0F18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12680" y="49560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DB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5184648"/>
            <a:ext cx="187452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12680" y="5541264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0F18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12680" y="55412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Web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5184648"/>
            <a:ext cx="1874520" cy="585216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492240" y="5596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real tools — fetches data, takes actions.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/ TOOL CALLING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 (you already know the trick)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secret: a tool call is just </a:t>
            </a:r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disguise. The model doesn't run anything — it returns clean JSON saying which function to call and with what arguments. YOUR code runs it.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0F18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78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  ·  last lecture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907792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"Extract name &amp; age as JSON."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"name": "Ali",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"age": 28 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42316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0F18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578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  ·  same idea!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907792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 the weather in Lahore."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"tool": "get_weather",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"args": { "city": "Lahore" } }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06440" y="30632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0F18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091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mechanism, new purpose: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gives you DATA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 tool call uses that same structure to name an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your code to perform. The model is the brain choosing the tool; your code is the hands.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/ TOOL CALLING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loop, visualized (ReAct)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forms a cycle: the model THINKS, takes an ACTION (a tool call), reads the OBSERVATION, and loops — until it's ready to ANSWER.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554480" y="22402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21C30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2240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188720" y="3154680"/>
            <a:ext cx="2743200" cy="1645920"/>
          </a:xfrm>
          <a:prstGeom prst="diamond">
            <a:avLst/>
          </a:prstGeom>
          <a:solidFill>
            <a:srgbClr val="13243F"/>
          </a:solidFill>
          <a:ln w="2222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31546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5440680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C30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5440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26280" y="50292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21C30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5029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560320" y="2926080"/>
            <a:ext cx="0" cy="22860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463040" y="4617720"/>
            <a:ext cx="137160" cy="822960"/>
          </a:xfrm>
          <a:prstGeom prst="line">
            <a:avLst/>
          </a:prstGeom>
          <a:noFill/>
          <a:ln w="25400">
            <a:solidFill>
              <a:srgbClr val="F472B6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57200" y="4572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194560" y="5440680"/>
            <a:ext cx="-548640" cy="-73152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828800" y="5029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4114800"/>
            <a:ext cx="868680" cy="914400"/>
          </a:xfrm>
          <a:prstGeom prst="line">
            <a:avLst/>
          </a:prstGeom>
          <a:noFill/>
          <a:ln w="25400">
            <a:solidFill>
              <a:srgbClr val="8FA3C0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49440" y="2331720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2532888"/>
            <a:ext cx="384048" cy="38404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26680" y="2441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tools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26680" y="275234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+ arguments, as a JSON schema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49440" y="3246120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121C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78040" y="3447288"/>
            <a:ext cx="384048" cy="38404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26680" y="3355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requests a call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26680" y="366674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JSON, not text: which tool + args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49440" y="4160520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78040" y="4361688"/>
            <a:ext cx="384048" cy="38404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26680" y="4270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runs it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26680" y="458114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API call / DB query happens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49440" y="5074920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5276088"/>
            <a:ext cx="384048" cy="38404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7804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26680" y="5184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 answer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726680" y="549554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goes back; model replies to user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Thought→Action→Observation cycle repeats until the model can answer. That loop IS the agent.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/ TOOL CALLING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history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could write — but not act. One feature changed everything, and the whole field has built on it since.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2121408"/>
            <a:ext cx="0" cy="3621024"/>
          </a:xfrm>
          <a:prstGeom prst="line">
            <a:avLst/>
          </a:prstGeom>
          <a:noFill/>
          <a:ln w="25400">
            <a:solidFill>
              <a:srgbClr val="2B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011680"/>
            <a:ext cx="219456" cy="219456"/>
          </a:xfrm>
          <a:prstGeom prst="ellipse">
            <a:avLst/>
          </a:prstGeom>
          <a:solidFill>
            <a:srgbClr val="2B3A57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9933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2023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63240" y="19751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generate text only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93852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but locked in a box — no live data, no actions.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0392" y="2615184"/>
            <a:ext cx="219456" cy="219456"/>
          </a:xfrm>
          <a:prstGeom prst="ellipse">
            <a:avLst/>
          </a:prstGeom>
          <a:solidFill>
            <a:srgbClr val="38BDF8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5968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13, 2023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3240" y="25786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introduces Function Calling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254203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&amp; GPT-4 can output a structured call to developer-defined functions.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0392" y="3218688"/>
            <a:ext cx="219456" cy="219456"/>
          </a:xfrm>
          <a:prstGeom prst="ellipse">
            <a:avLst/>
          </a:prstGeom>
          <a:solidFill>
            <a:srgbClr val="34D399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3200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2023–24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63240" y="31821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follows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314553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(Gemini), Anthropic (Claude) &amp; others ship their own tool-calling APIs.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50392" y="3822192"/>
            <a:ext cx="219456" cy="219456"/>
          </a:xfrm>
          <a:prstGeom prst="ellipse">
            <a:avLst/>
          </a:prstGeom>
          <a:solidFill>
            <a:srgbClr val="FBBF24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8039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063240" y="37856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standardizes 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374904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Model Context Protocol — write a tool once, use it across models.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0392" y="4425696"/>
            <a:ext cx="219456" cy="219456"/>
          </a:xfrm>
          <a:prstGeom prst="ellipse">
            <a:avLst/>
          </a:prstGeom>
          <a:solidFill>
            <a:srgbClr val="F472B6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0160" y="4407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→ 2025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63240" y="4389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bloom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435254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LangGraph, OpenAI Agents SDK, Google ADK, Anthropic SDK.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0392" y="5029200"/>
            <a:ext cx="219456" cy="219456"/>
          </a:xfrm>
          <a:prstGeom prst="ellipse">
            <a:avLst/>
          </a:prstGeom>
          <a:solidFill>
            <a:srgbClr val="38BDF8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50109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→ 2026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063240" y="49926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agents &amp; visual builders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495604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Claude Cowork, Manus, Open Code/Work, n8n, OpenAI Agent Builder — all built on tool calling + MCP.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0392" y="5632704"/>
            <a:ext cx="219456" cy="219456"/>
          </a:xfrm>
          <a:prstGeom prst="ellipse">
            <a:avLst/>
          </a:prstGeom>
          <a:solidFill>
            <a:srgbClr val="34D399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0160" y="56144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onwards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063240" y="55961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agents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40880" y="555955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OpenClaw, Hermes — agents that act for you. Same foundation underneath.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wave above — frameworks, general agents, personal agents — is still the same tool-calling loop underneath.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you know runs on it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products feel like magic — but underneath, each one is the tool-calling loop applied to different tools: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523488" cy="1280160"/>
          </a:xfrm>
          <a:prstGeom prst="roundRect">
            <a:avLst>
              <a:gd name="adj" fmla="val 7143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331720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2816352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web search, code, image tools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19016" y="2103120"/>
            <a:ext cx="3523488" cy="1280160"/>
          </a:xfrm>
          <a:prstGeom prst="roundRect">
            <a:avLst>
              <a:gd name="adj" fmla="val 7143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39056" y="2331720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39056" y="2816352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read-file, edit-file, run-terminal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5112" y="2103120"/>
            <a:ext cx="3523488" cy="1280160"/>
          </a:xfrm>
          <a:prstGeom prst="roundRect">
            <a:avLst>
              <a:gd name="adj" fmla="val 7143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55152" y="2331720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55152" y="2816352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file, shell &amp; git tools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3523488" cy="1280160"/>
          </a:xfrm>
          <a:prstGeom prst="roundRect">
            <a:avLst>
              <a:gd name="adj" fmla="val 7143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794760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2960" y="4279392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docs, sheets &amp; app tools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19016" y="3566160"/>
            <a:ext cx="3523488" cy="1280160"/>
          </a:xfrm>
          <a:prstGeom prst="roundRect">
            <a:avLst>
              <a:gd name="adj" fmla="val 7143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39056" y="3794760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639056" y="4279392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browser &amp; computer tools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35112" y="3566160"/>
            <a:ext cx="3523488" cy="1280160"/>
          </a:xfrm>
          <a:prstGeom prst="roundRect">
            <a:avLst>
              <a:gd name="adj" fmla="val 7143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55152" y="3794760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455152" y="4279392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APIs &amp; app integrations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52120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tools, same engine. Learn the loop once, and every one of these stops being magic.</a:t>
            </a:r>
            <a:endParaRPr lang="en-U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/ TOOL CALLING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weather question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11155680" cy="640080"/>
          </a:xfrm>
          <a:prstGeom prst="roundRect">
            <a:avLst>
              <a:gd name="adj" fmla="val 14286"/>
            </a:avLst>
          </a:prstGeom>
          <a:solidFill>
            <a:srgbClr val="13243F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08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weather in Lahore right now?"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514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TOOL DEFINED (by you)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898648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0B1220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89864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get_weather(city: string)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returns current conditions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33172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2514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MODEL REQUESTS CALL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37960" y="2898648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0B1220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89864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"tool": "get_weather",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"args": { "city": "Lahore" } }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20624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389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YOUR CODE RUNS 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773168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0B1220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77316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 weather API →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"temp": 34, "sky": "clear" }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20624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4389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MODEL ANSWERS USER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4773168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0B1220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77316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"It's currently 34°C and clear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Lahore."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Course — Slides</dc:title>
  <dc:subject>PptxGenJS Presentation</dc:subject>
  <dc:creator>Agentic AI Course</dc:creator>
  <cp:lastModifiedBy>Agentic AI Course</cp:lastModifiedBy>
  <cp:revision>1</cp:revision>
  <dcterms:created xsi:type="dcterms:W3CDTF">2026-06-23T03:17:54Z</dcterms:created>
  <dcterms:modified xsi:type="dcterms:W3CDTF">2026-06-23T03:17:54Z</dcterms:modified>
</cp:coreProperties>
</file>