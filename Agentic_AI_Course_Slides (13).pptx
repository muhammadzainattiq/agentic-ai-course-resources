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com/api/pricing" TargetMode="External"/><Relationship Id="rId2" Type="http://schemas.openxmlformats.org/officeDocument/2006/relationships/hyperlink" Target="https://platform.claude.com/docs/en/about-claude/pricing" TargetMode="External"/><Relationship Id="rId3" Type="http://schemas.openxmlformats.org/officeDocument/2006/relationships/hyperlink" Target="https://ai.google.dev/pricing" TargetMode="External"/><Relationship Id="rId4" Type="http://schemas.openxmlformats.org/officeDocument/2006/relationships/hyperlink" Target="https://x.ai/api" TargetMode="External"/><Relationship Id="rId5" Type="http://schemas.openxmlformats.org/officeDocument/2006/relationships/hyperlink" Target="https://api-docs.deepseek.com/quick_start/pricing" TargetMode="External"/><Relationship Id="rId6" Type="http://schemas.openxmlformats.org/officeDocument/2006/relationships/hyperlink" Target="https://mistral.ai/pricing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arena.ai/leaderboard/te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54480"/>
            <a:ext cx="3200400" cy="3200400"/>
          </a:xfrm>
          <a:prstGeom prst="ellipse">
            <a:avLst/>
          </a:prstGeom>
          <a:solidFill>
            <a:srgbClr val="1324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25603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86384" y="2240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2026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learn — and the order to learn it in — to go from zero to building real AI agents.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Foundations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08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Full-Code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94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No-Code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48463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Operating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77640" y="19933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777240" y="2103120"/>
            <a:ext cx="868680" cy="8686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313432"/>
            <a:ext cx="448056" cy="4480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7240" y="3108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77240" y="3584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3977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concepts every agent builder needs before touching any tool.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49240" y="18288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95544" y="203454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6"/>
          <p:cNvSpPr/>
          <p:nvPr/>
        </p:nvSpPr>
        <p:spPr>
          <a:xfrm>
            <a:off x="5678424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 &amp; providers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691372" y="182880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37676" y="203454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19"/>
          <p:cNvSpPr/>
          <p:nvPr/>
        </p:nvSpPr>
        <p:spPr>
          <a:xfrm>
            <a:off x="9020556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&amp; tokens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349240" y="242773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95544" y="263347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2"/>
          <p:cNvSpPr/>
          <p:nvPr/>
        </p:nvSpPr>
        <p:spPr>
          <a:xfrm>
            <a:off x="5678424" y="24277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91372" y="242773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37676" y="263347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Text 25"/>
          <p:cNvSpPr/>
          <p:nvPr/>
        </p:nvSpPr>
        <p:spPr>
          <a:xfrm>
            <a:off x="9020556" y="24277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Chatbot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349240" y="3026664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95544" y="323240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8"/>
          <p:cNvSpPr/>
          <p:nvPr/>
        </p:nvSpPr>
        <p:spPr>
          <a:xfrm>
            <a:off x="5678424" y="3026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Automation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691372" y="3026664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837676" y="3232404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4" name="Text 31"/>
          <p:cNvSpPr/>
          <p:nvPr/>
        </p:nvSpPr>
        <p:spPr>
          <a:xfrm>
            <a:off x="9020556" y="3026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vs Agent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349240" y="3625596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95544" y="383133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7" name="Text 34"/>
          <p:cNvSpPr/>
          <p:nvPr/>
        </p:nvSpPr>
        <p:spPr>
          <a:xfrm>
            <a:off x="5678424" y="36255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agents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691372" y="3625596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837676" y="3831336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0" name="Text 37"/>
          <p:cNvSpPr/>
          <p:nvPr/>
        </p:nvSpPr>
        <p:spPr>
          <a:xfrm>
            <a:off x="9020556" y="36255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349240" y="4224528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95544" y="443026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3" name="Text 40"/>
          <p:cNvSpPr/>
          <p:nvPr/>
        </p:nvSpPr>
        <p:spPr>
          <a:xfrm>
            <a:off x="5678424" y="4224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vs structured output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8691372" y="4224528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37676" y="4430268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6" name="Text 43"/>
          <p:cNvSpPr/>
          <p:nvPr/>
        </p:nvSpPr>
        <p:spPr>
          <a:xfrm>
            <a:off x="9020556" y="4224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349240" y="482346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95544" y="502920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9" name="Text 46"/>
          <p:cNvSpPr/>
          <p:nvPr/>
        </p:nvSpPr>
        <p:spPr>
          <a:xfrm>
            <a:off x="5678424" y="48234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691372" y="482346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837676" y="5029200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2" name="Text 49"/>
          <p:cNvSpPr/>
          <p:nvPr/>
        </p:nvSpPr>
        <p:spPr>
          <a:xfrm>
            <a:off x="9020556" y="48234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5349240" y="542239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95544" y="562813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5" name="Text 52"/>
          <p:cNvSpPr/>
          <p:nvPr/>
        </p:nvSpPr>
        <p:spPr>
          <a:xfrm>
            <a:off x="5678424" y="5422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8691372" y="5422392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837676" y="5628132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8" name="Text 55"/>
          <p:cNvSpPr/>
          <p:nvPr/>
        </p:nvSpPr>
        <p:spPr>
          <a:xfrm>
            <a:off x="9020556" y="5422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025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066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settings, providers, cost &amp; tokens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 · vs chatbot · vs automation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servers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185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918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4617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677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0959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Full-Code Agents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60959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who want control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617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4078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E2A42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3811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15100" y="2084832"/>
            <a:ext cx="731520" cy="73152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24325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77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852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7852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non-devs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15100" y="4023360"/>
            <a:ext cx="207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0971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E2A42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60704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9384030" y="2084832"/>
            <a:ext cx="731520" cy="73152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24325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0" y="226771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745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Agents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4745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wanting productivity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84030" y="4023360"/>
            <a:ext cx="207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025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066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settings, providers, cost &amp; tokens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 · vs chatbot · vs automation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servers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185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918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4617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677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0959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Full-Code Agents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60959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who want control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617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4078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3811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1510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77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852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7852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non-devs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1510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 Builder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GoHighLevel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0971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E2A42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60704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9384030" y="2084832"/>
            <a:ext cx="731520" cy="731520"/>
          </a:xfrm>
          <a:prstGeom prst="ellipse">
            <a:avLst/>
          </a:prstGeom>
          <a:solidFill>
            <a:srgbClr val="1A2438"/>
          </a:solidFill>
          <a:ln w="12700">
            <a:solidFill>
              <a:srgbClr val="24325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0" y="226771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745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Agents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4745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wanting productivity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84030" y="4023360"/>
            <a:ext cx="207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building AI agents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63825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638251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6382512"/>
            <a:ext cx="146304" cy="14630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6327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of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025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677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066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— for everyone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settings, providers, cost &amp; tokens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LLM · vs chatbot · vs automation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function calling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servers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short vs long term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185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6918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364617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2677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0959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Full-Code Agents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60959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who want control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64617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4078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73811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Shape 22"/>
          <p:cNvSpPr/>
          <p:nvPr/>
        </p:nvSpPr>
        <p:spPr>
          <a:xfrm>
            <a:off x="651510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26771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852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7852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&amp; non-devs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1510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 Builder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GoHighLevel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109710" y="1828800"/>
            <a:ext cx="2548890" cy="4206240"/>
          </a:xfrm>
          <a:prstGeom prst="roundRect">
            <a:avLst>
              <a:gd name="adj" fmla="val 4305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10607040" y="197510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Shape 28"/>
          <p:cNvSpPr/>
          <p:nvPr/>
        </p:nvSpPr>
        <p:spPr>
          <a:xfrm>
            <a:off x="9384030" y="2084832"/>
            <a:ext cx="731520" cy="73152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0" y="2267712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7454" y="2962656"/>
            <a:ext cx="21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Agents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47454" y="3364992"/>
            <a:ext cx="2164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wanting productivity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84030" y="3840480"/>
            <a:ext cx="20734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extend pre-built agents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→ DL → GenAI → Agentic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 of how we got from spam filters to autonomous agents — and what each era is actually for.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416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18688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661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44165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330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61888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3093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4165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705088" y="4297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052560" y="42976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44165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94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Machine Learning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learn rules from labeled/structured data to predict or classify — no explicit programming of the rules.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298448"/>
          </a:xfrm>
          <a:prstGeom prst="roundRect">
            <a:avLst>
              <a:gd name="adj" fmla="val 7042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not-spam classification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demand forecasting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churn prediction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785616"/>
            <a:ext cx="6766560" cy="1389888"/>
          </a:xfrm>
          <a:prstGeom prst="roundRect">
            <a:avLst>
              <a:gd name="adj" fmla="val 65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913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ALGORITHMS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KNN, k-means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&amp; boosting (XGBoost)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528523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413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Deep Learning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for complex data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 that learn features directly from unstructured data (images, audio, text) — no manual feature engineering.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298448"/>
          </a:xfrm>
          <a:prstGeom prst="roundRect">
            <a:avLst>
              <a:gd name="adj" fmla="val 7042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&amp; object detection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diagnosis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785616"/>
            <a:ext cx="6766560" cy="1389888"/>
          </a:xfrm>
          <a:prstGeom prst="roundRect">
            <a:avLst>
              <a:gd name="adj" fmla="val 65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913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ALGORITHMS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(vision)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RNNs, LSTMs, GRUs (sequence)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528523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413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Generative 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2B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LLMs that generate new text, code, images, and audio by predicting patterns — reactive, prompt-driven.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298448"/>
          </a:xfrm>
          <a:prstGeom prst="roundRect">
            <a:avLst>
              <a:gd name="adj" fmla="val 7042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text, code &amp; summaries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over your docs (RAG)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audio generation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copilots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785616"/>
            <a:ext cx="6766560" cy="1389888"/>
          </a:xfrm>
          <a:prstGeom prst="roundRect">
            <a:avLst>
              <a:gd name="adj" fmla="val 65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913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ALGORITHMS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(LLMs)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(images)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242816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5285232"/>
            <a:ext cx="6766560" cy="932688"/>
          </a:xfrm>
          <a:prstGeom prst="roundRect">
            <a:avLst>
              <a:gd name="adj" fmla="val 980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413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7424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Agentic 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2670048"/>
            <a:ext cx="914400" cy="9144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9864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2044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13816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13816" y="41696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plan &amp; act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" y="4956048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given tools, memory &amp; a loop — they plan, take actions, observe results, and pursue multi-step goals autonomously.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92040" y="2377440"/>
            <a:ext cx="6766560" cy="1152144"/>
          </a:xfrm>
          <a:prstGeom prst="roundRect">
            <a:avLst>
              <a:gd name="adj" fmla="val 7937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IT SOLVES  ·  TECHNICAL EXAMPLES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02936" y="28346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 &amp; reports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trip end-to-end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494776" y="28346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tasks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w/ tools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892040" y="3639312"/>
            <a:ext cx="6766560" cy="1152144"/>
          </a:xfrm>
          <a:prstGeom prst="roundRect">
            <a:avLst>
              <a:gd name="adj" fmla="val 7937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3767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BUILDING BLOCKS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02936" y="40965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LLMs (the brain)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function calling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memory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494776" y="40965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reflection loops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892040" y="4901184"/>
            <a:ext cx="6766560" cy="1316736"/>
          </a:xfrm>
          <a:prstGeom prst="roundRect">
            <a:avLst>
              <a:gd name="adj" fmla="val 694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50292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02936" y="535838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494776" y="535838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eras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0"/>
          </a:xfrm>
          <a:prstGeom prst="line">
            <a:avLst/>
          </a:prstGeom>
          <a:noFill/>
          <a:ln w="25400">
            <a:solidFill>
              <a:srgbClr val="2B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8810" y="1755648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45161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9150" y="1755648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17195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490" y="1755648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89229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9830" y="175564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1263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0720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203704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0664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0664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40664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not-spam classification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64992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21024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80720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65776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3602736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3602736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for complex data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02736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602736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&amp; object detection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227064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483096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807208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927848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 31"/>
          <p:cNvSpPr/>
          <p:nvPr/>
        </p:nvSpPr>
        <p:spPr>
          <a:xfrm>
            <a:off x="6464808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6464808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content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64808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464808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text, code &amp; summaries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9089136" y="2395728"/>
            <a:ext cx="2569464" cy="3794760"/>
          </a:xfrm>
          <a:prstGeom prst="roundRect">
            <a:avLst>
              <a:gd name="adj" fmla="val 4270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9345168" y="2651760"/>
            <a:ext cx="640080" cy="64008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807208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0789920" y="26334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44" name="Text 38"/>
          <p:cNvSpPr/>
          <p:nvPr/>
        </p:nvSpPr>
        <p:spPr>
          <a:xfrm>
            <a:off x="9326880" y="341985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9326880" y="3877056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plan &amp; act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9326880" y="445312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example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9326880" y="4681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 &amp; reports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37033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 system trained on enormous amounts of text that </a:t>
            </a:r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word</a:t>
            </a:r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and over — one token at a time — to turn your text prompt into a useful text response.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5856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enormous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8803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code, websites — trillions of words.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8160" y="196596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2480" y="22402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2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6840" y="225856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20768" y="28803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neural-network design behind every modern LLM.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3400" y="196596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27720" y="224028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77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22080" y="225856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machines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46008" y="288036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 the next token, again and again.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36168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→ text out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5528" y="49834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goes in, generated text comes out.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8160" y="406908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2480" y="434340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24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96840" y="436168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20768" y="49834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calls — each request starts fresh.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3400" y="4069080"/>
            <a:ext cx="350520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27720" y="434340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277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22080" y="4361688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46008" y="49834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limit on how much text it can 'see' at once.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in, prediction out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prompt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 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27432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 token × 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27432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3547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you get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63524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138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remembers nothing between calls. Every request starts from a blank slate — the whole conversation must be re-sent each time.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46634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51389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hard limit on how much text fits in one call — prompt plus response. Exceed it and the earliest text falls out of view.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BUILDS LLMs?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vs open-source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(API only)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—  GPT-5 / GPT-4.1 family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—  Claude Opus &amp; Sonnet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—  Gemini 2.5 Pro / Flash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 —  Grok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(weights available)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—  Llama family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 —  DeepSeek V3 / R1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 —  Mistral / Mixtral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 —  Qwen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LLMs COST?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pricing pages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changes often — always check the source. Models are billed per million tokens, split into input and output.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23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7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868680" y="2807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openai.com/api/pricing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423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70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6629400" y="2807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platform.claude.com › pricing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700" dirty="0"/>
          </a:p>
        </p:txBody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868680" y="4087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ai.google.dev/pricing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700" dirty="0"/>
          </a:p>
        </p:txBody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6629400" y="4087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x.ai/api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8006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700" dirty="0"/>
          </a:p>
        </p:txBody>
      </p:sp>
      <p:sp>
        <p:nvSpPr>
          <p:cNvPr id="22" name="Text 20">
            <a:hlinkClick r:id="rId5" tooltip=""/>
          </p:cNvPr>
          <p:cNvSpPr/>
          <p:nvPr/>
        </p:nvSpPr>
        <p:spPr>
          <a:xfrm>
            <a:off x="86868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api-docs.deepseek.com › pricing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8006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700" dirty="0"/>
          </a:p>
        </p:txBody>
      </p:sp>
      <p:sp>
        <p:nvSpPr>
          <p:cNvPr id="25" name="Text 23">
            <a:hlinkClick r:id="rId6" tooltip=""/>
          </p:cNvPr>
          <p:cNvSpPr/>
          <p:nvPr/>
        </p:nvSpPr>
        <p:spPr>
          <a:xfrm>
            <a:off x="6629400" y="5367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mistral.ai/pricing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LLM IS BEST?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them yourself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31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LMArena Leaderboard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 vote on blind head-to-head model answers. The rankings are Elo scores — like chess ratings — and they shift constantly as new models arrive.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2519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3243F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77240" y="4251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arena.ai/leaderboard/text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42519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it. Check it monthly — not once.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dials that shape a response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prompt — these four knobs change what comes out. Here's each one in plain words: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creativity dial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safe &amp; predictable. High = wild &amp; surprising.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9476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budget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it's allowed to say before it must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9224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shortlist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 best words are allowed to be picked.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365760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3840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897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47365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shortlist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or shrinks based on how sure the model is.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how a token gets chosen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 the model outputs a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 every possible next token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settings decide how we pick from that list.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 “The cat sat on the ___”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3200400"/>
            <a:ext cx="1188720" cy="2057400"/>
          </a:xfrm>
          <a:prstGeom prst="roundRect">
            <a:avLst>
              <a:gd name="adj" fmla="val 2308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07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4343400"/>
            <a:ext cx="1188720" cy="914400"/>
          </a:xfrm>
          <a:prstGeom prst="roundRect">
            <a:avLst>
              <a:gd name="adj" fmla="val 3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050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572000"/>
            <a:ext cx="1188720" cy="6858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80060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507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4983480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8FA3C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690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0100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84080" y="507492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8FA3C0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4782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4692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5257800"/>
            <a:ext cx="96926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is a candidate next token. Taller = more likely. They all add up to 1.0.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random vs. focused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the LLM's creativity dial — low plays it safe, high takes risks.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LLMs allow up to 2.0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0–0.3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deterministic. Facts, code, extraction.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0.4–0.7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Balanced. Most general use sits here.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0.8–2.0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varied, riskier. Brainstorming, fiction.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 (0.2)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791331"/>
            <a:ext cx="566928" cy="1649349"/>
          </a:xfrm>
          <a:prstGeom prst="roundRect">
            <a:avLst>
              <a:gd name="adj" fmla="val 4839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98723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.78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19072" y="5186934"/>
            <a:ext cx="566928" cy="253746"/>
          </a:xfrm>
          <a:prstGeom prst="roundRect">
            <a:avLst>
              <a:gd name="adj" fmla="val 10811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1627632" y="489432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81912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23744" y="5313807"/>
            <a:ext cx="566928" cy="126873"/>
          </a:xfrm>
          <a:prstGeom prst="roundRect">
            <a:avLst>
              <a:gd name="adj" fmla="val 21622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2432304" y="5021199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86584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28416" y="5398389"/>
            <a:ext cx="566928" cy="42291"/>
          </a:xfrm>
          <a:prstGeom prst="roundRect">
            <a:avLst>
              <a:gd name="adj" fmla="val 64865"/>
            </a:avLst>
          </a:prstGeom>
          <a:solidFill>
            <a:srgbClr val="F472B6"/>
          </a:solidFill>
          <a:ln/>
        </p:spPr>
      </p:sp>
      <p:sp>
        <p:nvSpPr>
          <p:cNvPr id="30" name="Text 28"/>
          <p:cNvSpPr/>
          <p:nvPr/>
        </p:nvSpPr>
        <p:spPr>
          <a:xfrm>
            <a:off x="3236976" y="5105781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91256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33088" y="5404104"/>
            <a:ext cx="566928" cy="36576"/>
          </a:xfrm>
          <a:prstGeom prst="roundRect">
            <a:avLst>
              <a:gd name="adj" fmla="val 75000"/>
            </a:avLst>
          </a:prstGeom>
          <a:solidFill>
            <a:srgbClr val="8FA3C0"/>
          </a:solidFill>
          <a:ln/>
        </p:spPr>
      </p:sp>
      <p:sp>
        <p:nvSpPr>
          <p:cNvPr id="33" name="Text 31"/>
          <p:cNvSpPr/>
          <p:nvPr/>
        </p:nvSpPr>
        <p:spPr>
          <a:xfrm>
            <a:off x="4041648" y="51114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95928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5404104"/>
            <a:ext cx="566928" cy="36576"/>
          </a:xfrm>
          <a:prstGeom prst="roundRect">
            <a:avLst>
              <a:gd name="adj" fmla="val 75000"/>
            </a:avLst>
          </a:prstGeom>
          <a:solidFill>
            <a:srgbClr val="8FA3C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51114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5440680"/>
            <a:ext cx="4864608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almost always “mat”. Predictable.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 (1.2)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75120" y="4848606"/>
            <a:ext cx="566928" cy="592074"/>
          </a:xfrm>
          <a:prstGeom prst="roundRect">
            <a:avLst>
              <a:gd name="adj" fmla="val 4839"/>
            </a:avLst>
          </a:prstGeom>
          <a:solidFill>
            <a:srgbClr val="38BDF8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55599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3796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79792" y="4996625"/>
            <a:ext cx="566928" cy="444055"/>
          </a:xfrm>
          <a:prstGeom prst="roundRect">
            <a:avLst>
              <a:gd name="adj" fmla="val 6178"/>
            </a:avLst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7388352" y="4704017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42632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84464" y="5060061"/>
            <a:ext cx="566928" cy="380619"/>
          </a:xfrm>
          <a:prstGeom prst="roundRect">
            <a:avLst>
              <a:gd name="adj" fmla="val 7207"/>
            </a:avLst>
          </a:prstGeom>
          <a:solidFill>
            <a:srgbClr val="FBBF24"/>
          </a:solidFill>
          <a:ln/>
        </p:spPr>
      </p:sp>
      <p:sp>
        <p:nvSpPr>
          <p:cNvPr id="48" name="Text 46"/>
          <p:cNvSpPr/>
          <p:nvPr/>
        </p:nvSpPr>
        <p:spPr>
          <a:xfrm>
            <a:off x="8193024" y="4767453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147304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89136" y="5123498"/>
            <a:ext cx="566928" cy="317183"/>
          </a:xfrm>
          <a:prstGeom prst="roundRect">
            <a:avLst>
              <a:gd name="adj" fmla="val 8649"/>
            </a:avLst>
          </a:prstGeom>
          <a:solidFill>
            <a:srgbClr val="F472B6"/>
          </a:solidFill>
          <a:ln/>
        </p:spPr>
      </p:sp>
      <p:sp>
        <p:nvSpPr>
          <p:cNvPr id="51" name="Text 49"/>
          <p:cNvSpPr/>
          <p:nvPr/>
        </p:nvSpPr>
        <p:spPr>
          <a:xfrm>
            <a:off x="8997696" y="483089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951976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893808" y="5229225"/>
            <a:ext cx="566928" cy="211455"/>
          </a:xfrm>
          <a:prstGeom prst="roundRect">
            <a:avLst>
              <a:gd name="adj" fmla="val 12973"/>
            </a:avLst>
          </a:prstGeom>
          <a:solidFill>
            <a:srgbClr val="8FA3C0"/>
          </a:solidFill>
          <a:ln/>
        </p:spPr>
      </p:sp>
      <p:sp>
        <p:nvSpPr>
          <p:cNvPr id="54" name="Text 52"/>
          <p:cNvSpPr/>
          <p:nvPr/>
        </p:nvSpPr>
        <p:spPr>
          <a:xfrm>
            <a:off x="9802368" y="4936617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756648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698480" y="5271516"/>
            <a:ext cx="566928" cy="169164"/>
          </a:xfrm>
          <a:prstGeom prst="roundRect">
            <a:avLst>
              <a:gd name="adj" fmla="val 16216"/>
            </a:avLst>
          </a:prstGeom>
          <a:solidFill>
            <a:srgbClr val="8FA3C0"/>
          </a:solidFill>
          <a:ln/>
        </p:spPr>
      </p:sp>
      <p:sp>
        <p:nvSpPr>
          <p:cNvPr id="57" name="Text 55"/>
          <p:cNvSpPr/>
          <p:nvPr/>
        </p:nvSpPr>
        <p:spPr>
          <a:xfrm>
            <a:off x="10607040" y="49789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.08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561320" y="5513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37960" y="5440680"/>
            <a:ext cx="4864608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5715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of several words. Varied, surprising.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— the length cap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is the word budget — how much the model is allowed to say before it must stop.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context limit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 to 4k–64k+ depending on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tens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replies, snippets. Risk: cut off.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hundreds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Paragraphs, normal answers.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thousands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docs, full reports. Higher cost.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34107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cat sat on the”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869680" y="34107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off mid-sentence — ran out of room.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30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43251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cat sat on the mat and watched the rain.”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69680" y="4325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short answer.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1663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2578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 = 500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52395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paragraph or more…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869680" y="52395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of room; stops when naturally done.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217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¾ of a word in English. Cost is billed per token, so this also caps cost.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— keep the k likeliest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is a shortlist of fixed size — only the k best words are allowed in the running.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vocab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unset = disabled (no limit)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1–10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focused, safe. k=1 = always the top token.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20–50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default range.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100+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Loose; little filtering effect.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3   →   only “mat”, “rug”, “floor” survive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54480" y="3872484"/>
            <a:ext cx="1188720" cy="1522476"/>
          </a:xfrm>
          <a:prstGeom prst="roundRect">
            <a:avLst>
              <a:gd name="adj" fmla="val 2308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5798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718304"/>
            <a:ext cx="1188720" cy="676656"/>
          </a:xfrm>
          <a:prstGeom prst="roundRect">
            <a:avLst>
              <a:gd name="adj" fmla="val 4054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887468"/>
            <a:ext cx="1188720" cy="507492"/>
          </a:xfrm>
          <a:prstGeom prst="roundRect">
            <a:avLst>
              <a:gd name="adj" fmla="val 5405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5948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5056632"/>
            <a:ext cx="1188720" cy="338328"/>
          </a:xfrm>
          <a:prstGeom prst="roundRect">
            <a:avLst>
              <a:gd name="adj" fmla="val 8108"/>
            </a:avLst>
          </a:prstGeom>
          <a:solidFill>
            <a:srgbClr val="24325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640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5191963"/>
            <a:ext cx="1188720" cy="202997"/>
          </a:xfrm>
          <a:prstGeom prst="roundRect">
            <a:avLst>
              <a:gd name="adj" fmla="val 13514"/>
            </a:avLst>
          </a:prstGeom>
          <a:solidFill>
            <a:srgbClr val="24325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489935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84080" y="5259629"/>
            <a:ext cx="1188720" cy="135331"/>
          </a:xfrm>
          <a:prstGeom prst="roundRect">
            <a:avLst>
              <a:gd name="adj" fmla="val 20270"/>
            </a:avLst>
          </a:prstGeom>
          <a:solidFill>
            <a:srgbClr val="243250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0" y="496702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46920" y="5468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5394960"/>
            <a:ext cx="96926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5760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3703320"/>
            <a:ext cx="0" cy="169164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k is fixed. If the model is very confident, k=3 still drags in unlikely words; if it's unsure, k=3 may cut good ones.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SETTINGS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— keep the smallest set that adds up to 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is a smart shortlist that grows or shrinks based on how sure the model 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55680" cy="841248"/>
          </a:xfrm>
          <a:prstGeom prst="roundRect">
            <a:avLst>
              <a:gd name="adj" fmla="val 1087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042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consider all tokens (off)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340864"/>
            <a:ext cx="0" cy="548640"/>
          </a:xfrm>
          <a:prstGeom prst="line">
            <a:avLst/>
          </a:prstGeom>
          <a:noFill/>
          <a:ln w="12700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· 0.1–0.5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Tight, safe. Only the very top tokens.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8744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· 0.8–0.95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744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default. Good balance.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8720" y="2313432"/>
            <a:ext cx="243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· ~1.0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08720" y="2596896"/>
            <a:ext cx="2392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in play; most diverse.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= 0.80   →   add mat(.45) + rug(.20) + floor(.15) = .80  ✓  stop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554480" y="3867912"/>
            <a:ext cx="1188720" cy="1481328"/>
          </a:xfrm>
          <a:prstGeom prst="roundRect">
            <a:avLst>
              <a:gd name="adj" fmla="val 2308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690872"/>
            <a:ext cx="1188720" cy="658368"/>
          </a:xfrm>
          <a:prstGeom prst="roundRect">
            <a:avLst>
              <a:gd name="adj" fmla="val 4167"/>
            </a:avLst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4398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4855464"/>
            <a:ext cx="1188720" cy="493776"/>
          </a:xfrm>
          <a:prstGeom prst="roundRect">
            <a:avLst>
              <a:gd name="adj" fmla="val 5556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562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5020056"/>
            <a:ext cx="1188720" cy="329184"/>
          </a:xfrm>
          <a:prstGeom prst="roundRect">
            <a:avLst>
              <a:gd name="adj" fmla="val 8333"/>
            </a:avLst>
          </a:prstGeom>
          <a:solidFill>
            <a:srgbClr val="24325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27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5151730"/>
            <a:ext cx="1188720" cy="197510"/>
          </a:xfrm>
          <a:prstGeom prst="roundRect">
            <a:avLst>
              <a:gd name="adj" fmla="val 13889"/>
            </a:avLst>
          </a:prstGeom>
          <a:solidFill>
            <a:srgbClr val="243250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485912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84080" y="5217566"/>
            <a:ext cx="1188720" cy="131674"/>
          </a:xfrm>
          <a:prstGeom prst="roundRect">
            <a:avLst>
              <a:gd name="adj" fmla="val 20833"/>
            </a:avLst>
          </a:prstGeom>
          <a:solidFill>
            <a:srgbClr val="243250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0" y="492495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15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4692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17320" y="5349240"/>
            <a:ext cx="9692640" cy="0"/>
          </a:xfrm>
          <a:prstGeom prst="line">
            <a:avLst/>
          </a:prstGeom>
          <a:noFill/>
          <a:ln w="19050">
            <a:solidFill>
              <a:srgbClr val="2B3A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.45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10896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.65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5715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.80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89320" y="3703320"/>
            <a:ext cx="0" cy="164592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better than top-k: confident step → keeps few tokens; uncertain step → keeps more. It adapts.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194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vs. User Prompt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instructions go into every LLM call — one you set once, one the user types each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the developer · once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by the user · every time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prompts, two jobs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103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752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developer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4655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behind the scenes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15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4178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who the AI is and how it should behave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helpful medical assistant. Be concise, never diagnose, always suggest seeing a doctor.”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2103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75234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end user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35021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34655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fresh with every message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2153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4178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question or request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29400" y="498348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 headache and a slight fever. What could it be?”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reach the LLM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sends a message, the system prompt is silently prepended. The LLM receives both as one combined input.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by developer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helpful tutor…”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4297680" y="23317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each message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recursion.”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7955280" y="23317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3243F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INPUT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one payload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9720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955280" y="42976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55280" y="4864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both as a single context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480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773168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is re-sent with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message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because the LLM is stateless and remembers nothing. It's not stored on the model; it's resent each time, invisibly, in front of the user's text.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86384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great system prompt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proven techniques, length tradeoffs, and hard-won tips from real projects.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balance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15400" y="429768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a system prompt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system prompt is built from a few standard ingredients: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414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798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AI 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senior Python tutor.”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42316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2414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&amp; tone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2798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should sound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32004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encouraging, patient, and concise.”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901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do, step by step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3035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303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with an example, then a quiz.”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2062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4526280"/>
            <a:ext cx="548640" cy="54864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69480" y="4517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limits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9480" y="4901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NOT do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53035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5303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write the student's homework for them.”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techniques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techniques you'll reach for again and again — we'll take each one in turn: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27048" y="2450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— no examples.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15968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239572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340096" y="2450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examples first.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9016" y="21031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239572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3144" y="2450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49056" y="31546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step by step.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14016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34056" y="449884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4056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438144" y="4553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734056" y="5257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multiple paths, pick best.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27064" y="42062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47104" y="4498848"/>
            <a:ext cx="566928" cy="566928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251192" y="4553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47104" y="5257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expert persona.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1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do a task with no examples at all.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3959352"/>
          </a:xfrm>
          <a:prstGeom prst="roundRect">
            <a:avLst>
              <a:gd name="adj" fmla="val 2771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only the instruction and the input.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relies entirely on what it already learned in training.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shortest — but can be less reliable on tricky or niche tasks.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51383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5138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common tasks the model clearly knows.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3959352"/>
          </a:xfrm>
          <a:prstGeom prst="roundRect">
            <a:avLst>
              <a:gd name="adj" fmla="val 2771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691640"/>
          </a:xfrm>
          <a:prstGeom prst="roundRect">
            <a:avLst>
              <a:gd name="adj" fmla="val 3243"/>
            </a:avLst>
          </a:prstGeom>
          <a:solidFill>
            <a:srgbClr val="0B122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this review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Positive or Negative: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food was cold and the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was slow."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0292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285232"/>
            <a:ext cx="5806440" cy="777240"/>
          </a:xfrm>
          <a:prstGeom prst="roundRect">
            <a:avLst>
              <a:gd name="adj" fmla="val 7059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28523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2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handful of examples first, then give the real task.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370832"/>
          </a:xfrm>
          <a:prstGeom prst="roundRect">
            <a:avLst>
              <a:gd name="adj" fmla="val 2510"/>
            </a:avLst>
          </a:prstGeom>
          <a:solidFill>
            <a:srgbClr val="121C30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demonstrate the pattern with 2–5 examples.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copies the format and logic of your examples.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enforcing a specific output style or a tricky mapping.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92531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9253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a specific format or style.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370832"/>
          </a:xfrm>
          <a:prstGeom prst="roundRect">
            <a:avLst>
              <a:gd name="adj" fmla="val 2510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965960"/>
          </a:xfrm>
          <a:prstGeom prst="roundRect">
            <a:avLst>
              <a:gd name="adj" fmla="val 2791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workout plan using this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Strength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Warm-up: 5 min rowing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Main: Squats, deadlifts, bench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Cool-down: Hamstring stretch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Fat loss →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3035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559552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559552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Warm-up: 5 min jump rope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Main: HIIT circuit, burpees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Cool-down: Light walk + stretch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3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answering.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096512"/>
          </a:xfrm>
          <a:prstGeom prst="roundRect">
            <a:avLst>
              <a:gd name="adj" fmla="val 2679"/>
            </a:avLst>
          </a:prstGeom>
          <a:solidFill>
            <a:srgbClr val="121C30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a cue like "think step by step."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out its reasoning, then the final answer.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improves math, logic, and multi-step problems.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6509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509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multi-step reasoning.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096512"/>
          </a:xfrm>
          <a:prstGeom prst="roundRect">
            <a:avLst>
              <a:gd name="adj" fmla="val 26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41732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A shop has 3 boxes of 12 apples.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sells 20. How many remain?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think step by step.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47548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010912"/>
            <a:ext cx="5806440" cy="118872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010912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× 12 = 36 apples total.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36 − 20 = 16 sold... wait, remaining.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16 apples.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4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 (ToT)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explores several reasoning paths, then picks the best.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096512"/>
          </a:xfrm>
          <a:prstGeom prst="roundRect">
            <a:avLst>
              <a:gd name="adj" fmla="val 2679"/>
            </a:avLst>
          </a:prstGeom>
          <a:solidFill>
            <a:srgbClr val="121C30"/>
          </a:solidFill>
          <a:ln w="15875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chain, it branches into multiple candidate ideas.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is explored and evaluated against the goal.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branches are pruned; the strongest path wins.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compute, but better for hard, open-ended problems.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65099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65099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problems with many possible approaches.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096512"/>
          </a:xfrm>
          <a:prstGeom prst="roundRect">
            <a:avLst>
              <a:gd name="adj" fmla="val 2679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141732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a 3-day trip. Propose 3 different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itineraries, evaluate each, then pick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best one and explain why.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47548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010912"/>
            <a:ext cx="5806440" cy="1188720"/>
          </a:xfrm>
          <a:prstGeom prst="roundRect">
            <a:avLst>
              <a:gd name="adj" fmla="val 4615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010912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A: beaches · Path B: culture ·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C: mix. Evaluating... Path C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balances cost &amp; variety. → Choose C.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5 /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13243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813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 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model a detailed expert persona to shape its answers.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572000" cy="4416552"/>
          </a:xfrm>
          <a:prstGeom prst="roundRect">
            <a:avLst>
              <a:gd name="adj" fmla="val 2484"/>
            </a:avLst>
          </a:prstGeom>
          <a:solidFill>
            <a:srgbClr val="121C30"/>
          </a:solidFill>
          <a:ln w="15875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02336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richer the role, the more specialized the output.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out niche specialization, experience, and how the expert works.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adopts the vocabulary, depth, and method of that role.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the other techniques above.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597103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0F1828"/>
          </a:solidFill>
          <a:ln w="9525">
            <a:solidFill>
              <a:srgbClr val="243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97103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 </a:t>
            </a:r>
            <a:pPr indent="0" marL="0">
              <a:buNone/>
            </a:pPr>
            <a:r>
              <a:rPr lang="en-US" sz="11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expertise, tone, or domain framing matters.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286000"/>
            <a:ext cx="6355080" cy="4416552"/>
          </a:xfrm>
          <a:prstGeom prst="roundRect">
            <a:avLst>
              <a:gd name="adj" fmla="val 2484"/>
            </a:avLst>
          </a:prstGeom>
          <a:solidFill>
            <a:srgbClr val="0F1828"/>
          </a:solidFill>
          <a:ln w="12700">
            <a:solidFill>
              <a:srgbClr val="2432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8529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108960"/>
            <a:ext cx="5806440" cy="219456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108960"/>
            <a:ext cx="5440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board-certified sports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physiotherapist, 15 years treating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marathon runners. You specialize in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overuse knee injuries. You always: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Ask about pain location &amp; history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Reason from biomechanics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Give a staged rehab plan, never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 one-size-fits-all answer.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Runner: outer-knee pain at mile 8.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55321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5788152"/>
            <a:ext cx="5806440" cy="73152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5788152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 IT band friction—where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exactly? Stage 1: deload + foam roll...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should it be?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system prompt is re-sent with </a:t>
            </a:r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message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Length is a real tradeoff — it costs tokens and latency on every call.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Vague, under-specified. The model guesses and behaves inconsistently.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392" y="22860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22225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53712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53712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detail to be reliable, lean enough to stay cheap and fast. Aim 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5864" y="22860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30184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30184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Bloated. Higher cost &amp; latency on every message, and the model may lose focus.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0F18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194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OF THUMB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everything the model needs to behave correctly — and nothing it doesn't. Every extra sentence is paid for on every message.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prompts (1/3)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48256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568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iterative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95681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rarely nail it first try. Expect hit-and-trial before a prompt feels right.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72384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809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models, different prompts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298094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tuned for one model often needs rework for another.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prompts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40050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prompt versions — track what changed and why, like code.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5029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instructions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5029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the same thing twice adds noise and can confuse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prompts (2/3)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48256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568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Organize, don't scatter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9568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instructions. Don't drop them in randomly.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72384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809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lists or XML tags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98094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sections with bullet lists or &lt;tags&gt; — LLMs parse structure better.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for emphasis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40050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really matters, write the key word in CAPITALS.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901184"/>
            <a:ext cx="11155680" cy="896112"/>
          </a:xfrm>
          <a:prstGeom prst="roundRect">
            <a:avLst>
              <a:gd name="adj" fmla="val 10204"/>
            </a:avLst>
          </a:prstGeom>
          <a:solidFill>
            <a:srgbClr val="121C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1B27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5029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stuff first &amp; last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50292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long prompt, put the most critical points at the start AND the end.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positively (3/3)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follow 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instructions</a:t>
            </a:r>
            <a:pPr indent="0" marL="0">
              <a:buNone/>
            </a:pPr>
            <a:r>
              <a:rPr lang="en-US" sz="15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than negative ones. Tell the model what TO do, not just what to avoid.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INSTEAD OF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WRITE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060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be harsh.”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26060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26060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6060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 polite and supportive.”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44728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472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write long answers.”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4472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00800" y="3447288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44728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answers short and to the point.”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288536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28853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use jargon.”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42885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00800" y="4288536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28853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simple, everyday language.”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12978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1297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ignore the context.”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51297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00800" y="5129784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21C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512978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ground your answer in the context.”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· FROM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46920" y="7498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3243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7498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· FUNDAMENTALS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secrets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554480"/>
          </a:xfrm>
          <a:prstGeom prst="roundRect">
            <a:avLst>
              <a:gd name="adj" fmla="val 7059"/>
            </a:avLst>
          </a:prstGeom>
          <a:solidFill>
            <a:srgbClr val="121C30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057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 RULE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pass sensitive information, data, or secret instructions directly in the system prompt.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dangerous: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can leak — users can trick the model into revealing them (prompt injection).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passwords &amp; secrets don't belong in text sent to a third-party model.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resent every message — more exposure, more logs, more risk.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406908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0F18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INSTEAD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45720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in environment variables or a secure vault. Give the agent a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5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uses them — the model calls the tool without ever seeing the secret.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Course — Slides</dc:title>
  <dc:subject>PptxGenJS Presentation</dc:subject>
  <dc:creator>Agentic AI Course</dc:creator>
  <cp:lastModifiedBy>Agentic AI Course</cp:lastModifiedBy>
  <cp:revision>1</cp:revision>
  <dcterms:created xsi:type="dcterms:W3CDTF">2026-06-15T10:38:14Z</dcterms:created>
  <dcterms:modified xsi:type="dcterms:W3CDTF">2026-06-15T10:38:14Z</dcterms:modified>
</cp:coreProperties>
</file>